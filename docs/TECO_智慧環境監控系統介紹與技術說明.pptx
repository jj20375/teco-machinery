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2ec856509a84cb7" Type="http://schemas.openxmlformats.org/package/2006/relationships/metadata/core-properties" Target="docProps/core.xml"/><Relationship Id="Rc862ea613c1f4da1" Type="http://schemas.openxmlformats.org/officeDocument/2006/relationships/officeDocument" Target="ppt/presentation.xml"/><Relationship Id="Rcf284ce98eba48b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e3b8fe739345b4"/>
  </p:sldMasterIdLst>
  <p:notesMasterIdLst>
    <p:notesMasterId xmlns:r="http://schemas.openxmlformats.org/officeDocument/2006/relationships" r:id="R5a88ab2c24bf4593"/>
  </p:notesMasterIdLst>
  <p:sldIdLst>
    <p:sldId xmlns:r="http://schemas.openxmlformats.org/officeDocument/2006/relationships" id="256" r:id="R398dc5d04c544d5e"/>
    <p:sldId xmlns:r="http://schemas.openxmlformats.org/officeDocument/2006/relationships" id="257" r:id="R0041e95c91bd4ad2"/>
    <p:sldId xmlns:r="http://schemas.openxmlformats.org/officeDocument/2006/relationships" id="258" r:id="R11bfdc9a99d44560"/>
    <p:sldId xmlns:ns0="http://schemas.openxmlformats.org/officeDocument/2006/relationships" id="273" ns0:id="rId23"/>
    <p:sldId xmlns:r="http://schemas.openxmlformats.org/officeDocument/2006/relationships" id="259" r:id="Rbfed956e94444302"/>
    <p:sldId xmlns:ns0="http://schemas.openxmlformats.org/officeDocument/2006/relationships" id="274" ns0:id="rId24"/>
    <p:sldId xmlns:ns0="http://schemas.openxmlformats.org/officeDocument/2006/relationships" id="275" ns0:id="rId25"/>
    <p:sldId xmlns:ns0="http://schemas.openxmlformats.org/officeDocument/2006/relationships" id="276" ns0:id="rId26"/>
    <p:sldId xmlns:ns0="http://schemas.openxmlformats.org/officeDocument/2006/relationships" id="277" ns0:id="rId27"/>
    <p:sldId xmlns:r="http://schemas.openxmlformats.org/officeDocument/2006/relationships" id="260" r:id="R160f026e9f1e4ab3"/>
    <p:sldId xmlns:ns0="http://schemas.openxmlformats.org/officeDocument/2006/relationships" id="278" ns0:id="rId28"/>
    <p:sldId xmlns:ns0="http://schemas.openxmlformats.org/officeDocument/2006/relationships" id="279" ns0:id="rId29"/>
    <p:sldId xmlns:r="http://schemas.openxmlformats.org/officeDocument/2006/relationships" id="261" r:id="R357101ae350d40d9"/>
    <p:sldId xmlns:ns0="http://schemas.openxmlformats.org/officeDocument/2006/relationships" id="280" ns0:id="rId30"/>
    <p:sldId xmlns:r="http://schemas.openxmlformats.org/officeDocument/2006/relationships" id="262" r:id="R37e57647c0ff44b5"/>
    <p:sldId xmlns:r="http://schemas.openxmlformats.org/officeDocument/2006/relationships" id="263" r:id="Rfefb340be7b141f1"/>
    <p:sldId xmlns:r="http://schemas.openxmlformats.org/officeDocument/2006/relationships" id="264" r:id="R3060af661b6b4024"/>
    <p:sldId xmlns:r="http://schemas.openxmlformats.org/officeDocument/2006/relationships" id="265" r:id="R6ac22d1c8ce64743"/>
    <p:sldId xmlns:r="http://schemas.openxmlformats.org/officeDocument/2006/relationships" id="266" r:id="R50b08f8d913e44b7"/>
    <p:sldId xmlns:ns0="http://schemas.openxmlformats.org/officeDocument/2006/relationships" id="281" ns0:id="rId31"/>
    <p:sldId xmlns:r="http://schemas.openxmlformats.org/officeDocument/2006/relationships" id="267" r:id="Rb4e2d8dcaf6342d0"/>
    <p:sldId xmlns:ns0="http://schemas.openxmlformats.org/officeDocument/2006/relationships" id="282" ns0:id="rId32"/>
    <p:sldId xmlns:r="http://schemas.openxmlformats.org/officeDocument/2006/relationships" id="268" r:id="R372a4d057a424d03"/>
    <p:sldId xmlns:r="http://schemas.openxmlformats.org/officeDocument/2006/relationships" id="269" r:id="Ra835ac37dd2d4a8e"/>
    <p:sldId xmlns:r="http://schemas.openxmlformats.org/officeDocument/2006/relationships" id="270" r:id="R7c2cd30682ed4ebe"/>
    <p:sldId xmlns:ns0="http://schemas.openxmlformats.org/officeDocument/2006/relationships" id="283" ns0:id="rId33"/>
    <p:sldId xmlns:ns0="http://schemas.openxmlformats.org/officeDocument/2006/relationships" id="284" ns0:id="rId34"/>
    <p:sldId xmlns:r="http://schemas.openxmlformats.org/officeDocument/2006/relationships" id="271" r:id="R7935324ac6f2418e"/>
    <p:sldId xmlns:r="http://schemas.openxmlformats.org/officeDocument/2006/relationships" id="272" r:id="R0a415c21133d41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041e95c91bd4ad2" Type="http://schemas.openxmlformats.org/officeDocument/2006/relationships/slide" Target="slides/slide2.xml"/><Relationship Id="R0a415c21133d41c7" Type="http://schemas.openxmlformats.org/officeDocument/2006/relationships/slide" Target="slides/slide17.xml"/><Relationship Id="R11bfdc9a99d44560" Type="http://schemas.openxmlformats.org/officeDocument/2006/relationships/slide" Target="slides/slide3.xml"/><Relationship Id="R15339200db314b97" Type="http://schemas.openxmlformats.org/officeDocument/2006/relationships/theme" Target="theme/theme1.xml"/><Relationship Id="R160f026e9f1e4ab3" Type="http://schemas.openxmlformats.org/officeDocument/2006/relationships/slide" Target="slides/slide5.xml"/><Relationship Id="R3060af661b6b4024" Type="http://schemas.openxmlformats.org/officeDocument/2006/relationships/slide" Target="slides/slide9.xml"/><Relationship Id="R357101ae350d40d9" Type="http://schemas.openxmlformats.org/officeDocument/2006/relationships/slide" Target="slides/slide6.xml"/><Relationship Id="R372a4d057a424d03" Type="http://schemas.openxmlformats.org/officeDocument/2006/relationships/slide" Target="slides/slide13.xml"/><Relationship Id="R37e57647c0ff44b5" Type="http://schemas.openxmlformats.org/officeDocument/2006/relationships/slide" Target="slides/slide7.xml"/><Relationship Id="R398dc5d04c544d5e" Type="http://schemas.openxmlformats.org/officeDocument/2006/relationships/slide" Target="slides/slide1.xml"/><Relationship Id="R50b08f8d913e44b7" Type="http://schemas.openxmlformats.org/officeDocument/2006/relationships/slide" Target="slides/slide11.xml"/><Relationship Id="R5a88ab2c24bf4593" Type="http://schemas.openxmlformats.org/officeDocument/2006/relationships/notesMaster" Target="notesMasters/notesMaster1.xml"/><Relationship Id="R60f174c2705941f2" Type="http://schemas.openxmlformats.org/officeDocument/2006/relationships/tableStyles" Target="tableStyles.xml"/><Relationship Id="R6ac22d1c8ce64743" Type="http://schemas.openxmlformats.org/officeDocument/2006/relationships/slide" Target="slides/slide10.xml"/><Relationship Id="R7935324ac6f2418e" Type="http://schemas.openxmlformats.org/officeDocument/2006/relationships/slide" Target="slides/slide16.xml"/><Relationship Id="R7c2cd30682ed4ebe" Type="http://schemas.openxmlformats.org/officeDocument/2006/relationships/slide" Target="slides/slide15.xml"/><Relationship Id="Ra835ac37dd2d4a8e" Type="http://schemas.openxmlformats.org/officeDocument/2006/relationships/slide" Target="slides/slide14.xml"/><Relationship Id="Rb4e2d8dcaf6342d0" Type="http://schemas.openxmlformats.org/officeDocument/2006/relationships/slide" Target="slides/slide12.xml"/><Relationship Id="Rbfed956e94444302" Type="http://schemas.openxmlformats.org/officeDocument/2006/relationships/slide" Target="slides/slide4.xml"/><Relationship Id="Rd2e3b8fe739345b4" Type="http://schemas.openxmlformats.org/officeDocument/2006/relationships/slideMaster" Target="slideMasters/slideMaster1.xml"/><Relationship Id="Re6c042fb84b64e46" Type="http://schemas.openxmlformats.org/officeDocument/2006/relationships/presProps" Target="presProps.xml"/><Relationship Id="Rfefb340be7b141f1" Type="http://schemas.openxmlformats.org/officeDocument/2006/relationships/slide" Target="slides/slide8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7226f7be7400410e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b86d53e9f154179" Type="http://schemas.openxmlformats.org/officeDocument/2006/relationships/notesMaster" Target="../notesMasters/notesMaster1.xml"/><Relationship Id="R508941a5ecd1425c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33a38e717e8a4c20" Type="http://schemas.openxmlformats.org/officeDocument/2006/relationships/slide" Target="../slides/slide2.xml"/><Relationship Id="R51b19b3537754557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b46671be8a024986" Type="http://schemas.openxmlformats.org/officeDocument/2006/relationships/slide" Target="../slides/slide3.xml"/><Relationship Id="Rf5d0e69788b7418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8e24cbac3aaf4d27" Type="http://schemas.openxmlformats.org/officeDocument/2006/relationships/notesMaster" Target="../notesMasters/notesMaster1.xml"/><Relationship Id="Rd3979fff5fc6465b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0a0e6acd7e334ecf" Type="http://schemas.openxmlformats.org/officeDocument/2006/relationships/notesMaster" Target="../notesMasters/notesMaster1.xml"/><Relationship Id="R81097544c9b94daa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0c5b9f6dafb4007" Type="http://schemas.openxmlformats.org/officeDocument/2006/relationships/notesMaster" Target="../notesMasters/notesMaster1.xml"/><Relationship Id="R4e2188caab1843d7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2c11b86c032c4d24" Type="http://schemas.openxmlformats.org/officeDocument/2006/relationships/slide" Target="../slides/slide7.xml"/><Relationship Id="R7f76a6631d44455c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677ad2e362f84b1d" Type="http://schemas.openxmlformats.org/officeDocument/2006/relationships/notesMaster" Target="../notesMasters/notesMaster1.xml"/><Relationship Id="R7bc6c763ddcf4bcc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eb0dd01dde654982" Type="http://schemas.openxmlformats.org/officeDocument/2006/relationships/notesMaster" Target="../notesMasters/notesMaster1.xml"/><Relationship Id="Rf19618211d4e4096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3321ef5712cb4897" Type="http://schemas.openxmlformats.org/officeDocument/2006/relationships/notesMaster" Target="../notesMasters/notesMaster1.xml"/><Relationship Id="Rbe2760163a5f4e3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96f1b1f1297e46a5" Type="http://schemas.openxmlformats.org/officeDocument/2006/relationships/notesMaster" Target="../notesMasters/notesMaster1.xml"/><Relationship Id="Raf635ab3d84c4181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7afd962f3c2e46b5" Type="http://schemas.openxmlformats.org/officeDocument/2006/relationships/slide" Target="../slides/slide12.xml"/><Relationship Id="Rcf09e1fbacca41e9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e47dcfe8f93440a4" Type="http://schemas.openxmlformats.org/officeDocument/2006/relationships/slide" Target="../slides/slide13.xml"/><Relationship Id="Reb167865808e4f2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d63271d7febe4985" Type="http://schemas.openxmlformats.org/officeDocument/2006/relationships/notesMaster" Target="../notesMasters/notesMaster1.xml"/><Relationship Id="Rfc7d2cb2de024099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044e2ecf7fe543ad" Type="http://schemas.openxmlformats.org/officeDocument/2006/relationships/slide" Target="../slides/slide15.xml"/><Relationship Id="Ra647997d91314ac4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2fe93f2cf33c4d57" Type="http://schemas.openxmlformats.org/officeDocument/2006/relationships/slide" Target="../slides/slide16.xml"/><Relationship Id="R4b4dce4106f54f77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13b22289d7c64fa9" Type="http://schemas.openxmlformats.org/officeDocument/2006/relationships/slide" Target="../slides/slide17.xml"/><Relationship Id="R8cb279d9e39d4945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封面影像由內建 imagegen 生成，僅作概念氣氛視覺，不代表實際場館、設備或機房照片。內容依本機專案 README.md、backend/README.md 與截至 2026-10-06 的文件整理。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專案依據：backend/README.md（95 FCU，DDC1 64 台、DDC2 31 台；2 個 chiller assets）；backend/deploy/compose.yaml（mariadb、collector、api、web）。本頁概念插圖由 imagegen 生成，不是現場圖。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實際操作頁面由使用者授權的本機測試帳號登入擷取。戰情室、空間配置頁已顯示；FCU 報表及平台診斷頁在目前本機環境持續顯示「載入中」。瀏覽器政策拒絕將截圖存到簡報工作區；因此本頁明確標示為功能導覽示意，不含仿造截圖。若需在後續版本內嵌截圖，需由使用者以允許的檔案匯出/上傳流程提供圖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依據：src/apps/monitoring/pages/admin/_components/AdminSidebar.vue、overview/AdminOverviewPage.vue、chiller/AdminChillerPage.vue、fcu/AdminFcuPage.vue、floor-plan/AdminFloorPlanPage.vue、reports/AdminFcuReportPage.vue / AdminChillerReportPage.vue / AdminAlarmReportPage.vue。功能以程式實作說明，未宣稱本次本機報表查詢有資料。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依據：AdminSidebar.vue 以各 permissionCode 的 read grant 過濾功能選單；backend/README.md 權限機制與操作紀錄說明；AdminUsersPage.vue、AdminRolesPage.vue、AdminLogsPage.vue。場館 scope 的資料範圍由 API 授權檢查，不因前端隱藏選單而放寬。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依據：src/apps/monitoring/pages/platform/_components/PlatformSidebar.vue、merchants/PlatformMerchantsPage.vue、system-users/PlatformSystemUsersPage.vue、roles/PlatformRolesPage.vue、diagnostics/PlatformDiagnosticsPage.vue。實際本機系統診斷頁以 platform-admin 登入後可達，但資料區持續 loading；沒有把示意文字當成本次健康檢查結果。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依據：backend/README.md、backend/deploy/compose.yaml、docs/BACKEND_INTEGRATION_PLAN.md。後端為 ASP.NET Core 10，Collector 透過內部 ingest 交給 API；Collector 與 API 各自有對資料庫的應用程式連線。Web 由 Caddy 提供靜態檔與 /api、/hubs 反向代理。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依據：docs/BACKEND_INTEGRATION_PLAN.md（設備 DLL 約 5 秒事件週期；FCU 60 秒節流且有狀態/溫度變化觸發；chiller 10 秒；時區策略）；backend/README.md（資料彙總與保留）。實際頻率取決於 Collector 成功讀取與設備回應。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來源：backend/README.md 記錄 95 FCU = DDC1 64 + DDC2 31、2 台 chiller；前端本機戰情室的實際畫面顯示 90 台；空間配置本機實際頁面顯示 B1 64 個已配置 / 72 個區域。這些畫面與主檔/文件數量不一致，未確認資料環境、篩選條件或版本前不可視為現場盤點結論。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來源：本機實際 /admin/floor-plan 介面顯示 B1 72 zones、64 configured；README.md 記錄 B1 72、B2 41 區域與 SVG / Three.js；backend/README.md 與整合計畫列出 GET/PUT placements、expectedVersion 樂觀鎖定及 409 衝突處理。圖示柱為數量摘要，並非產品截圖或樓層圖。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來源：backend/README.md、backend/CHANGELOG.md（通道連續 60 秒無成功讀取時建立離線告警，恢復後結束；Collector 程序崩潰不會由同一告警引擎通知，依賴 diagnostics/healthcheck）；docs/IOT_現場接通驗證手冊.md。告警目前為 in-app。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來源：本機實際 /admin/reports/fcu 頁面可見 filter 與 table/line-chart 切換，但資料區持續 loading；backend/deploy/compose.yaml 設定 FCU 原始資料預設 90 天、chiller 180 天；backend README 與 retention services 記錄每 24 小時清理及永久保留彙總/告警/操作資料。報表資料值未在本機頁面驗證。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來源：backend/README.md、backend/deploy/compose.yaml、docs/正式機首次部署手冊.md、現場交機清單.md。JWT access/refresh；密碼 PBKDF2；API 與 DB 僅綁 loopback，web 的 8081 為區網入口。測試帳密由使用者提供並僅用於登入，未記入本簡報。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來源：backend/deploy/compose.yaml、docs/正式機首次部署手冊.md。部署目標為 Windows Server Hyper-V 上的 Ubuntu 24.04 VM、Docker CE；Caddy 8081 對區網、API host 8082 與 MariaDB host 3307 僅綁 localhost。文件記錄正式目標 VM 部署尚待執行，不可宣稱現場已上線。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來源：docs/IOT_現場接通驗證手冊.md、backend/README.md、backend/src/Teco.Hvac.Api/Endpoints/PlatformEndpoints.cs。診斷頁每 5 秒刷新，呈現通道、Collector healthz、資料內容、設備數、DB、排程與 channel_health。實際本機頁面路由可開啟但主內容始終 loading；此處為文件定義的檢查範圍，並標註未取得本次檢查值。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來源：backend/README.md 對本機 P0–P5 E2E 的記錄、正式 VM 部署狀態、實體設備連通與 SignalR 前端驗證限制；本次瀏覽器實際畫面發現首頁 90 vs 文件 95 並且報表/診斷頁 loading。這些是明確的驗收邊界，不應用測試環境畫面推論正式場域狀態。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依據：docs/現場交機清單.md、docs/IOT_現場接通驗證手冊.md、docs/正式機首次部署手冊.md。此頁是建議的現場驗收順序；不是已完成的現場驗收聲明。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7124da9889ea4d4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676f536ae42403b" Type="http://schemas.openxmlformats.org/officeDocument/2006/relationships/theme" Target="theme/theme2.xml"/><Relationship Id="Rf0784c5f0b7046a9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784c5f0b7046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73bf1b4dc5e49d2" Type="http://schemas.openxmlformats.org/officeDocument/2006/relationships/slideLayout" Target="../slideLayouts/slideLayout1.xml"/><Relationship Id="R7b6489300b3f40b7" Type="http://schemas.openxmlformats.org/officeDocument/2006/relationships/image" Target="../media/image.png"/><Relationship Id="Rc6726ea8cce1453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366cea7f977f4e7f" Type="http://schemas.openxmlformats.org/officeDocument/2006/relationships/image" Target="../media/image2.png"/><Relationship Id="R9405f90d814d4132" Type="http://schemas.openxmlformats.org/officeDocument/2006/relationships/notesSlide" Target="../notesSlides/notesSlide2.xml"/><Relationship Id="Rb01d112caaf74d4a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81955a295b384010" Type="http://schemas.openxmlformats.org/officeDocument/2006/relationships/notesSlide" Target="../notesSlides/notesSlide3.xml"/><Relationship Id="Ra01a63abbdc54d9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112b0b930bcf43f0" Type="http://schemas.openxmlformats.org/officeDocument/2006/relationships/slideLayout" Target="../slideLayouts/slideLayout1.xml"/><Relationship Id="R527715746555401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24b7698d5199493b" Type="http://schemas.openxmlformats.org/officeDocument/2006/relationships/slideLayout" Target="../slideLayouts/slideLayout1.xml"/><Relationship Id="R7d9a9495baea41ea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ec2b8ff3a5f24ae0" Type="http://schemas.openxmlformats.org/officeDocument/2006/relationships/notesSlide" Target="../notesSlides/notesSlide6.xml"/><Relationship Id="Rf619bd1fe61c4a4c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87ba337403d5475a" Type="http://schemas.openxmlformats.org/officeDocument/2006/relationships/notesSlide" Target="../notesSlides/notesSlide7.xml"/><Relationship Id="Ra9667bd27b2649ce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0c3a2189be0d4245" Type="http://schemas.openxmlformats.org/officeDocument/2006/relationships/slideLayout" Target="../slideLayouts/slideLayout1.xml"/><Relationship Id="Rb13f39ec524446fe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0a2b279812e444ad" Type="http://schemas.openxmlformats.org/officeDocument/2006/relationships/slideLayout" Target="../slideLayouts/slideLayout1.xml"/><Relationship Id="R4c9f0b8fbbe0483d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0c8fcb0bc3a444e8" Type="http://schemas.openxmlformats.org/officeDocument/2006/relationships/slideLayout" Target="../slideLayouts/slideLayout1.xml"/><Relationship Id="R864713fc0a6a4d89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4a943c241f54410f" Type="http://schemas.openxmlformats.org/officeDocument/2006/relationships/slideLayout" Target="../slideLayouts/slideLayout1.xml"/><Relationship Id="Ra52418adffd1415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47c2e78976994420" Type="http://schemas.openxmlformats.org/officeDocument/2006/relationships/slideLayout" Target="../slideLayouts/slideLayout1.xml"/><Relationship Id="R754f401a8dc041a1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0911f26a9dd149c2" Type="http://schemas.openxmlformats.org/officeDocument/2006/relationships/slideLayout" Target="../slideLayouts/slideLayout1.xml"/><Relationship Id="R68291c0aab9a4aa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1d24a4813b234f43" Type="http://schemas.openxmlformats.org/officeDocument/2006/relationships/slideLayout" Target="../slideLayouts/slideLayout1.xml"/><Relationship Id="R493cde704fa345a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509d5bceb7eb43cf" Type="http://schemas.openxmlformats.org/officeDocument/2006/relationships/notesSlide" Target="../notesSlides/notesSlide15.xml"/><Relationship Id="Re588536c077a4644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b67a2cbe004240c0" Type="http://schemas.openxmlformats.org/officeDocument/2006/relationships/notesSlide" Target="../notesSlides/notesSlide16.xml"/><Relationship Id="Reac19bbb5b1d4b7a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b99cd9e26d2b43c2" Type="http://schemas.openxmlformats.org/officeDocument/2006/relationships/slideLayout" Target="../slideLayouts/slideLayout1.xml"/><Relationship Id="Rfd17f6c17f6c410c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489300b3f40b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A8B2D-EE6D-4176-B409-15B86535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857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C7B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DCA6D-CAB8-4F6F-9734-AC2FC38F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810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rPr>
              <a:t>TECO  /  系統介紹與技術說明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DB6F1-61C3-4B51-A803-8BEE3B14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52550"/>
            <a:ext cx="5886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把空調設備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變成可觀測的系統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45336-26C5-4FCA-91F1-DD4FDFAF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2EC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E2ECEF"/>
                </a:solidFill>
                <a:latin typeface="Arial Unicode MS"/>
                <a:ea typeface="Arial Unicode MS"/>
                <a:cs typeface="Arial Unicode MS"/>
              </a:rPr>
              <a:t>東元電機智慧環境監控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674F4-F3C1-4F93-B784-EC614E14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DD0D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BDD0D7"/>
                </a:solidFill>
                <a:latin typeface="Arial Unicode MS"/>
                <a:ea typeface="Arial Unicode MS"/>
                <a:cs typeface="Arial Unicode MS"/>
              </a:rPr>
              <a:t>產品功能・資料流・系統架構・部署與驗收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AA6D4-2BEC-4D90-BEAD-E6B413CD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007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2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AFC2CA"/>
                </a:solidFill>
                <a:latin typeface="Arial Unicode MS"/>
                <a:ea typeface="Arial Unicode MS"/>
                <a:cs typeface="Arial Unicode MS"/>
              </a:rPr>
              <a:t>技術簡報  ·  2026 年 10 月 6 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EB5E2-A2AE-4312-BA70-79EDB20A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29375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1DE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D1DEE2"/>
                </a:solidFill>
                <a:latin typeface="Arial Unicode MS"/>
                <a:ea typeface="Arial Unicode MS"/>
                <a:cs typeface="Arial Unicode MS"/>
              </a:rPr>
              <a:t>概念示意圖；非現場照片</a:t>
            </a:r>
          </a:p>
        </p:txBody>
      </p:sp>
    </p:spTree>
    <p:extLst>
      <p:ext uri="{BB962C8B-B14F-4D97-AF65-F5344CB8AC3E}">
        <p14:creationId xmlns:p14="http://schemas.microsoft.com/office/powerpoint/2010/main" val="18013494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E27EDC-9418-41EB-A6FA-42A6BAE0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TECO  /  智慧環境監控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83D5F-F715-49B6-A0E9-9C15A71D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系統範圍：從機房到操作席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F0796-75E0-4667-B082-03C0D814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1E082-C34D-48AA-B8C9-94DE91EC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東元電機智慧環境監控系統  · 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2FB92-9128-41D9-8C10-CBF783FB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cea7f977f4e7f"/>
          <a:srcRect xmlns:a="http://schemas.openxmlformats.org/drawingml/2006/main" l="2263" t="0" r="22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62100"/>
            <a:ext cx="7239000" cy="4267200"/>
          </a:xfrm>
          <a:prstGeom xmlns:a="http://schemas.openxmlformats.org/drawingml/2006/main" prst="roundRect">
            <a:avLst>
              <a:gd name="adj" fmla="val 267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A1BCF-3A18-4E86-B525-73D81FD4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7239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1C2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F2F75-6B24-482A-86D0-F5A52672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6896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概念剖面，用於解釋監控範圍；不是實際建築平面圖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ACEC8-9C58-4683-82E4-CAFC97F7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1600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D9F2F-0AE0-4A46-AD0D-A2407A56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6E353-6196-4B3A-BDBD-5BE99321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冰水主機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CBF15-7FBB-4AF9-96FE-FFD98B0C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0507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中央空調設備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26980-78DB-45F4-8321-6417FFFE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562100"/>
            <a:ext cx="1752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8AF2F-5C17-40E4-AE24-F4547C1F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7145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7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4374A"/>
                </a:solidFill>
                <a:latin typeface="Arial Unicode MS"/>
                <a:ea typeface="Arial Unicode MS"/>
                <a:cs typeface="Arial Unicode MS"/>
              </a:rPr>
              <a:t>95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9BF6C3-D1CE-4D27-94F4-62203CC1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3837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FCU 主檔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F56C2-C5C0-4C0C-A7B2-443A7D5A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0507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後端預期數量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841DE1-7594-4A82-8EBA-7160391D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3543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5D61E2-0BAD-4FD3-8E7E-344BB721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A7E368-29E3-41E5-B1B4-77419D93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2420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現場設備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C05A0B-8CC6-4DF9-968E-A8CE7EEF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2425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冰水主機、DDC 控制器、FCU 與通訊閘道。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6A9280-B83A-4056-8CFB-4C891C78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14825"/>
            <a:ext cx="3543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AC384B-B43A-4B9F-A9DF-6E87DF5D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14825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53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03D073-2713-49C5-BA3E-B3258A64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86275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本地平台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16EA55-143A-4081-B48E-6E4DE1D8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86325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Collector、API、MariaDB 與瀏覽器操作介面。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6E078F-38B9-4B10-AE24-D7530C0F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57850"/>
            <a:ext cx="354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B5B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BB5B52"/>
                </a:solidFill>
                <a:latin typeface="Arial Unicode MS"/>
                <a:ea typeface="Arial Unicode MS"/>
                <a:cs typeface="Arial Unicode MS"/>
              </a:rPr>
              <a:t>目前尚未以正式現場資料確認設備連線與測值。</a:t>
            </a:r>
          </a:p>
        </p:txBody>
      </p:sp>
    </p:spTree>
    <p:extLst>
      <p:ext uri="{BB962C8B-B14F-4D97-AF65-F5344CB8AC3E}">
        <p14:creationId xmlns:p14="http://schemas.microsoft.com/office/powerpoint/2010/main" val="7739533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70FA3B-072F-4AE8-9B0E-77FB015E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TECO  /  智慧環境監控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79F09-ABAD-4D80-9194-9BBB6BF9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操作介面：四個入口，各自處理一類工作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CA918-01E2-419B-B3DE-072E1A8C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06812-4145-4813-B268-DFD7C23C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東元電機智慧環境監控系統  · 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0CFFA-EE2C-4610-809C-13E4539A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D8F2B-EC72-44A9-858B-CF587893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以下為功能導覽；各頁面的實際畫面見後續截圖頁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014A7-D5A1-4EF6-9CF9-0C6433FF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2628900" cy="28575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31002E-FCC7-41BF-9ACD-695D5E7B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2628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C59F9-D96C-4F20-83C6-04DB75F4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F5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E9F5F4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C64F02-92E9-42EC-88FF-758FC9AE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監控中心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760E0-EB38-49A5-A8A4-DC862A20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1162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EDF86-01C6-4F60-80A4-9D05D2A7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場館管理員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59D04-1BD5-4DB2-AEA1-F274BA7F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22479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設備摘要</a:t>
            </a:r>
          </a:p>
          <a:p xmlns:a="http://schemas.openxmlformats.org/drawingml/2006/main">
            <a:pPr algn="l">
              <a:defRPr sz="15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告警與即時狀態</a:t>
            </a:r>
          </a:p>
          <a:p xmlns:a="http://schemas.openxmlformats.org/drawingml/2006/main">
            <a:pPr algn="l">
              <a:defRPr sz="15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前台總覽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A0C72-B5B2-4A9B-AC9A-4B181852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24050"/>
            <a:ext cx="2628900" cy="28575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70A895-E32C-42E1-96FF-D6969A78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24050"/>
            <a:ext cx="2628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374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A4D29-336C-488A-BC0A-E7770DC9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38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F5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E9F5F4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DB726A-CC31-4889-A455-C8BE8E7D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9080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空間配置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670E87-CB5E-4393-9CB8-97419456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38475"/>
            <a:ext cx="1162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8BF6D2-100E-4DE0-8978-C1EFBB0A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861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場館管理員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5CBBBA-9D3E-4B38-9A17-4A4BB8F5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33775"/>
            <a:ext cx="22479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B1 / B2 樓層</a:t>
            </a:r>
          </a:p>
          <a:p xmlns:a="http://schemas.openxmlformats.org/drawingml/2006/main">
            <a:pPr algn="l">
              <a:defRPr sz="15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區域與 FCU 對位</a:t>
            </a:r>
          </a:p>
          <a:p xmlns:a="http://schemas.openxmlformats.org/drawingml/2006/main">
            <a:pPr algn="l">
              <a:defRPr sz="15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2D / 3D 檢視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C6177D-A5F5-417D-9138-A4058999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2628900" cy="28575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7EB211-EA47-4A8E-AFC4-96FA095F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2628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9953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E442B0-8C93-4429-9685-A1770148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38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F5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E9F5F4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4EC1C0-C546-4DA3-920A-17BBB452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9080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報表中心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D2CFF6-B35A-4283-B8F8-FEDF14FF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38475"/>
            <a:ext cx="1162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CA5903-B3DB-4B2E-9CD6-C6A023B2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861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場館管理員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1C0E55-C396-4F6E-8F89-CEBFB990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33775"/>
            <a:ext cx="22479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FCU / 主機 / 告警</a:t>
            </a:r>
          </a:p>
          <a:p xmlns:a="http://schemas.openxmlformats.org/drawingml/2006/main">
            <a:pPr algn="l">
              <a:defRPr sz="15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日期與週期篩選</a:t>
            </a:r>
          </a:p>
          <a:p xmlns:a="http://schemas.openxmlformats.org/drawingml/2006/main">
            <a:pPr algn="l">
              <a:defRPr sz="15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表格 / 折線圖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768E77-90A6-4A65-B041-145371BD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24050"/>
            <a:ext cx="2628900" cy="28575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2DF808-3AA3-4ABE-B632-0DF83302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24050"/>
            <a:ext cx="2628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B5B5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DAE37E-6A1B-42F0-AA72-689DCDF4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38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F5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E9F5F4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FAC398-3F5A-4BC0-AB3E-D14B0794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9080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系統診斷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814313-1270-43EE-B39F-A30A3B39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38475"/>
            <a:ext cx="1162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83882B-ACCF-4FF5-8BB2-2705CF96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861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平台管理員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4AAB83-B6BE-4225-A005-F6029FAE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33775"/>
            <a:ext cx="22479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通道 / Collector</a:t>
            </a:r>
          </a:p>
          <a:p xmlns:a="http://schemas.openxmlformats.org/drawingml/2006/main">
            <a:pPr algn="l">
              <a:defRPr sz="15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DB / 排程 / 落地</a:t>
            </a:r>
          </a:p>
          <a:p xmlns:a="http://schemas.openxmlformats.org/drawingml/2006/main">
            <a:pPr algn="l">
              <a:defRPr sz="15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歷史連線紀錄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6132D9-D52B-4C47-8854-6DFDB488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11087100" cy="885825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C398FF-DF6E-4934-BD2D-48A81D92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後續頁面附有實際系統畫面，擷取自 VM 上的測試環境，資料由設備模擬器產生，不是現場設備。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EA3C3D-199B-4FA9-B5CE-3AFF6932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B5B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B5B52"/>
                </a:solidFill>
                <a:latin typeface="Arial Unicode MS"/>
                <a:ea typeface="Arial Unicode MS"/>
                <a:cs typeface="Arial Unicode MS"/>
              </a:rPr>
              <a:t>現場設備的畫面與數值，仍須在現場接通後另行擷取留存。</a:t>
            </a:r>
          </a:p>
        </p:txBody>
      </p:sp>
    </p:spTree>
    <p:extLst>
      <p:ext uri="{BB962C8B-B14F-4D97-AF65-F5344CB8AC3E}">
        <p14:creationId xmlns:p14="http://schemas.microsoft.com/office/powerpoint/2010/main" val="6246176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B1F2DB-EF4F-42D5-9CCB-BF82A608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TECO  /  智慧環境監控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9354E-B975-4F4D-BF14-2A781599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場館後台：設備監控、設定與報表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F9CC0-9EDB-44E1-B024-BFB6BB67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289B2-CF97-4970-A167-C953CD22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東元電機智慧環境監控系統  · 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9F6FB-5528-4E4E-A164-E406FEBD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D2673-A295-4CCF-9946-642BFBB3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依實際路由與前端頁面元件整理；各頁面的實際畫面見接下來的截圖頁。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988E7-C22E-4434-8E32-44761A7D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34290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B4F17-2842-4305-9230-F1B99E5E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846B8-A19B-468C-A063-68675833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0977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監控中心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B0B82-D4F7-4903-BE5E-89F3C610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4315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/admin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98F49-4284-4DF2-8053-0A618049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47950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彙整冰水主機與 FCU 狀態；檢視即時告警，並可展開完整告警清單。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0F6F8B-88F5-4CC7-97F1-B7A251FE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47850"/>
            <a:ext cx="34290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C0F037-5F32-4F93-A33F-F5F29D1C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478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74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842D73-E6AF-4285-B8DA-3EC5E43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00977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冰水主機管理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324B9-978A-434E-A8FB-CC0772B0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34315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37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4374A"/>
                </a:solidFill>
                <a:latin typeface="Arial Unicode MS"/>
                <a:ea typeface="Arial Unicode MS"/>
                <a:cs typeface="Arial Unicode MS"/>
              </a:rPr>
              <a:t>/admin/chiller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79E1B-034D-49BE-8E83-4223DA63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47950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設備狀態與自訂名稱；設定出水、回水、ΔT 門檻；維護間隔與保養完成記錄。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0C37B-9354-47A4-80D5-2EA1CD8B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47850"/>
            <a:ext cx="34290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9F69C7-9B43-432A-8297-2B312116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478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53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8532DC-5430-49E9-A399-D325C56F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0977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FCU 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D6FC7E-EF36-46C1-9C0D-0C07CC32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4315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D9953C"/>
                </a:solidFill>
                <a:latin typeface="Arial Unicode MS"/>
                <a:ea typeface="Arial Unicode MS"/>
                <a:cs typeface="Arial Unicode MS"/>
              </a:rPr>
              <a:t>/admin/fcu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F75A79-8478-4CF3-B0C1-1AF4F19C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47950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逐台查看位置、室溫、風速、模式與狀態；編輯設備名稱及全場室溫上下限。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D925D5-D32D-426C-833D-27E7F2F3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34290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FC4E06-B886-4096-A945-731907EB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7A46B9-BC43-4931-9DE3-2B1CF658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7667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空間設備配置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C7071A-A1D0-4AB7-966E-21A1D886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1005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/admin/floor-plan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7B8B38-CABC-479D-B173-2A528F54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14850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在 B1 / B2 圖面上對位區域與設備；支援 2D / 3D 檢視及後端保存。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2C0ABE-2F9D-4023-AA5D-18EE9296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14750"/>
            <a:ext cx="34290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D7CC28-01BF-420E-BB48-4E4CFF01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147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74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BFB368-F72B-477F-9114-35D655EF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87667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運轉報表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F82B71-FFB6-4190-8057-795394AF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21005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37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4374A"/>
                </a:solidFill>
                <a:latin typeface="Arial Unicode MS"/>
                <a:ea typeface="Arial Unicode MS"/>
                <a:cs typeface="Arial Unicode MS"/>
              </a:rPr>
              <a:t>/admin/reports/*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ED14DE-07E7-43C0-BD56-202B653A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514850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主機、FCU、異常告警分報表；選日期、週期與設備條件，以表格或折線圖查看。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925AAF-6E1C-4B69-8496-5C753A8E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14750"/>
            <a:ext cx="34290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53A55D-963A-4194-88C3-8ACF75E6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147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5B5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0592DF-ADFF-4D50-B993-37D2B5E4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7667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狀態判斷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211B6F-81F3-4FA1-9638-5ECABCF5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1005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B5B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BB5B52"/>
                </a:solidFill>
                <a:latin typeface="Arial Unicode MS"/>
                <a:ea typeface="Arial Unicode MS"/>
                <a:cs typeface="Arial Unicode MS"/>
              </a:rPr>
              <a:t>設備資料 + 有效告警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988698-FA5D-4B9E-942C-AD3AF73C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14850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設備狀態與告警門檻共用後端有效告警結果，避免畫面自行推算出不一致狀態。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355184-D496-4EB8-AA78-F3E737D6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24525"/>
            <a:ext cx="110871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67D8BE-39AA-4B38-A5B9-B41BD753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3882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帳號只會看到具備讀取權限的功能；新增、修改、保養與門檻操作另受各自權限控管。</a:t>
            </a:r>
          </a:p>
        </p:txBody>
      </p:sp>
    </p:spTree>
    <p:extLst>
      <p:ext uri="{BB962C8B-B14F-4D97-AF65-F5344CB8AC3E}">
        <p14:creationId xmlns:p14="http://schemas.microsoft.com/office/powerpoint/2010/main" val="1081707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50DD57-8CB7-4028-89C4-1BB87F9E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TECO  /  智慧環境監控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1FF02-4007-4BA6-AFF1-B93D6E08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場館後台：管理帳號、權限與操作追蹤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4ECE4-EE87-461A-8C90-E9F3F550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E7BE6-5AA5-4BD3-AE94-8E290474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東元電機智慧環境監控系統  · 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24FF4-7A43-4594-9FD9-2616570D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F52C8-1D61-41E9-90F7-BFAB413B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場館管理員的權限範圍限於登入所屬場館；以功能資源與 CRUD 動作組合授權。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01A28-F7EC-417D-A4D6-15E64420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3429000" cy="1971675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49354-9483-48AA-9855-319398CB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1BB34-8F3C-48E3-A31A-4FAA6DB0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使用者管理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582C3-4D3D-4438-9CF1-412B6990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/admin/users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56CD1-4863-4F00-AF9E-4736B329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維護本場館使用者與其角色指派。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A02F6-678B-41A9-B77C-640BEC76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24050"/>
            <a:ext cx="3429000" cy="1971675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60075-B98E-4737-B510-CBB61A0D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240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53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41FC9-B859-46DA-A77F-DB4D4B43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717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角色管理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6612D6-BD71-4D9D-8E01-1B23FD37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0325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9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D9953C"/>
                </a:solidFill>
                <a:latin typeface="Arial Unicode MS"/>
                <a:ea typeface="Arial Unicode MS"/>
                <a:cs typeface="Arial Unicode MS"/>
              </a:rPr>
              <a:t>/admin/roles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8E79A9-543C-4825-81B7-2C03AB60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81325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建立 / 編輯場館角色；依功能調整讀取、新增、修改、刪除及子功能權限。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3386E8-C115-4F4E-9C6C-EA452D69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24050"/>
            <a:ext cx="3429000" cy="1971675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2713D8-E115-461E-B627-EA68390C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240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74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D91EDD-EF50-4201-9B9B-A5831CD2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操作紀錄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99AE90-CF99-4CBB-9E0C-406B5CB4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0325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37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4374A"/>
                </a:solidFill>
                <a:latin typeface="Arial Unicode MS"/>
                <a:ea typeface="Arial Unicode MS"/>
                <a:cs typeface="Arial Unicode MS"/>
              </a:rPr>
              <a:t>/admin/operation-log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976A3E-559C-4C10-9598-18C15ED1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81325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按日期區間查閱使用者、操作項目與結果，追蹤管理變更。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B8227A-94CF-44D7-BBF2-6BFFF027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76725"/>
            <a:ext cx="110871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1C2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DCC8FC-E9CC-4DEB-9E61-BB36CB02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2333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授權怎麼生效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622956-6042-4A63-B99C-D881E070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81575"/>
            <a:ext cx="1847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64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D74194-448D-45AB-A899-DDA32D7F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rPr>
              <a:t>角色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3EA464-5A5F-482D-8982-C522EE93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E4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5E4E8"/>
                </a:solidFill>
                <a:latin typeface="Arial Unicode MS"/>
                <a:ea typeface="Arial Unicode MS"/>
                <a:cs typeface="Arial Unicode MS"/>
              </a:rPr>
              <a:t>誰在操作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173764-1578-4B93-A418-8F05B633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2920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B80788-3412-4C70-9BF2-E1C1A1B5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981575"/>
            <a:ext cx="1847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64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2F421C-7733-4E03-A30D-41B96117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29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rPr>
              <a:t>資源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8043C0-2BAC-4462-AD52-7C6931E7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219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E4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5E4E8"/>
                </a:solidFill>
                <a:latin typeface="Arial Unicode MS"/>
                <a:ea typeface="Arial Unicode MS"/>
                <a:cs typeface="Arial Unicode MS"/>
              </a:rPr>
              <a:t>哪個功能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241F10-6CD6-486E-9449-89B0E46F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02920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5985C7-F0C2-4376-9B29-829AFDCD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81575"/>
            <a:ext cx="1847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64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3B63E2-A947-4809-ABFB-F826067F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029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rPr>
              <a:t>動作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43C1DF-EF0C-430E-96FF-69C08BC2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219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E4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5E4E8"/>
                </a:solidFill>
                <a:latin typeface="Arial Unicode MS"/>
                <a:ea typeface="Arial Unicode MS"/>
                <a:cs typeface="Arial Unicode MS"/>
              </a:rPr>
              <a:t>讀 / 新增 / 改 / 刪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28B70A-B073-4A98-A397-1E39A0B5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02920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F7C57D-E020-416A-8DC1-52C07B87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981575"/>
            <a:ext cx="1847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64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BDDDE7-5DF1-4F02-A95B-D6C9E2F7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029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rPr>
              <a:t>API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3EFBDC-4F72-4B2F-B1CA-435994D0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219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E4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5E4E8"/>
                </a:solidFill>
                <a:latin typeface="Arial Unicode MS"/>
                <a:ea typeface="Arial Unicode MS"/>
                <a:cs typeface="Arial Unicode MS"/>
              </a:rPr>
              <a:t>每次請求再授權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4B9682-401E-4C7C-A162-9B34149B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02920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7E3B6E-BAF8-446A-9777-8576DAC5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81575"/>
            <a:ext cx="1847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64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94FA1A-B60B-4079-A591-674E9020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29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rPr>
              <a:t>稽核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4EA708-E06B-46ED-83D7-790974B4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219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E4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5E4E8"/>
                </a:solidFill>
                <a:latin typeface="Arial Unicode MS"/>
                <a:ea typeface="Arial Unicode MS"/>
                <a:cs typeface="Arial Unicode MS"/>
              </a:rPr>
              <a:t>留下操作結果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86C79A-AF31-427F-B4D2-BA991840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權限來源：後台側選單依 read grant 顯示；伺服器端仍會逐次檢查範圍與動作。</a:t>
            </a:r>
          </a:p>
        </p:txBody>
      </p:sp>
    </p:spTree>
    <p:extLst>
      <p:ext uri="{BB962C8B-B14F-4D97-AF65-F5344CB8AC3E}">
        <p14:creationId xmlns:p14="http://schemas.microsoft.com/office/powerpoint/2010/main" val="6588070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ED13CC-D95C-4C81-B0AB-9629A58A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TECO  /  智慧環境監控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62C2F-09FD-47DB-9DFF-0CB58FA0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平台管理後台：跨場館維運與系統診斷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FC9CF-3452-42EB-9518-ADB5F526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C5DD5-4A63-4356-A08F-BAF3FC59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東元電機智慧環境監控系統  · 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7BD9E-B47C-4CDE-A941-26E5710B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343AA-7C0E-4DF1-9109-623B2312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平台範圍與場館範圍使用不同側邊選單和授權資源。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95CCD-75DF-458E-80D4-ADA033D4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52768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933AA-2A71-4865-809A-7833DF15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0CA50-0562-459B-8056-9EDE2206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場館管理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047B6-764D-4182-A8ED-F2AD5150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574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/platform/merchants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3EFE7-BB97-477A-9174-30F025B0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新增場館、查看場館狀態，管理場館成員與權限細項模式。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8A1BA-08B3-4B22-96DE-65DFA25B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52768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44290-CFAF-4D49-A755-BC6AF518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74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3F386-46BE-4522-99B7-C4BC4999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系統帳號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9AB733-4834-480B-8D71-AE9D184D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574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437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4374A"/>
                </a:solidFill>
                <a:latin typeface="Arial Unicode MS"/>
                <a:ea typeface="Arial Unicode MS"/>
                <a:cs typeface="Arial Unicode MS"/>
              </a:rPr>
              <a:t>/platform/system-users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B7903-52AF-4FC7-B434-9A9AA900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新增平台範圍帳號並指定平台角色；與場館內成員帳號分開管理。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5FC8AA-1E42-44CD-93FC-E79E90AA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67100"/>
            <a:ext cx="52768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0CA428-32A8-4AB5-B41F-74A95C16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6710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53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E0CC58-579E-4CA1-B397-6B264058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平台角色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DAB26A-5BF5-4459-9E74-10C48B2D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766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99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D9953C"/>
                </a:solidFill>
                <a:latin typeface="Arial Unicode MS"/>
                <a:ea typeface="Arial Unicode MS"/>
                <a:cs typeface="Arial Unicode MS"/>
              </a:rPr>
              <a:t>/platform/roles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53CA29-9D4D-437E-BC4F-750C1489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新增平台角色並管理權限；系統範本權限受平台超級管理員控管。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F8D9E9-33ED-492F-8282-7C338629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7100"/>
            <a:ext cx="52768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7EBADB-F17F-4C9A-B008-2C3CFCEC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710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5B5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5C9D3C-3255-439E-8563-145CC317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系統診斷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A0811A-EEE5-41A6-BFF6-6349D688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766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B5B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BB5B52"/>
                </a:solidFill>
                <a:latin typeface="Arial Unicode MS"/>
                <a:ea typeface="Arial Unicode MS"/>
                <a:cs typeface="Arial Unicode MS"/>
              </a:rPr>
              <a:t>/platform/diagnostics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A1267E-D2BB-4BE3-AA2D-BF02DAB6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查看通道、Collector 健康、資料品質、DB 落地、排程與連線歷程。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0F4877-F3C7-45CB-8F07-77F5B36B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67325"/>
            <a:ext cx="11087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8E7F51-3C52-4BD0-924F-331CE02D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診斷頁的實際畫面見後面的「系統診斷」截圖頁（測試環境、模擬器資料）；現場設備的診斷結果仍須到現場驗收。</a:t>
            </a:r>
          </a:p>
        </p:txBody>
      </p:sp>
    </p:spTree>
    <p:extLst>
      <p:ext uri="{BB962C8B-B14F-4D97-AF65-F5344CB8AC3E}">
        <p14:creationId xmlns:p14="http://schemas.microsoft.com/office/powerpoint/2010/main" val="19115905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7485D8-77F9-4888-92F8-476E6CFA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TECO  /  智慧環境監控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A91E7-EB92-42FE-8466-04B459C6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技術架構：兩條資料路徑，一個操作介面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B652E-321A-4D0D-AB3A-4A745E5D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14728-3B97-4F9D-B92C-14AF1235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東元電機智慧環境監控系統  · 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439A6-F51E-4B4A-B95A-F9BF0340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00E56-4F6A-4D06-AE2F-727361BF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現場資料以 Collector 接入；API 負責即時狀態、查詢與推播。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9D76D-A8E2-4A53-9D0A-6F5B8651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9431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31015-6828-4F68-871D-9D836A8A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4762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74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2A930-C6B8-459C-A90A-72ADE991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1676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設備層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18968-D85D-4CB1-9363-929678A6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52725"/>
            <a:ext cx="1676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2 台冰水主機</a:t>
            </a:r>
          </a:p>
          <a:p xmlns:a="http://schemas.openxmlformats.org/drawingml/2006/main">
            <a:pPr algn="l">
              <a:def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DDC1 / DDC2</a:t>
            </a:r>
          </a:p>
          <a:p xmlns:a="http://schemas.openxmlformats.org/drawingml/2006/main">
            <a:pPr algn="l">
              <a:def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95 台 FCU（主檔）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D5DA5-4B9D-4BA2-9342-542CD137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66950"/>
            <a:ext cx="19431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A2C00-B7D1-4E3C-BDCC-4D1280CD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66950"/>
            <a:ext cx="4762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CE3C86-F625-4874-88CD-688D57BE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09825"/>
            <a:ext cx="1676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Collector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850A1-F269-4A07-AD5D-D65427C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52725"/>
            <a:ext cx="1676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.NET 10</a:t>
            </a:r>
          </a:p>
          <a:p xmlns:a="http://schemas.openxmlformats.org/drawingml/2006/main">
            <a:pPr algn="l">
              <a:def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設備讀取、正規化</a:t>
            </a:r>
          </a:p>
          <a:p xmlns:a="http://schemas.openxmlformats.org/drawingml/2006/main">
            <a:pPr algn="l">
              <a:def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Watchdog / healthz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10741E-2F6C-4365-8D2F-493FA1AF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66950"/>
            <a:ext cx="19431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1041F-C242-418B-8DE1-BE49DC0C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66950"/>
            <a:ext cx="4762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0E3043-5864-4751-A848-38280CBF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09825"/>
            <a:ext cx="1676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9C8FA3-58A3-4CBE-AF7B-8412F382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52725"/>
            <a:ext cx="1676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ASP.NET Core 10</a:t>
            </a:r>
          </a:p>
          <a:p xmlns:a="http://schemas.openxmlformats.org/drawingml/2006/main">
            <a:pPr algn="l">
              <a:def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內部 Ingest</a:t>
            </a:r>
          </a:p>
          <a:p xmlns:a="http://schemas.openxmlformats.org/drawingml/2006/main">
            <a:pPr algn="l">
              <a:def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REST + SignalR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3379DC-95F6-44B1-9F97-6A0B1643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66950"/>
            <a:ext cx="19431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E34093-119D-4923-90F6-8AF4B73E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66950"/>
            <a:ext cx="4762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53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35E8B9-60A7-4326-A742-E3756E15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09825"/>
            <a:ext cx="1676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資料庫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16AD06-2F18-4A5F-B7BC-B64BD5F1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52725"/>
            <a:ext cx="1676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MariaDB 11.8</a:t>
            </a:r>
          </a:p>
          <a:p xmlns:a="http://schemas.openxmlformats.org/drawingml/2006/main">
            <a:pPr algn="l">
              <a:def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Dapper / MySqlConnector</a:t>
            </a:r>
          </a:p>
          <a:p xmlns:a="http://schemas.openxmlformats.org/drawingml/2006/main">
            <a:pPr algn="l">
              <a:def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時序與設定資料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311BD1-3F36-4DFF-A297-581EFCAB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66950"/>
            <a:ext cx="19431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054D6C-57A4-4292-8D3A-454F3321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66950"/>
            <a:ext cx="4762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74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0C25DB-FDED-4A88-B635-E29BB7D9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9825"/>
            <a:ext cx="1676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Web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69AFF6-6FA7-47D2-BF91-EFDAF391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52725"/>
            <a:ext cx="1676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Astro + Vue</a:t>
            </a:r>
          </a:p>
          <a:p xmlns:a="http://schemas.openxmlformats.org/drawingml/2006/main">
            <a:pPr algn="l">
              <a:def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Caddy 靜態服務 / 反代</a:t>
            </a:r>
          </a:p>
          <a:p xmlns:a="http://schemas.openxmlformats.org/drawingml/2006/main">
            <a:pPr algn="l">
              <a:def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操作員瀏覽器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24B51A-A1F2-4275-BBAC-54B93373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337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3BEEAB-EC39-4CA7-A0E8-5B2B64EA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9337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F8A913-DA23-4F28-8775-4545A7B8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9337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893EB4-24D6-4799-AA4C-F633E9A2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9337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71CEB8-4DAB-4D0B-BE8C-10D03305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476750"/>
            <a:ext cx="4229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1C2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B21907-4073-41B7-BE4E-45866586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29150"/>
            <a:ext cx="377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Collector → API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90ACBA-9BFB-4F9E-81C2-1122C12C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953000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BD0D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BD0D7"/>
                </a:solidFill>
                <a:latin typeface="Arial Unicode MS"/>
                <a:ea typeface="Arial Unicode MS"/>
                <a:cs typeface="Arial Unicode MS"/>
              </a:rPr>
              <a:t>POST /internal/ingest/data  ·  內部 Token 驗證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441ED4-5731-43BD-88C7-B5FC98B2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76750"/>
            <a:ext cx="4229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6629B1-60E0-45C0-B415-FA26DD18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29150"/>
            <a:ext cx="377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瀏覽器 ⇄ API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FCC00E-C327-45C8-BCA6-22FE38B8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53000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/api/* 查詢  ·  /hubs/* 即時推播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D0A8FB-DD89-4571-9C25-906DBDA7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435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MariaDB 不直接對區網開放；對外單一入口由 Caddy 提供。</a:t>
            </a:r>
          </a:p>
        </p:txBody>
      </p:sp>
    </p:spTree>
    <p:extLst>
      <p:ext uri="{BB962C8B-B14F-4D97-AF65-F5344CB8AC3E}">
        <p14:creationId xmlns:p14="http://schemas.microsoft.com/office/powerpoint/2010/main" val="5157482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5EA0E7-EB66-4D0C-8210-66E249AD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TECO  /  智慧環境監控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AF370-314F-43CC-AAF8-ED416A56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資料流：即時推播與歷史落地分開節流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FC419-8F45-4438-9A48-AB859C04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54563-ADF3-4289-B548-1CEFD01C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東元電機智慧環境監控系統  · 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B973A-C7BF-4873-9968-DE1909CB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51D27-99F2-4635-AB5E-A9C028A1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10871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C2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685FD-8478-46BD-8111-BD875B84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即時路徑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628D9-08DE-47BF-81ED-6FFFE2B6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95525"/>
            <a:ext cx="1028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8E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9E8EC"/>
                </a:solidFill>
                <a:latin typeface="Arial Unicode MS"/>
                <a:ea typeface="Arial Unicode MS"/>
                <a:cs typeface="Arial Unicode MS"/>
              </a:rPr>
              <a:t>設備讀取 → Collector → API 現況快照 → SignalR → 瀏覽器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9B009F-C305-48D2-AF28-09B49868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B2803-FCE8-484B-BB39-E73AD961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1066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約每 5 秒讀取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79A55-578E-46CB-98FF-E4385BE8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86075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BD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7CBD1"/>
                </a:solidFill>
                <a:latin typeface="Arial Unicode MS"/>
                <a:ea typeface="Arial Unicode MS"/>
                <a:cs typeface="Arial Unicode MS"/>
              </a:rPr>
              <a:t>即時狀態更新不受資料庫節流間隔限制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DDD58B-CB74-4FE1-92EE-BCDB9A0C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歷史路徑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F97DB4-3EBC-43EC-BC92-C7BBD549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67200"/>
            <a:ext cx="3324225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34B2C-A93C-4AEC-9F44-5F42DAF4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67200"/>
            <a:ext cx="476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064EA6-B4EF-4759-942B-2A8A6089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FCU 原始讀值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DECFB-E572-44BF-A6EC-5525D879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2905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每 60 秒寫入，或狀態 / 風速 / 模式變更；溫度變化達 0.5°C。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274B0-8A85-4716-8D8F-B7046949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267200"/>
            <a:ext cx="3324225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434A6A-C4C8-4922-A696-891C99E8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267200"/>
            <a:ext cx="476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53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7C70A9-5D0B-4C47-A838-D83674BC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438650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主機原始讀值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BADEDE-46BC-4DD1-AA61-EBF58B39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838700"/>
            <a:ext cx="2905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每 10 秒寫入一次，保留設備歷史趨勢。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6AB046-FFD9-488A-83F5-F132279E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67200"/>
            <a:ext cx="39814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78CC66-D598-47F4-8BA4-33051F05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67200"/>
            <a:ext cx="476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74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ABF650-9E84-4D7E-A64F-E8AF981D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38650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彙總與保留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5AC0F5-DD11-4341-A630-56BDC0DC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38700"/>
            <a:ext cx="3562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每小時彙總；原始資料依設備類別保留，告警與操作紀錄長期保留。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CAB91E-CC38-4906-89D3-3CC71754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150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時間戳以 UTC 儲存，介面以 Asia/Taipei 顯示。</a:t>
            </a:r>
          </a:p>
        </p:txBody>
      </p:sp>
    </p:spTree>
    <p:extLst>
      <p:ext uri="{BB962C8B-B14F-4D97-AF65-F5344CB8AC3E}">
        <p14:creationId xmlns:p14="http://schemas.microsoft.com/office/powerpoint/2010/main" val="1265579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634587-69DC-42E7-9972-8CFCDFCD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TECO  /  智慧環境監控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30969-13D5-4EE8-84FA-18573BD3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設備盤點：目前有一個數量差異要先釐清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BE6F5-4C63-4FEE-8984-53152683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DE81C-23CC-4D67-A64C-B27BFD45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東元電機智慧環境監控系統  · 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F966C-4273-4AC7-A6C1-841F3CCE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9BE5A-D091-428B-920C-A254137B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2095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B57A9-6F9E-4BFC-B0BA-40B3B1BB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60BD1-52FE-4130-91B1-A7378C40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冰水主機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976E0-25D4-40CE-8F2B-2DA773BE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後端設備資產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382059-AFA5-47C0-9EF6-0F5BAFA1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57350"/>
            <a:ext cx="2095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4D2CB-64A3-4C00-8C42-C4803113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097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7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4374A"/>
                </a:solidFill>
                <a:latin typeface="Arial Unicode MS"/>
                <a:ea typeface="Arial Unicode MS"/>
                <a:cs typeface="Arial Unicode MS"/>
              </a:rPr>
              <a:t>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7CEF4-47A5-405B-8F47-01154B26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336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FCU 預期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9139A-0C70-400B-AE1C-6B61B905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003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DDC1 64 + DDC2 31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B6876-396D-47BA-A7E2-D1B2268A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57350"/>
            <a:ext cx="2095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D8167D-ECE1-4210-A5CC-E89067F7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097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99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D9953C"/>
                </a:solidFill>
                <a:latin typeface="Arial Unicode MS"/>
                <a:ea typeface="Arial Unicode MS"/>
                <a:cs typeface="Arial Unicode MS"/>
              </a:rPr>
              <a:t>90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7A98C2-0D93-4E6F-9438-EEB15804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336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首頁顯示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45752-7317-4AA1-9A67-CDF2E0E6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003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本機頁面擷取值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DF853E-91B6-45C8-991E-644E9749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57350"/>
            <a:ext cx="2095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918DDF-3DDB-4600-B72E-91FFA25B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097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64 / 72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D780A5-B23B-4FDD-B642-41635643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336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B1 配置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688749-2AEB-4C98-AF6F-F643C105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003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已配對 / 區域數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0B3111-A3DB-4B10-82A4-486C2A1F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57350"/>
            <a:ext cx="1943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AECEA"/>
          </a:solidFill>
          <a:ln xmlns:a="http://schemas.openxmlformats.org/drawingml/2006/main" w="9525">
            <a:solidFill>
              <a:srgbClr val="EBCBC7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4CABC6-76B7-47DE-AF6B-75B33D48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1927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B5B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BB5B52"/>
                </a:solidFill>
                <a:latin typeface="Arial Unicode MS"/>
                <a:ea typeface="Arial Unicode MS"/>
                <a:cs typeface="Arial Unicode MS"/>
              </a:rPr>
              <a:t>差異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6B4D84-5E47-4DEF-9228-B30E88C0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43125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B5B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BB5B52"/>
                </a:solidFill>
                <a:latin typeface="Arial Unicode MS"/>
                <a:ea typeface="Arial Unicode MS"/>
                <a:cs typeface="Arial Unicode MS"/>
              </a:rPr>
              <a:t>90 ≠ 95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5B5FAE-61D4-44B2-9D2D-99F563E6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110871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36254A-9667-4E90-B780-30AD12CC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怎麼解讀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F64A50-D12D-4FCF-BDAE-DB02BC4E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44E9F1-55C5-4CAA-9003-0535E42B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95 是後端文件與設備主檔數；90 是本機戰情室畫面當下顯示。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8CACE4-1535-4474-88D6-DBF7130B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291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53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9C9A6C-FCE8-41E4-8946-665566F8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434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樓層區域數與 FCU 台數不是同一個指標；地圖配置亦需逐區核對。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24B8AA-610C-4787-8A07-234DD560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110871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BAC2FD-BD7F-4AD3-AC79-C8A8D31E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578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建議：部署驗收時同時比對 DDC 通道清單、API 設備主檔、樓層配置與現場銘牌。</a:t>
            </a:r>
          </a:p>
        </p:txBody>
      </p:sp>
    </p:spTree>
    <p:extLst>
      <p:ext uri="{BB962C8B-B14F-4D97-AF65-F5344CB8AC3E}">
        <p14:creationId xmlns:p14="http://schemas.microsoft.com/office/powerpoint/2010/main" val="16665594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E7654B-E07D-414C-BBD1-E8AD06E1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TECO  /  智慧環境監控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6FF81-CD2A-43E1-A01E-EB1E91C8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樓層設備配置：把設備位置和區域建立關聯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6916A-DEF6-46EF-90DB-24BA5D75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8B505-44DC-44CA-A3F2-EA950806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東元電機智慧環境監控系統  · 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A8F54-2730-4EC6-938F-CABB4D20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2C710-9C9A-4F61-87C7-1533E258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65722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F44FC-D18F-47B7-B260-6B86BFFA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192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樓層圖面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BFFFC-E0C3-4A1A-9FB6-885679E8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B1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F8D6B-F7D5-4919-8D5E-1A3C02A9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5267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72 區域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9C5D1-6311-44EF-AFB2-A1CF1F92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4374A"/>
                </a:solidFill>
                <a:latin typeface="Arial Unicode MS"/>
                <a:ea typeface="Arial Unicode MS"/>
                <a:cs typeface="Arial Unicode MS"/>
              </a:rPr>
              <a:t>64 已配置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194C8-8D56-489C-B879-BD10B10F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24225"/>
            <a:ext cx="5619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34434-C0BF-4BE8-A81C-6E7942F1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24225"/>
            <a:ext cx="49911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FA337C-69B8-4538-BA86-1CB3B08C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B2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E89ED-90C5-45DD-B226-08A3F574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243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41 區域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85AF68-963A-4E5D-8FDF-26C3FCD3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86275"/>
            <a:ext cx="5619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4AEF0-F5C4-48DF-9651-5EF69AA0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561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9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9953C"/>
                </a:solidFill>
                <a:latin typeface="Arial Unicode MS"/>
                <a:ea typeface="Arial Unicode MS"/>
                <a:cs typeface="Arial Unicode MS"/>
              </a:rPr>
              <a:t>設備對位數：待現場驗收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84084-7019-40B3-BC19-04C89EF2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816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介面支援 2D SVG 與 3D 檢視；配置保存至後端。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7A9032-01BE-4BC0-B178-0AC5A21F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81150"/>
            <a:ext cx="41624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3D5F5A-BF68-461E-81F3-C43E016E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811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471798-3A46-449A-A85A-D892E6C9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752600"/>
            <a:ext cx="3743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位置保存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1F1DD6-52F4-4381-A7D5-79698BB4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152650"/>
            <a:ext cx="37433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GET / PUT /api/v1/floor-plan/{floor}/placements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DE2B64-0005-444C-925A-485CB9A9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19425"/>
            <a:ext cx="41624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AECA92-5A3D-44F0-B1B9-D3BFB5CE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19425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53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7BA7AD-9E62-4E0D-9CE9-838D0571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190875"/>
            <a:ext cx="3743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版本一致性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EA44A0-6671-45E2-AAA9-15003F57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590925"/>
            <a:ext cx="37433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更新帶 expectedVersion；版本衝突回 409，避免覆蓋他人變更。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EE52A3-8EE0-45C4-AE11-219CA291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57700"/>
            <a:ext cx="4162425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8D3C50-EC03-461D-BB21-D90BD428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5770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5B5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1370E8-CE35-4743-BF5E-96E964C1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629150"/>
            <a:ext cx="3743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現場校核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4943EE-AB9F-4115-977C-AB70BA68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029200"/>
            <a:ext cx="37433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樓層區域目前是配置工具；上線前仍需按現場設備位置修正映射。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871278-617C-4EC5-9757-5FA18B60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150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視覺比例為摘要，不是實際樓層圖或座標截圖。</a:t>
            </a:r>
          </a:p>
        </p:txBody>
      </p:sp>
    </p:spTree>
    <p:extLst>
      <p:ext uri="{BB962C8B-B14F-4D97-AF65-F5344CB8AC3E}">
        <p14:creationId xmlns:p14="http://schemas.microsoft.com/office/powerpoint/2010/main" val="21209313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334A47-77E6-48DB-A617-85CDE7C5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TECO  /  智慧環境監控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9D92B-4023-4E5A-A9AC-F4A759E2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告警生命週期：偵測、通知、恢復關閉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BE9A9-2C8E-4F1B-8C6E-4412EB04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B1452-A57B-487D-96A8-D9248E66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東元電機智慧環境監控系統  · 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E0291-C357-455D-9857-BFF973C8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6FCC6-558B-4564-83C3-A65ABFE8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3E892-AC55-498C-A60D-05C4B09E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79393-C15C-4567-A34E-5A9079DC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設定門檻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DB8FE-FEFE-4882-A709-159876D1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209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主機出回水溫、</a:t>
            </a:r>
          </a:p>
          <a:p xmlns:a="http://schemas.openxmlformats.org/drawingml/2006/main">
            <a:pPr algn="l">
              <a:def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水溫差；FCU 室溫上下限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0A72F-21CA-47CB-A952-7451FE86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765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05295-BF86-442C-A7A3-1CE5E5AA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47875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5381B-3E2A-4339-9295-C552E557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28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54ED3-3E83-4796-96E6-2E91F8E1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384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持續監看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B672C8-EC5B-4C01-A111-0209C6C3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52775"/>
            <a:ext cx="209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設備資料更新；</a:t>
            </a:r>
          </a:p>
          <a:p xmlns:a="http://schemas.openxmlformats.org/drawingml/2006/main">
            <a:pPr algn="l">
              <a:def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通道逾時由 watchdog 判斷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9592F-885F-43FB-83CB-0760D147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765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2BAFFA-1498-4F22-9875-E95E2095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2B9E71-9E41-4A6D-86F2-4ED5CB61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28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70A0D7-F8F8-4BCF-8570-89200CBF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384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建立告警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881ABC-295A-4633-B377-4895227E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209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超門檻或通道 &gt; 60 秒</a:t>
            </a:r>
          </a:p>
          <a:p xmlns:a="http://schemas.openxmlformats.org/drawingml/2006/main">
            <a:pPr algn="l">
              <a:def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無成功讀取時告警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54D1A1-AD05-46D1-A1A2-03CB41E2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765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5D6806-294A-45ED-B332-03978C96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47875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94D676-3008-479F-BC57-2F115ECD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28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F0D5E3-F2A2-4B2F-96B2-D20557C6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384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恢復關閉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02B8CC-5012-4C5B-A7CF-2D3AB3CE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52775"/>
            <a:ext cx="209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條件恢復後關閉；</a:t>
            </a:r>
          </a:p>
          <a:p xmlns:a="http://schemas.openxmlformats.org/drawingml/2006/main">
            <a:pPr algn="l">
              <a:def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保留事件記錄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204A91-2312-44AE-914D-EA298B50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11087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0B1C2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266830-8671-42A3-8449-3A6BA491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244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通知與故障邊界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6B3956-7328-49F8-BBFA-DD69B2DF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1028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5E4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D5E4E8"/>
                </a:solidFill>
                <a:latin typeface="Arial Unicode MS"/>
                <a:ea typeface="Arial Unicode MS"/>
                <a:cs typeface="Arial Unicode MS"/>
              </a:rPr>
              <a:t>目前為系統內通知；未接 Email / LINE。Collector 程序本身崩潰，需看診斷頁與 Docker healthcheck。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27688F-DDBF-42D3-A41C-7AB844B4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150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告警門檻要依設備規格與現場運轉條件設定，簡報不預設任何溫度數值。</a:t>
            </a:r>
          </a:p>
        </p:txBody>
      </p:sp>
    </p:spTree>
    <p:extLst>
      <p:ext uri="{BB962C8B-B14F-4D97-AF65-F5344CB8AC3E}">
        <p14:creationId xmlns:p14="http://schemas.microsoft.com/office/powerpoint/2010/main" val="7332514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3B3E2B-81C7-4294-BBAA-90A33D4C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TECO  /  智慧環境監控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FCF46-B939-473E-9C72-548FA4B2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報表與歷史：查詢功能已建置，環境資料仍待確認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D6CD1-9FE5-44BA-AFB2-FE33EAC1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6C85B-DCC9-445C-9428-8057C10E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東元電機智慧環境監控系統  · 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49E27-5604-49C9-871D-3742A2DC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F01A9-283D-47A9-8261-F0DC0E10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429000" cy="2466975"/>
          </a:xfrm>
          <a:prstGeom xmlns:a="http://schemas.openxmlformats.org/drawingml/2006/main" prst="roundRect">
            <a:avLst>
              <a:gd name="adj" fmla="val 30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71F5A-1A01-4D84-84F0-8B391906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429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59CA8-2784-4AFC-B2A0-61632F2D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9907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FCU 報表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2E158-24F9-4F81-A41F-318A0E8D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4765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溫度 / 狀態 / 風速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BDAE60-9FB0-43C2-A90D-BF08CD23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05175"/>
            <a:ext cx="29718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F7F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FFCF6-EA34-4AD6-B2C8-97A098E9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4805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原始資料 90 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BB31DE-614B-4977-A930-54C730A8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14500"/>
            <a:ext cx="3429000" cy="2466975"/>
          </a:xfrm>
          <a:prstGeom xmlns:a="http://schemas.openxmlformats.org/drawingml/2006/main" prst="roundRect">
            <a:avLst>
              <a:gd name="adj" fmla="val 30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FBB657-D64E-4FDC-80FE-05D199BF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14500"/>
            <a:ext cx="3429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74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323945-90F9-4087-9992-9DDEA3C5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907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主機報表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CBC169-763D-4927-AACE-1B8DA680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出回水 / 運轉時數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E4F82D-21B5-4313-95E8-0E4AE1F2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05175"/>
            <a:ext cx="29718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F7F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3834B-0F98-44A9-ACD8-6F336091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4805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原始資料 180 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41E8E5-1624-426D-AD14-9E3CB374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14500"/>
            <a:ext cx="3429000" cy="2466975"/>
          </a:xfrm>
          <a:prstGeom xmlns:a="http://schemas.openxmlformats.org/drawingml/2006/main" prst="roundRect">
            <a:avLst>
              <a:gd name="adj" fmla="val 30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B0A970-366D-4872-AB76-B880B9F1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14500"/>
            <a:ext cx="3429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53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D8D148-2DB7-4227-907B-B8CB9E83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9907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告警報表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AEE243-A0AD-4C42-9672-420DD59D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4765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事件時間 / 設備 / 狀態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B26F98-9A98-4CC5-9D90-457E5183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05175"/>
            <a:ext cx="29718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F7F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89484F-D7D9-4900-9977-B7BCA88A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4805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事件紀錄長期保留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41F32-83B6-457D-AEF0-33E94E9A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110871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AA8F99-F699-4CD8-8200-7D65B67A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52975"/>
            <a:ext cx="161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9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953C"/>
                </a:solidFill>
                <a:latin typeface="Arial Unicode MS"/>
                <a:ea typeface="Arial Unicode MS"/>
                <a:cs typeface="Arial Unicode MS"/>
              </a:rPr>
              <a:t>實測限制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B3D533-3567-4DA9-A07C-0BDCF17F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53025"/>
            <a:ext cx="1036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測試環境的 FCU 報表已可載入資料、切換篩選並匯出 Excel（實際畫面見下一頁）；現場環境的資料需接線後才會累積。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CD2781-6D45-4457-8445-B647B551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1502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原始資料保留工作每 24 小時執行；每小時彙總與原始查詢需再以部署環境資料驗收。</a:t>
            </a:r>
          </a:p>
        </p:txBody>
      </p:sp>
    </p:spTree>
    <p:extLst>
      <p:ext uri="{BB962C8B-B14F-4D97-AF65-F5344CB8AC3E}">
        <p14:creationId xmlns:p14="http://schemas.microsoft.com/office/powerpoint/2010/main" val="18345777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4B5C19-440D-4441-8887-FA10626F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TECO  /  智慧環境監控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FFC7C-6CE2-4AC4-BF88-3726CE7C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權限與安全：依角色、範圍與 API 邊界控管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B6E90-7B69-4F85-B24A-55BE5AB9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D0C38-33CA-4A42-90A5-D9AB963A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東元電機智慧環境監控系統  · 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B221B-B2CB-47DA-8A1E-21FB9A0F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3A97D-7D5C-4033-9AF9-0DB8984F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47825"/>
            <a:ext cx="34290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0B1C2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5EEA2-BBD2-438B-A93A-1A98D3E9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19275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平台管理員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2D544-CF7D-4FA6-807A-16E56E91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2193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F0F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6F0F2"/>
                </a:solidFill>
                <a:latin typeface="Arial Unicode MS"/>
                <a:ea typeface="Arial Unicode MS"/>
                <a:cs typeface="Arial Unicode MS"/>
              </a:rPr>
              <a:t>跨場館設定、診斷與平台資源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46CAB-4DE0-4C17-9129-478CC84F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47825"/>
            <a:ext cx="34290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4B90C-5BF1-4CA8-B552-D62690AC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19275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場館管理員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34828-F3B1-4CFB-9F23-C80C4ED8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193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F0F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6F0F2"/>
                </a:solidFill>
                <a:latin typeface="Arial Unicode MS"/>
                <a:ea typeface="Arial Unicode MS"/>
                <a:cs typeface="Arial Unicode MS"/>
              </a:rPr>
              <a:t>本場館設備、使用者、報表與配置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C7305-84B3-4472-BB3F-0429FC86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47825"/>
            <a:ext cx="34290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D9953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34A73-5785-4FB0-8506-6C1F1488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819275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編輯 / 檢視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E8D7B-C8A0-4132-86C7-749B1FD8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2193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F0F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6F0F2"/>
                </a:solidFill>
                <a:latin typeface="Arial Unicode MS"/>
                <a:ea typeface="Arial Unicode MS"/>
                <a:cs typeface="Arial Unicode MS"/>
              </a:rPr>
              <a:t>依授權操作或唯讀查詢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F6AF4-FE8D-4C51-B179-E86DD938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765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認證與隔離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1190E9-2F26-4C4E-B305-FA36F767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12C320-D18F-4C42-8E29-923A6871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500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JWT access / refresh token；密碼以 PBKDF2 雜湊保存。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1F2E53-49A1-42FF-B116-3F5D79D5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FA8F6A-95A4-46F8-94D0-EC380B7A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57675"/>
            <a:ext cx="500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場館資料依 merchant scope 隔離，平台權限只授予平台角色。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FB394B-AF68-4242-A598-6C48A656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D9E0A1-6A9F-4D6D-B986-45552817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43475"/>
            <a:ext cx="500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敏感操作寫入操作紀錄；拒絕的越權操作也保留稽核軌跡。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610D6A-986E-41A5-92C9-2679F2BA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76575"/>
            <a:ext cx="5324475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705BBA-822D-4C24-99CF-857FA06A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333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服務暴露面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6CC136-95B6-4C61-BCE9-469335C8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886200"/>
            <a:ext cx="1476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區網使用者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A57BDB-EDCC-4F80-B418-BE055E18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8620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→ Caddy :8081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0544CA-11C4-4FFB-A063-30348207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381500"/>
            <a:ext cx="1476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本機 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7E7CFF-0FFC-48B8-8D0F-8144DC8B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8150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127.0.0.1:8082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C950C4-1B42-4CF5-8C71-CE02912B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876800"/>
            <a:ext cx="1476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MariaDB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D10A28-2A83-466D-9D7B-6285D4ED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7680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127.0.0.1:3307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0F66C0-B7FB-43B2-ADF8-8CAD8022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B5B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BB5B52"/>
                </a:solidFill>
                <a:latin typeface="Arial Unicode MS"/>
                <a:ea typeface="Arial Unicode MS"/>
                <a:cs typeface="Arial Unicode MS"/>
              </a:rPr>
              <a:t>測試帳號密碼不會列入簡報。正式上線前須輪替測試密碼與部署 secrets。</a:t>
            </a:r>
          </a:p>
        </p:txBody>
      </p:sp>
    </p:spTree>
    <p:extLst>
      <p:ext uri="{BB962C8B-B14F-4D97-AF65-F5344CB8AC3E}">
        <p14:creationId xmlns:p14="http://schemas.microsoft.com/office/powerpoint/2010/main" val="12825139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3384E3-FAB9-483A-B5EE-684581E2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TECO  /  智慧環境監控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FDC51-FDE5-4C26-BC6E-1DF11423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部署拓樸：以本地 VM 與 Docker Compose 組成服務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E0F64-26B1-43DA-B6D8-5A6CD650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0174E-1FA7-4804-8F1E-A15E49D5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東元電機智慧環境監控系統  · 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35E220-1C6C-44A5-B161-05095EE4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0EE9E-058E-4A0A-83E4-53391F25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0B1C2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79B55-207C-43B1-8CE4-A700A397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83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Windows Server / Hyper-V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9941D-631E-4965-98D6-E30F8D09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52675"/>
            <a:ext cx="105156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7364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E0A02-10B2-4920-94D5-D0BB96B9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4317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DE9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DE9ED"/>
                </a:solidFill>
                <a:latin typeface="Arial Unicode MS"/>
                <a:ea typeface="Arial Unicode MS"/>
                <a:cs typeface="Arial Unicode MS"/>
              </a:rPr>
              <a:t>Ubuntu 24.04 VM  ·  Docker 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35F96-7C6F-49B8-8B91-28D4F77C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2266950" cy="1438275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22FDEE-A84F-4DDA-B264-3F461AD7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4762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309C9-8165-49A8-A30C-CE17E4DD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8612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Caddy / Web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65444D-0D3F-41AB-8593-8DA79044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29025"/>
            <a:ext cx="2000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8081 區網入口</a:t>
            </a:r>
          </a:p>
          <a:p xmlns:a="http://schemas.openxmlformats.org/drawingml/2006/main">
            <a:pPr algn="l">
              <a:def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靜態頁 + reverse proxy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CF38B6-0CEF-44DF-816A-4D005FFC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43250"/>
            <a:ext cx="2266950" cy="1438275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496606-1698-4DE2-99FA-D1DF605A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43250"/>
            <a:ext cx="4762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53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D34C6F-E8D8-4897-8B25-263B2197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8612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ASP.NET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55E54A-BD5B-409D-9FCE-AB378E72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29025"/>
            <a:ext cx="2000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8080 容器內</a:t>
            </a:r>
          </a:p>
          <a:p xmlns:a="http://schemas.openxmlformats.org/drawingml/2006/main">
            <a:pPr algn="l">
              <a:def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Host 127.0.0.1:8082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7D0C62-FF43-4D53-A12A-3D92935A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43250"/>
            <a:ext cx="2266950" cy="1438275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E05BA9-A35A-4B09-BAAE-0C6F5E9A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43250"/>
            <a:ext cx="4762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9DF451-B5DA-46F3-8788-AB9FE007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8612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Collector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EF5B4C-EC31-480F-8298-AFD5A9AC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29025"/>
            <a:ext cx="2000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設備讀取</a:t>
            </a:r>
          </a:p>
          <a:p xmlns:a="http://schemas.openxmlformats.org/drawingml/2006/main">
            <a:pPr algn="l">
              <a:def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健康檢查 / watchdog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D57934-A3DC-47BD-9D59-5104EC29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43250"/>
            <a:ext cx="2266950" cy="1438275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300C4E-2B45-46CC-9BD7-42D68382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43250"/>
            <a:ext cx="4762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74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3370E1-F883-4A30-97D8-3B713893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8612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MariaDB 11.8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B9A0D3-1547-4CF5-8D3B-029B078F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29025"/>
            <a:ext cx="2000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容器內 3306</a:t>
            </a:r>
          </a:p>
          <a:p xmlns:a="http://schemas.openxmlformats.org/drawingml/2006/main">
            <a:pPr algn="l">
              <a:def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Host 127.0.0.1:3307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405669-E14B-4CF8-8B05-7DFC4B0F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52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BD0D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BBD0D7"/>
                </a:solidFill>
                <a:latin typeface="Arial Unicode MS"/>
                <a:ea typeface="Arial Unicode MS"/>
                <a:cs typeface="Arial Unicode MS"/>
              </a:rPr>
              <a:t>Field network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6E2D01-C996-4FC8-95C1-813B82FE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244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BD0D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BD0D7"/>
                </a:solidFill>
                <a:latin typeface="Arial Unicode MS"/>
                <a:ea typeface="Arial Unicode MS"/>
                <a:cs typeface="Arial Unicode MS"/>
              </a:rPr>
              <a:t>Collector 網路接到現場；正式 VM 與實體設備通訊尚待現場驗收。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F7329F-16B2-4DA0-B234-F35D5D9F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0871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A22593-711E-4BBC-AE5F-C0E00E93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部署腳本與手冊已備；正式 Hyper-V VM 安裝與設備連通尚未完成驗證。</a:t>
            </a:r>
          </a:p>
        </p:txBody>
      </p:sp>
    </p:spTree>
    <p:extLst>
      <p:ext uri="{BB962C8B-B14F-4D97-AF65-F5344CB8AC3E}">
        <p14:creationId xmlns:p14="http://schemas.microsoft.com/office/powerpoint/2010/main" val="7831073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9A9674-7856-4726-8A0B-15C6DD58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TECO  /  智慧環境監控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BADCF-C98D-4AEC-885C-8DECA69F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系統診斷：逐層確認資料是否真的到達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9846B-D3D6-4CBB-9BE7-B13997B0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003B8-614E-4416-BA9B-63AD020F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東元電機智慧環境監控系統  · 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09DCF-FDF9-40EB-B354-627DC8EA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BDD46-7575-4128-93FB-2B798366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85925"/>
            <a:ext cx="34290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38128-EB50-4C14-A769-6100F9D6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764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0774A-FA8C-4FE4-B9C0-37155C52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1828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通道狀態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7AC1C-CE9E-4DD4-912B-DEB9AB0E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209800"/>
            <a:ext cx="247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設備連線 / 讀取成功率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FD12B-36D0-46FF-8A69-772D427F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85925"/>
            <a:ext cx="34290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F3C81-1266-47DB-82D5-0DDC0EA8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764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88EF6-F5FF-4CC3-A129-2DF4F38C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828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Collector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31F8C-20E5-480B-BF19-876B7151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209800"/>
            <a:ext cx="247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healthz / 三條通道健康狀態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09DDB2-9C7B-4994-96AB-FBF8EFCD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85925"/>
            <a:ext cx="34290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859229-6BBD-47DE-9DD2-71A45A55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764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6D72A8-3DBD-4B39-888C-46E57268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828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資料品質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2E4DB8-E0FC-44C1-BA31-1D3459E5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209800"/>
            <a:ext cx="247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FCU 數量 / 新鮮度 / 值域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403B35-4B5C-4CB8-8B8F-C8471B3F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34290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3DD8E6-ADA7-4C24-9678-99CA3AFF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43044F-04BC-45BD-AE85-E0871A08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228975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DB 落地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36D832-17FC-4FA1-BF62-9931DBD2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609975"/>
            <a:ext cx="247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讀值筆數 / 最新時間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747B27-F92F-4AB6-AD18-19CE60E2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86100"/>
            <a:ext cx="34290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F41275-93B5-43DD-8F08-319F4739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766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8CE92F-8B1B-4BDD-B566-F24D79CC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228975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排程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DF4D67-F5AD-4F24-9B98-F09B5883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609975"/>
            <a:ext cx="247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彙總與 retention 執行狀態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0DB87F-0F54-450D-989A-7A1A1B76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86100"/>
            <a:ext cx="34290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12F20D-EE18-4711-9449-FA16DA65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C2D58F-1E01-40A4-8D47-6E0F3B85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228975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連線歷程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75D357-6683-4AB3-A416-931B3CC7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609975"/>
            <a:ext cx="247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最近 30 筆通道變化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B3DF0D-3F13-4F89-8573-4632B25D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24400"/>
            <a:ext cx="11087100" cy="1019175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34DDDB-E39B-4654-9A18-E80031F7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B5B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診斷頁的實際畫面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56EF42-D97A-41A2-B121-38AEF21F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診斷頁的實際畫面見接下來兩頁：全部正常，以及 DDC2 離線時的樣子（測試環境、模擬器資料）。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5E0FB5-C0FC-4986-A73B-EF9A9CD7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路徑：/platform/diagnostics  ·  API：GET /api/v1/platform/diagnostics</a:t>
            </a:r>
          </a:p>
        </p:txBody>
      </p:sp>
    </p:spTree>
    <p:extLst>
      <p:ext uri="{BB962C8B-B14F-4D97-AF65-F5344CB8AC3E}">
        <p14:creationId xmlns:p14="http://schemas.microsoft.com/office/powerpoint/2010/main" val="8920623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343841-26D7-4EAF-9FAC-4DF36132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TECO  /  智慧環境監控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D3DC6-7BD2-443B-8C1C-5314352E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驗證範圍：程式流程通過不等於現場設備已通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17466-7D0E-4D51-B322-4696E2ED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33CF3-3E0E-416A-906C-89EC3844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東元電機智慧環境監控系統  · 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7EDDE-78FE-4B39-8637-8313BD33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0B8D3-A2D8-41C4-A442-95B8F9EE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54673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5F737-1039-4DE9-A96D-91728DC6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54673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D96C4-2A50-4D34-B13C-7E07C692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19275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已在本機文件記錄驗證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1FA3A-16B2-4B88-B25D-83A71287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43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D8086-CF25-4B48-AB67-DE70ED0C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P0–P5 Docker E2E 流程與 API / DB 整合。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625B4-80E1-450F-8650-94F39B38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B9828-2F0A-4E8F-B892-9125F2FA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03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95 FCU snapshot、時序資料寫入、JWT 與排程。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2BAE00-E842-4D41-8086-4C4FAFE5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86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D3664B-4261-4540-8299-4FF93712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樓層配置 API 的版本衝突處理。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03413A-5806-460F-ABF3-8BB54063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B0DC4-5C2A-4178-AF57-1C91D7AF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4337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測試帳號的角色與診斷頁路由。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AD1F08-6899-4B14-A422-9783CE0F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76400"/>
            <a:ext cx="54673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63429A-6056-4291-A83A-4145ECE4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76400"/>
            <a:ext cx="54673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3E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CAD9A4-DCB2-4256-81B5-DF30CBA5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19275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9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9953C"/>
                </a:solidFill>
                <a:latin typeface="Arial Unicode MS"/>
                <a:ea typeface="Arial Unicode MS"/>
                <a:cs typeface="Arial Unicode MS"/>
              </a:rPr>
              <a:t>尚待正式環境驗收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1B2489-C684-43B4-B05B-300073BA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53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EDD5F4-E9DD-4563-9AAE-78B734D9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5745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Hyper-V 正式 VM 部署尚未執行。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0E18A3-D810-4270-BCB9-2194DA15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86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53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5D0548-7990-42CB-BAA7-470314CE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003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實體主機、DDC 與現場網路連線未確認。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B39CAA-0727-48E9-91B1-BC5F009F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86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53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566054-EFBA-4A2D-BA2E-C39464D6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0045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SignalR 前端持續訂閱尚未完整驗證。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1B1E21-CFD7-44A0-A5C2-74A55C5A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29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B5B5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E7EC0A-A2F9-4EB8-BEA3-BD5924D1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43375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本機首頁與主檔相差 5 台；報表、診斷值仍在 loading。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6CC5D1-99DE-4CD2-9FB4-12AD992D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8167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驗收判定請以部署後 API、診斷數據與現場設備讀值為準。</a:t>
            </a:r>
          </a:p>
        </p:txBody>
      </p:sp>
    </p:spTree>
    <p:extLst>
      <p:ext uri="{BB962C8B-B14F-4D97-AF65-F5344CB8AC3E}">
        <p14:creationId xmlns:p14="http://schemas.microsoft.com/office/powerpoint/2010/main" val="20173656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7305F3-2A78-46DF-8FA9-F0BAFDA1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rPr>
              <a:t>TECO  /  現場交付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8D0A6-975A-4F0F-A454-C6B7C50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3342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驗收順序：由網路一路走到使用者畫面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2E537-AA4D-4DDB-8B09-F8922774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1943100" cy="2524125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7364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C6276-DEC0-48DD-8ED1-E6C59C69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812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70463-4A12-43A5-A2F4-492A37FB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562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網路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814E9-5120-4C43-B1FF-D87EA758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5D7D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C5D7DD"/>
                </a:solidFill>
                <a:latin typeface="Arial Unicode MS"/>
                <a:ea typeface="Arial Unicode MS"/>
                <a:cs typeface="Arial Unicode MS"/>
              </a:rPr>
              <a:t>確認 VM、閘道、DDC</a:t>
            </a:r>
          </a:p>
          <a:p xmlns:a="http://schemas.openxmlformats.org/drawingml/2006/main">
            <a:pPr algn="l">
              <a:defRPr sz="1350" b="0">
                <a:solidFill>
                  <a:srgbClr val="C5D7D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C5D7DD"/>
                </a:solidFill>
                <a:latin typeface="Arial Unicode MS"/>
                <a:ea typeface="Arial Unicode MS"/>
                <a:cs typeface="Arial Unicode MS"/>
              </a:rPr>
              <a:t>與連接埠可達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DFEC6-2D98-46EA-A74E-3C724FCC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622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5EE3C-2051-4D35-8BA8-ADB2F293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62150"/>
            <a:ext cx="1943100" cy="2524125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7364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5E26F-D666-4CD3-B35B-13070231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812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5910C-CCA5-46AC-AFD5-ACE7AFAC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24150"/>
            <a:ext cx="1562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讀值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48702-B2CF-44C1-9D7A-2C3F609E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956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5D7D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C5D7DD"/>
                </a:solidFill>
                <a:latin typeface="Arial Unicode MS"/>
                <a:ea typeface="Arial Unicode MS"/>
                <a:cs typeface="Arial Unicode MS"/>
              </a:rPr>
              <a:t>核對 2 台主機、</a:t>
            </a:r>
          </a:p>
          <a:p xmlns:a="http://schemas.openxmlformats.org/drawingml/2006/main">
            <a:pPr algn="l">
              <a:defRPr sz="1350" b="0">
                <a:solidFill>
                  <a:srgbClr val="C5D7D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C5D7DD"/>
                </a:solidFill>
                <a:latin typeface="Arial Unicode MS"/>
                <a:ea typeface="Arial Unicode MS"/>
                <a:cs typeface="Arial Unicode MS"/>
              </a:rPr>
              <a:t>64 + 31 FCU 數量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06FE2-8056-4EFC-8335-0D1A7109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622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D5A96E-50F6-4883-A5B0-794B1DF5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962150"/>
            <a:ext cx="1943100" cy="2524125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7364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E9896B-8707-4874-8CEF-0B5D43E3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812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47A45-4B5A-4119-8988-4401754B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24150"/>
            <a:ext cx="1562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對位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62589B-7664-4D43-8699-7DD24970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956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5D7D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C5D7DD"/>
                </a:solidFill>
                <a:latin typeface="Arial Unicode MS"/>
                <a:ea typeface="Arial Unicode MS"/>
                <a:cs typeface="Arial Unicode MS"/>
              </a:rPr>
              <a:t>抽查樓層、區域、</a:t>
            </a:r>
          </a:p>
          <a:p xmlns:a="http://schemas.openxmlformats.org/drawingml/2006/main">
            <a:pPr algn="l">
              <a:defRPr sz="1350" b="0">
                <a:solidFill>
                  <a:srgbClr val="C5D7D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C5D7DD"/>
                </a:solidFill>
                <a:latin typeface="Arial Unicode MS"/>
                <a:ea typeface="Arial Unicode MS"/>
                <a:cs typeface="Arial Unicode MS"/>
              </a:rPr>
              <a:t>設備編號及位置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5FD963-A79B-4178-B137-164BDB51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9622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4DB500-4A28-43CF-BA19-4D57CF4F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62150"/>
            <a:ext cx="1943100" cy="2524125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7364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173D71-94EA-4BF8-A3AB-F9F43AAB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812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76D007-FEAB-469A-AFFC-EE17050C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24150"/>
            <a:ext cx="1562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告警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14FF32-E307-4CFF-AA41-BFCC10A7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956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5D7D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C5D7DD"/>
                </a:solidFill>
                <a:latin typeface="Arial Unicode MS"/>
                <a:ea typeface="Arial Unicode MS"/>
                <a:cs typeface="Arial Unicode MS"/>
              </a:rPr>
              <a:t>測試超限、斷線、</a:t>
            </a:r>
          </a:p>
          <a:p xmlns:a="http://schemas.openxmlformats.org/drawingml/2006/main">
            <a:pPr algn="l">
              <a:defRPr sz="1350" b="0">
                <a:solidFill>
                  <a:srgbClr val="C5D7D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C5D7DD"/>
                </a:solidFill>
                <a:latin typeface="Arial Unicode MS"/>
                <a:ea typeface="Arial Unicode MS"/>
                <a:cs typeface="Arial Unicode MS"/>
              </a:rPr>
              <a:t>恢復與事件記錄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BD9D10-D73D-4C34-83B0-F02EFF03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9622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354B53-9FC3-44A4-A610-73FA6F1A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62150"/>
            <a:ext cx="1943100" cy="2524125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7364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9E1378-6F0F-41EC-9C5A-1401A3D7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812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1C7B8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F2C700-AEBB-4703-9281-60D15E51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24150"/>
            <a:ext cx="1562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穩定性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2D2533-AC82-45EF-8B1C-3CA3332D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956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5D7D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C5D7DD"/>
                </a:solidFill>
                <a:latin typeface="Arial Unicode MS"/>
                <a:ea typeface="Arial Unicode MS"/>
                <a:cs typeface="Arial Unicode MS"/>
              </a:rPr>
              <a:t>24 小時觀察、備份</a:t>
            </a:r>
          </a:p>
          <a:p xmlns:a="http://schemas.openxmlformats.org/drawingml/2006/main">
            <a:pPr algn="l">
              <a:defRPr sz="1350" b="0">
                <a:solidFill>
                  <a:srgbClr val="C5D7D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C5D7DD"/>
                </a:solidFill>
                <a:latin typeface="Arial Unicode MS"/>
                <a:ea typeface="Arial Unicode MS"/>
                <a:cs typeface="Arial Unicode MS"/>
              </a:rPr>
              <a:t>與還原演練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FF66DB-C1A5-4D58-9FB1-9E1B726A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81575"/>
            <a:ext cx="11087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38C8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3F156E-FAA8-468C-9577-19276525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530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完成定義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6B11AA-DDA6-451B-909B-2CBEB4C2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1435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設備數量相符・位置可追溯・告警可復現・歷史可查詢・運轉可監控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E4F931-FC76-40B3-B654-D0A4413A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05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BD0D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BD0D7"/>
                </a:solidFill>
                <a:latin typeface="Arial Unicode MS"/>
                <a:ea typeface="Arial Unicode MS"/>
                <a:cs typeface="Arial Unicode MS"/>
              </a:rPr>
              <a:t>實際畫面見前面各截圖頁；現場驗收時仍須以現場設備資料另行截圖，納入驗收附件。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E1846A-7538-434F-8224-876046FD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BD0D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BBD0D7"/>
                </a:solidFill>
                <a:latin typeface="Arial Unicode MS"/>
                <a:ea typeface="Arial Unicode MS"/>
                <a:cs typeface="Arial Unicode M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942289664"/>
      </p:ext>
    </p:extLst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眉標"/>
          <p:cNvSpPr txBox="1"/>
          <p:nvPr/>
        </p:nvSpPr>
        <p:spPr>
          <a:xfrm>
            <a:off x="548640" y="265176"/>
            <a:ext cx="54315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TECO  /  智慧環境監控</a:t>
            </a:r>
          </a:p>
        </p:txBody>
      </p:sp>
      <p:sp>
        <p:nvSpPr>
          <p:cNvPr id="3" name="標題"/>
          <p:cNvSpPr txBox="1"/>
          <p:nvPr/>
        </p:nvSpPr>
        <p:spPr>
          <a:xfrm>
            <a:off x="548640" y="585216"/>
            <a:ext cx="110825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前台戰情室：不用登入的即時大屏</a:t>
            </a:r>
          </a:p>
        </p:txBody>
      </p:sp>
      <p:sp>
        <p:nvSpPr>
          <p:cNvPr id="4" name="標題底線"/>
          <p:cNvSpPr/>
          <p:nvPr/>
        </p:nvSpPr>
        <p:spPr>
          <a:xfrm>
            <a:off x="548640" y="1271016"/>
            <a:ext cx="420624" cy="36576"/>
          </a:xfrm>
          <a:prstGeom prst="rect">
            <a:avLst/>
          </a:prstGeom>
          <a:solidFill>
            <a:srgbClr val="138C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副標"/>
          <p:cNvSpPr txBox="1"/>
          <p:nvPr/>
        </p:nvSpPr>
        <p:spPr>
          <a:xfrm>
            <a:off x="548640" y="1408176"/>
            <a:ext cx="1047902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路徑 /  ·  公開頁面，只提供唯讀的即時資料（/api/v1/public/*），給現場大螢幕輪播使用。</a:t>
            </a:r>
          </a:p>
        </p:txBody>
      </p:sp>
      <p:sp>
        <p:nvSpPr>
          <p:cNvPr id="6" name="頁尾"/>
          <p:cNvSpPr txBox="1"/>
          <p:nvPr/>
        </p:nvSpPr>
        <p:spPr>
          <a:xfrm>
            <a:off x="548640" y="6492240"/>
            <a:ext cx="80924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東元電機智慧環境監控系統  ·  2026.10</a:t>
            </a:r>
          </a:p>
        </p:txBody>
      </p:sp>
      <p:sp>
        <p:nvSpPr>
          <p:cNvPr id="7" name="頁碼"/>
          <p:cNvSpPr txBox="1"/>
          <p:nvPr/>
        </p:nvSpPr>
        <p:spPr>
          <a:xfrm>
            <a:off x="11183112" y="64556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pic>
        <p:nvPicPr>
          <p:cNvPr id="8" name="系統畫面：前台戰情室：不用登入的即時大屏" descr="前台戰情室畫面：左側兩台冰水主機卡片，中間樓層溫度熱感圖，右側 FCU 運轉狀態與設備總覽，下方即時告警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03720" cy="3883342"/>
          </a:xfrm>
          <a:prstGeom prst="rect">
            <a:avLst/>
          </a:prstGeom>
          <a:ln w="9525">
            <a:solidFill>
              <a:srgbClr val="D8E2E3"/>
            </a:solidFill>
          </a:ln>
        </p:spPr>
      </p:pic>
      <p:sp>
        <p:nvSpPr>
          <p:cNvPr id="9" name="標註1"/>
          <p:cNvSpPr/>
          <p:nvPr/>
        </p:nvSpPr>
        <p:spPr>
          <a:xfrm>
            <a:off x="2033854" y="2079974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標註2"/>
          <p:cNvSpPr/>
          <p:nvPr/>
        </p:nvSpPr>
        <p:spPr>
          <a:xfrm>
            <a:off x="2275484" y="2429475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1" name="標註3"/>
          <p:cNvSpPr/>
          <p:nvPr/>
        </p:nvSpPr>
        <p:spPr>
          <a:xfrm>
            <a:off x="7142606" y="2584808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2" name="標註4"/>
          <p:cNvSpPr/>
          <p:nvPr/>
        </p:nvSpPr>
        <p:spPr>
          <a:xfrm>
            <a:off x="4898897" y="5031314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3" name="說明卡1"/>
          <p:cNvSpPr/>
          <p:nvPr/>
        </p:nvSpPr>
        <p:spPr>
          <a:xfrm>
            <a:off x="7726680" y="1828800"/>
            <a:ext cx="3913631" cy="1101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說明編號1"/>
          <p:cNvSpPr/>
          <p:nvPr/>
        </p:nvSpPr>
        <p:spPr>
          <a:xfrm>
            <a:off x="7900416" y="1943100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5" name="說明標題1"/>
          <p:cNvSpPr txBox="1"/>
          <p:nvPr/>
        </p:nvSpPr>
        <p:spPr>
          <a:xfrm>
            <a:off x="8311896" y="1956816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冰水主機</a:t>
            </a:r>
          </a:p>
        </p:txBody>
      </p:sp>
      <p:sp>
        <p:nvSpPr>
          <p:cNvPr id="16" name="說明內文1"/>
          <p:cNvSpPr txBox="1"/>
          <p:nvPr/>
        </p:nvSpPr>
        <p:spPr>
          <a:xfrm>
            <a:off x="8311896" y="2249424"/>
            <a:ext cx="3273551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運轉狀態、負載率、出回水溫度、溫度差與累積運轉時數；超出門檻的數值以紅字標示。</a:t>
            </a:r>
          </a:p>
        </p:txBody>
      </p:sp>
      <p:sp>
        <p:nvSpPr>
          <p:cNvPr id="17" name="說明卡2"/>
          <p:cNvSpPr/>
          <p:nvPr/>
        </p:nvSpPr>
        <p:spPr>
          <a:xfrm>
            <a:off x="7726680" y="3022092"/>
            <a:ext cx="3913631" cy="1101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說明編號2"/>
          <p:cNvSpPr/>
          <p:nvPr/>
        </p:nvSpPr>
        <p:spPr>
          <a:xfrm>
            <a:off x="7900416" y="3136392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說明標題2"/>
          <p:cNvSpPr txBox="1"/>
          <p:nvPr/>
        </p:nvSpPr>
        <p:spPr>
          <a:xfrm>
            <a:off x="8311896" y="3150108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樓層熱感圖</a:t>
            </a:r>
          </a:p>
        </p:txBody>
      </p:sp>
      <p:sp>
        <p:nvSpPr>
          <p:cNvPr id="20" name="說明內文2"/>
          <p:cNvSpPr txBox="1"/>
          <p:nvPr/>
        </p:nvSpPr>
        <p:spPr>
          <a:xfrm>
            <a:off x="8311896" y="3442716"/>
            <a:ext cx="3273551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B1／B2 圖面自動輪播，依設備位置顯示 FCU 室溫與異常，點位來自空間設備配置。</a:t>
            </a:r>
          </a:p>
        </p:txBody>
      </p:sp>
      <p:sp>
        <p:nvSpPr>
          <p:cNvPr id="21" name="說明卡3"/>
          <p:cNvSpPr/>
          <p:nvPr/>
        </p:nvSpPr>
        <p:spPr>
          <a:xfrm>
            <a:off x="7726680" y="4215384"/>
            <a:ext cx="39136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說明編號3"/>
          <p:cNvSpPr/>
          <p:nvPr/>
        </p:nvSpPr>
        <p:spPr>
          <a:xfrm>
            <a:off x="7900416" y="4329683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23" name="說明標題3"/>
          <p:cNvSpPr txBox="1"/>
          <p:nvPr/>
        </p:nvSpPr>
        <p:spPr>
          <a:xfrm>
            <a:off x="8311896" y="4343400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FCU 運轉狀態</a:t>
            </a:r>
          </a:p>
        </p:txBody>
      </p:sp>
      <p:sp>
        <p:nvSpPr>
          <p:cNvPr id="24" name="說明內文3"/>
          <p:cNvSpPr txBox="1"/>
          <p:nvPr/>
        </p:nvSpPr>
        <p:spPr>
          <a:xfrm>
            <a:off x="8311896" y="4636008"/>
            <a:ext cx="327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95 台依樓層統計運轉、異常、離線、停止；下方逐頁輪播各台室溫。</a:t>
            </a:r>
          </a:p>
        </p:txBody>
      </p:sp>
      <p:sp>
        <p:nvSpPr>
          <p:cNvPr id="25" name="說明卡4"/>
          <p:cNvSpPr/>
          <p:nvPr/>
        </p:nvSpPr>
        <p:spPr>
          <a:xfrm>
            <a:off x="7726680" y="5221224"/>
            <a:ext cx="39136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說明編號4"/>
          <p:cNvSpPr/>
          <p:nvPr/>
        </p:nvSpPr>
        <p:spPr>
          <a:xfrm>
            <a:off x="7900416" y="5335524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7" name="說明標題4"/>
          <p:cNvSpPr txBox="1"/>
          <p:nvPr/>
        </p:nvSpPr>
        <p:spPr>
          <a:xfrm>
            <a:off x="8311896" y="5349240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即時告警</a:t>
            </a:r>
          </a:p>
        </p:txBody>
      </p:sp>
      <p:sp>
        <p:nvSpPr>
          <p:cNvPr id="28" name="說明內文4"/>
          <p:cNvSpPr txBox="1"/>
          <p:nvPr/>
        </p:nvSpPr>
        <p:spPr>
          <a:xfrm>
            <a:off x="8311896" y="5641848"/>
            <a:ext cx="327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有效告警即時列出；沒有告警時顯示綠色提示。</a:t>
            </a:r>
          </a:p>
        </p:txBody>
      </p:sp>
      <p:sp>
        <p:nvSpPr>
          <p:cNvPr id="29" name="資料來源說明"/>
          <p:cNvSpPr txBox="1"/>
          <p:nvPr/>
        </p:nvSpPr>
        <p:spPr>
          <a:xfrm>
            <a:off x="548640" y="5803582"/>
            <a:ext cx="6903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擷取自 VM 測試環境（2026-10-06）・資料由設備模擬器產生，不是現場設備資料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眉標"/>
          <p:cNvSpPr txBox="1"/>
          <p:nvPr/>
        </p:nvSpPr>
        <p:spPr>
          <a:xfrm>
            <a:off x="548640" y="265176"/>
            <a:ext cx="54315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TECO  /  智慧環境監控</a:t>
            </a:r>
          </a:p>
        </p:txBody>
      </p:sp>
      <p:sp>
        <p:nvSpPr>
          <p:cNvPr id="3" name="標題"/>
          <p:cNvSpPr txBox="1"/>
          <p:nvPr/>
        </p:nvSpPr>
        <p:spPr>
          <a:xfrm>
            <a:off x="548640" y="585216"/>
            <a:ext cx="110825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後台監控中心：一眼看全場狀態</a:t>
            </a:r>
          </a:p>
        </p:txBody>
      </p:sp>
      <p:sp>
        <p:nvSpPr>
          <p:cNvPr id="4" name="標題底線"/>
          <p:cNvSpPr/>
          <p:nvPr/>
        </p:nvSpPr>
        <p:spPr>
          <a:xfrm>
            <a:off x="548640" y="1271016"/>
            <a:ext cx="420624" cy="36576"/>
          </a:xfrm>
          <a:prstGeom prst="rect">
            <a:avLst/>
          </a:prstGeom>
          <a:solidFill>
            <a:srgbClr val="138C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副標"/>
          <p:cNvSpPr txBox="1"/>
          <p:nvPr/>
        </p:nvSpPr>
        <p:spPr>
          <a:xfrm>
            <a:off x="548640" y="1408176"/>
            <a:ext cx="1047902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路徑 /admin  ·  場館管理員登入後的第一個畫面，彙整設備狀態與有效告警。</a:t>
            </a:r>
          </a:p>
        </p:txBody>
      </p:sp>
      <p:sp>
        <p:nvSpPr>
          <p:cNvPr id="6" name="頁尾"/>
          <p:cNvSpPr txBox="1"/>
          <p:nvPr/>
        </p:nvSpPr>
        <p:spPr>
          <a:xfrm>
            <a:off x="548640" y="6492240"/>
            <a:ext cx="80924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東元電機智慧環境監控系統  ·  2026.10</a:t>
            </a:r>
          </a:p>
        </p:txBody>
      </p:sp>
      <p:sp>
        <p:nvSpPr>
          <p:cNvPr id="7" name="頁碼"/>
          <p:cNvSpPr txBox="1"/>
          <p:nvPr/>
        </p:nvSpPr>
        <p:spPr>
          <a:xfrm>
            <a:off x="11183112" y="64556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pic>
        <p:nvPicPr>
          <p:cNvPr id="8" name="系統畫面：後台監控中心：一眼看全場狀態" descr="後台監控中心畫面：FCU 與冰水主機統計、兩台冰水主機即時數值、即時告警清單、B1 B2 空間縮圖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03720" cy="3883342"/>
          </a:xfrm>
          <a:prstGeom prst="rect">
            <a:avLst/>
          </a:prstGeom>
          <a:ln w="9525">
            <a:solidFill>
              <a:srgbClr val="D8E2E3"/>
            </a:solidFill>
          </a:ln>
        </p:spPr>
      </p:pic>
      <p:sp>
        <p:nvSpPr>
          <p:cNvPr id="9" name="標註1"/>
          <p:cNvSpPr/>
          <p:nvPr/>
        </p:nvSpPr>
        <p:spPr>
          <a:xfrm>
            <a:off x="2883011" y="2332391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標註2"/>
          <p:cNvSpPr/>
          <p:nvPr/>
        </p:nvSpPr>
        <p:spPr>
          <a:xfrm>
            <a:off x="3863339" y="2099390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1" name="標註3"/>
          <p:cNvSpPr/>
          <p:nvPr/>
        </p:nvSpPr>
        <p:spPr>
          <a:xfrm>
            <a:off x="6624827" y="4176979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2" name="標註4"/>
          <p:cNvSpPr/>
          <p:nvPr/>
        </p:nvSpPr>
        <p:spPr>
          <a:xfrm>
            <a:off x="4381118" y="4934230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3" name="說明卡1"/>
          <p:cNvSpPr/>
          <p:nvPr/>
        </p:nvSpPr>
        <p:spPr>
          <a:xfrm>
            <a:off x="7726680" y="1828800"/>
            <a:ext cx="39136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說明編號1"/>
          <p:cNvSpPr/>
          <p:nvPr/>
        </p:nvSpPr>
        <p:spPr>
          <a:xfrm>
            <a:off x="7900416" y="1943100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5" name="說明標題1"/>
          <p:cNvSpPr txBox="1"/>
          <p:nvPr/>
        </p:nvSpPr>
        <p:spPr>
          <a:xfrm>
            <a:off x="8311896" y="1956816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狀態統計</a:t>
            </a:r>
          </a:p>
        </p:txBody>
      </p:sp>
      <p:sp>
        <p:nvSpPr>
          <p:cNvPr id="16" name="說明內文1"/>
          <p:cNvSpPr txBox="1"/>
          <p:nvPr/>
        </p:nvSpPr>
        <p:spPr>
          <a:xfrm>
            <a:off x="8311896" y="2249424"/>
            <a:ext cx="327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FCU 與冰水主機各自統計運轉中、停止、異常、離線，並顯示運轉率。</a:t>
            </a:r>
          </a:p>
        </p:txBody>
      </p:sp>
      <p:sp>
        <p:nvSpPr>
          <p:cNvPr id="17" name="說明卡2"/>
          <p:cNvSpPr/>
          <p:nvPr/>
        </p:nvSpPr>
        <p:spPr>
          <a:xfrm>
            <a:off x="7726680" y="2834640"/>
            <a:ext cx="39136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說明編號2"/>
          <p:cNvSpPr/>
          <p:nvPr/>
        </p:nvSpPr>
        <p:spPr>
          <a:xfrm>
            <a:off x="7900416" y="2948940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說明標題2"/>
          <p:cNvSpPr txBox="1"/>
          <p:nvPr/>
        </p:nvSpPr>
        <p:spPr>
          <a:xfrm>
            <a:off x="8311896" y="2962656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冰水主機</a:t>
            </a:r>
          </a:p>
        </p:txBody>
      </p:sp>
      <p:sp>
        <p:nvSpPr>
          <p:cNvPr id="20" name="說明內文2"/>
          <p:cNvSpPr txBox="1"/>
          <p:nvPr/>
        </p:nvSpPr>
        <p:spPr>
          <a:xfrm>
            <a:off x="8311896" y="3255264"/>
            <a:ext cx="327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負載率、出回水溫度、溫度差與累積運轉；數值不在門檻範圍內會標紅。</a:t>
            </a:r>
          </a:p>
        </p:txBody>
      </p:sp>
      <p:sp>
        <p:nvSpPr>
          <p:cNvPr id="21" name="說明卡3"/>
          <p:cNvSpPr/>
          <p:nvPr/>
        </p:nvSpPr>
        <p:spPr>
          <a:xfrm>
            <a:off x="7726680" y="3840480"/>
            <a:ext cx="39136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說明編號3"/>
          <p:cNvSpPr/>
          <p:nvPr/>
        </p:nvSpPr>
        <p:spPr>
          <a:xfrm>
            <a:off x="7900416" y="3954779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23" name="說明標題3"/>
          <p:cNvSpPr txBox="1"/>
          <p:nvPr/>
        </p:nvSpPr>
        <p:spPr>
          <a:xfrm>
            <a:off x="8311896" y="3968496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即時告警</a:t>
            </a:r>
          </a:p>
        </p:txBody>
      </p:sp>
      <p:sp>
        <p:nvSpPr>
          <p:cNvPr id="24" name="說明內文3"/>
          <p:cNvSpPr txBox="1"/>
          <p:nvPr/>
        </p:nvSpPr>
        <p:spPr>
          <a:xfrm>
            <a:off x="8311896" y="4261104"/>
            <a:ext cx="327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可展開「查看全部告警」；右上角告警通知有新告警時亮紅點。</a:t>
            </a:r>
          </a:p>
        </p:txBody>
      </p:sp>
      <p:sp>
        <p:nvSpPr>
          <p:cNvPr id="25" name="說明卡4"/>
          <p:cNvSpPr/>
          <p:nvPr/>
        </p:nvSpPr>
        <p:spPr>
          <a:xfrm>
            <a:off x="7726680" y="4846320"/>
            <a:ext cx="39136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說明編號4"/>
          <p:cNvSpPr/>
          <p:nvPr/>
        </p:nvSpPr>
        <p:spPr>
          <a:xfrm>
            <a:off x="7900416" y="4960620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7" name="說明標題4"/>
          <p:cNvSpPr txBox="1"/>
          <p:nvPr/>
        </p:nvSpPr>
        <p:spPr>
          <a:xfrm>
            <a:off x="8311896" y="4974336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空間與設備</a:t>
            </a:r>
          </a:p>
        </p:txBody>
      </p:sp>
      <p:sp>
        <p:nvSpPr>
          <p:cNvPr id="28" name="說明內文4"/>
          <p:cNvSpPr txBox="1"/>
          <p:nvPr/>
        </p:nvSpPr>
        <p:spPr>
          <a:xfrm>
            <a:off x="8311896" y="5266944"/>
            <a:ext cx="327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B1／B2 縮圖顯示設備位置與狀態，並可跳到空間設備配置。</a:t>
            </a:r>
          </a:p>
        </p:txBody>
      </p:sp>
      <p:sp>
        <p:nvSpPr>
          <p:cNvPr id="29" name="資料來源說明"/>
          <p:cNvSpPr txBox="1"/>
          <p:nvPr/>
        </p:nvSpPr>
        <p:spPr>
          <a:xfrm>
            <a:off x="548640" y="5803582"/>
            <a:ext cx="6903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擷取自 VM 測試環境（2026-10-06）・資料由設備模擬器產生，不是現場設備資料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眉標"/>
          <p:cNvSpPr txBox="1"/>
          <p:nvPr/>
        </p:nvSpPr>
        <p:spPr>
          <a:xfrm>
            <a:off x="548640" y="265176"/>
            <a:ext cx="54315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TECO  /  智慧環境監控</a:t>
            </a:r>
          </a:p>
        </p:txBody>
      </p:sp>
      <p:sp>
        <p:nvSpPr>
          <p:cNvPr id="3" name="標題"/>
          <p:cNvSpPr txBox="1"/>
          <p:nvPr/>
        </p:nvSpPr>
        <p:spPr>
          <a:xfrm>
            <a:off x="548640" y="585216"/>
            <a:ext cx="110825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冰水主機管理：門檻與保養設定</a:t>
            </a:r>
          </a:p>
        </p:txBody>
      </p:sp>
      <p:sp>
        <p:nvSpPr>
          <p:cNvPr id="4" name="標題底線"/>
          <p:cNvSpPr/>
          <p:nvPr/>
        </p:nvSpPr>
        <p:spPr>
          <a:xfrm>
            <a:off x="548640" y="1271016"/>
            <a:ext cx="420624" cy="36576"/>
          </a:xfrm>
          <a:prstGeom prst="rect">
            <a:avLst/>
          </a:prstGeom>
          <a:solidFill>
            <a:srgbClr val="138C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副標"/>
          <p:cNvSpPr txBox="1"/>
          <p:nvPr/>
        </p:nvSpPr>
        <p:spPr>
          <a:xfrm>
            <a:off x="548640" y="1408176"/>
            <a:ext cx="1047902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路徑 /admin/chiller  ·  按列表的「告警門檻」，右側開啟設定面板。</a:t>
            </a:r>
          </a:p>
        </p:txBody>
      </p:sp>
      <p:sp>
        <p:nvSpPr>
          <p:cNvPr id="6" name="頁尾"/>
          <p:cNvSpPr txBox="1"/>
          <p:nvPr/>
        </p:nvSpPr>
        <p:spPr>
          <a:xfrm>
            <a:off x="548640" y="6492240"/>
            <a:ext cx="80924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東元電機智慧環境監控系統  ·  2026.10</a:t>
            </a:r>
          </a:p>
        </p:txBody>
      </p:sp>
      <p:sp>
        <p:nvSpPr>
          <p:cNvPr id="7" name="頁碼"/>
          <p:cNvSpPr txBox="1"/>
          <p:nvPr/>
        </p:nvSpPr>
        <p:spPr>
          <a:xfrm>
            <a:off x="11183112" y="64556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pic>
        <p:nvPicPr>
          <p:cNvPr id="8" name="系統畫面：冰水主機管理：門檻與保養設定" descr="冰水主機管理畫面：左側設備列表，右側告警門檻設定面板，含出水、回水、溫度差上下限與保養間隔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03720" cy="3883342"/>
          </a:xfrm>
          <a:prstGeom prst="rect">
            <a:avLst/>
          </a:prstGeom>
          <a:ln w="9525">
            <a:solidFill>
              <a:srgbClr val="D8E2E3"/>
            </a:solidFill>
          </a:ln>
        </p:spPr>
      </p:pic>
      <p:sp>
        <p:nvSpPr>
          <p:cNvPr id="9" name="標註1"/>
          <p:cNvSpPr/>
          <p:nvPr/>
        </p:nvSpPr>
        <p:spPr>
          <a:xfrm>
            <a:off x="1536786" y="2099390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標註2"/>
          <p:cNvSpPr/>
          <p:nvPr/>
        </p:nvSpPr>
        <p:spPr>
          <a:xfrm>
            <a:off x="5575462" y="2118807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1" name="標註3"/>
          <p:cNvSpPr/>
          <p:nvPr/>
        </p:nvSpPr>
        <p:spPr>
          <a:xfrm>
            <a:off x="5575462" y="3582827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2" name="標註4"/>
          <p:cNvSpPr/>
          <p:nvPr/>
        </p:nvSpPr>
        <p:spPr>
          <a:xfrm>
            <a:off x="5575462" y="4176979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3" name="說明卡1"/>
          <p:cNvSpPr/>
          <p:nvPr/>
        </p:nvSpPr>
        <p:spPr>
          <a:xfrm>
            <a:off x="7726680" y="1828800"/>
            <a:ext cx="3913631" cy="1101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說明編號1"/>
          <p:cNvSpPr/>
          <p:nvPr/>
        </p:nvSpPr>
        <p:spPr>
          <a:xfrm>
            <a:off x="7900416" y="1943100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5" name="說明標題1"/>
          <p:cNvSpPr txBox="1"/>
          <p:nvPr/>
        </p:nvSpPr>
        <p:spPr>
          <a:xfrm>
            <a:off x="8311896" y="1956816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設備列表</a:t>
            </a:r>
          </a:p>
        </p:txBody>
      </p:sp>
      <p:sp>
        <p:nvSpPr>
          <p:cNvPr id="16" name="說明內文1"/>
          <p:cNvSpPr txBox="1"/>
          <p:nvPr/>
        </p:nvSpPr>
        <p:spPr>
          <a:xfrm>
            <a:off x="8311896" y="2249424"/>
            <a:ext cx="3273551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出水、回水、溫度差與累積運轉；「自訂名稱」由客戶命名，「系統編號」固定不可改。</a:t>
            </a:r>
          </a:p>
        </p:txBody>
      </p:sp>
      <p:sp>
        <p:nvSpPr>
          <p:cNvPr id="17" name="說明卡2"/>
          <p:cNvSpPr/>
          <p:nvPr/>
        </p:nvSpPr>
        <p:spPr>
          <a:xfrm>
            <a:off x="7726680" y="3022092"/>
            <a:ext cx="39136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說明編號2"/>
          <p:cNvSpPr/>
          <p:nvPr/>
        </p:nvSpPr>
        <p:spPr>
          <a:xfrm>
            <a:off x="7900416" y="3136392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說明標題2"/>
          <p:cNvSpPr txBox="1"/>
          <p:nvPr/>
        </p:nvSpPr>
        <p:spPr>
          <a:xfrm>
            <a:off x="8311896" y="3150108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告警門檻</a:t>
            </a:r>
          </a:p>
        </p:txBody>
      </p:sp>
      <p:sp>
        <p:nvSpPr>
          <p:cNvPr id="20" name="說明內文2"/>
          <p:cNvSpPr txBox="1"/>
          <p:nvPr/>
        </p:nvSpPr>
        <p:spPr>
          <a:xfrm>
            <a:off x="8311896" y="3442716"/>
            <a:ext cx="327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出水、回水、溫度差各設上下限，超出範圍就告警；留空代表不設定該側。</a:t>
            </a:r>
          </a:p>
        </p:txBody>
      </p:sp>
      <p:sp>
        <p:nvSpPr>
          <p:cNvPr id="21" name="說明卡3"/>
          <p:cNvSpPr/>
          <p:nvPr/>
        </p:nvSpPr>
        <p:spPr>
          <a:xfrm>
            <a:off x="7726680" y="4027932"/>
            <a:ext cx="3913631" cy="1101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說明編號3"/>
          <p:cNvSpPr/>
          <p:nvPr/>
        </p:nvSpPr>
        <p:spPr>
          <a:xfrm>
            <a:off x="7900416" y="4142231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23" name="說明標題3"/>
          <p:cNvSpPr txBox="1"/>
          <p:nvPr/>
        </p:nvSpPr>
        <p:spPr>
          <a:xfrm>
            <a:off x="8311896" y="4155948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保養間隔</a:t>
            </a:r>
          </a:p>
        </p:txBody>
      </p:sp>
      <p:sp>
        <p:nvSpPr>
          <p:cNvPr id="24" name="說明內文3"/>
          <p:cNvSpPr txBox="1"/>
          <p:nvPr/>
        </p:nvSpPr>
        <p:spPr>
          <a:xfrm>
            <a:off x="8311896" y="4448556"/>
            <a:ext cx="3273551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距上次保養達到間隔時通知一次並顯示「待保養」，按「保養完成」才解除並重新起算。</a:t>
            </a:r>
          </a:p>
        </p:txBody>
      </p:sp>
      <p:sp>
        <p:nvSpPr>
          <p:cNvPr id="25" name="說明卡4"/>
          <p:cNvSpPr/>
          <p:nvPr/>
        </p:nvSpPr>
        <p:spPr>
          <a:xfrm>
            <a:off x="7726680" y="5221224"/>
            <a:ext cx="39136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說明編號4"/>
          <p:cNvSpPr/>
          <p:nvPr/>
        </p:nvSpPr>
        <p:spPr>
          <a:xfrm>
            <a:off x="7900416" y="5335524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7" name="說明標題4"/>
          <p:cNvSpPr txBox="1"/>
          <p:nvPr/>
        </p:nvSpPr>
        <p:spPr>
          <a:xfrm>
            <a:off x="8311896" y="5349240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套用時機</a:t>
            </a:r>
          </a:p>
        </p:txBody>
      </p:sp>
      <p:sp>
        <p:nvSpPr>
          <p:cNvPr id="28" name="說明內文4"/>
          <p:cNvSpPr txBox="1"/>
          <p:nvPr/>
        </p:nvSpPr>
        <p:spPr>
          <a:xfrm>
            <a:off x="8311896" y="5641848"/>
            <a:ext cx="327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儲存後數秒內自動套用；數值超出範圍要持續 60 秒才會告警。</a:t>
            </a:r>
          </a:p>
        </p:txBody>
      </p:sp>
      <p:sp>
        <p:nvSpPr>
          <p:cNvPr id="29" name="資料來源說明"/>
          <p:cNvSpPr txBox="1"/>
          <p:nvPr/>
        </p:nvSpPr>
        <p:spPr>
          <a:xfrm>
            <a:off x="548640" y="5803582"/>
            <a:ext cx="6903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擷取自 VM 測試環境（2026-10-06）・資料由設備模擬器產生；畫面中的門檻與保養間隔是測試用設定，不是客戶設定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眉標"/>
          <p:cNvSpPr txBox="1"/>
          <p:nvPr/>
        </p:nvSpPr>
        <p:spPr>
          <a:xfrm>
            <a:off x="548640" y="265176"/>
            <a:ext cx="54315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TECO  /  智慧環境監控</a:t>
            </a:r>
          </a:p>
        </p:txBody>
      </p:sp>
      <p:sp>
        <p:nvSpPr>
          <p:cNvPr id="3" name="標題"/>
          <p:cNvSpPr txBox="1"/>
          <p:nvPr/>
        </p:nvSpPr>
        <p:spPr>
          <a:xfrm>
            <a:off x="548640" y="585216"/>
            <a:ext cx="110825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FCU 管理：三種識別各司其職</a:t>
            </a:r>
          </a:p>
        </p:txBody>
      </p:sp>
      <p:sp>
        <p:nvSpPr>
          <p:cNvPr id="4" name="標題底線"/>
          <p:cNvSpPr/>
          <p:nvPr/>
        </p:nvSpPr>
        <p:spPr>
          <a:xfrm>
            <a:off x="548640" y="1271016"/>
            <a:ext cx="420624" cy="36576"/>
          </a:xfrm>
          <a:prstGeom prst="rect">
            <a:avLst/>
          </a:prstGeom>
          <a:solidFill>
            <a:srgbClr val="138C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副標"/>
          <p:cNvSpPr txBox="1"/>
          <p:nvPr/>
        </p:nvSpPr>
        <p:spPr>
          <a:xfrm>
            <a:off x="548640" y="1408176"/>
            <a:ext cx="1047902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路徑 /admin/fcu  ·  95 台 FCU 的位置、室溫、風速、模式與狀態。</a:t>
            </a:r>
          </a:p>
        </p:txBody>
      </p:sp>
      <p:sp>
        <p:nvSpPr>
          <p:cNvPr id="6" name="頁尾"/>
          <p:cNvSpPr txBox="1"/>
          <p:nvPr/>
        </p:nvSpPr>
        <p:spPr>
          <a:xfrm>
            <a:off x="548640" y="6492240"/>
            <a:ext cx="80924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東元電機智慧環境監控系統  ·  2026.10</a:t>
            </a:r>
          </a:p>
        </p:txBody>
      </p:sp>
      <p:sp>
        <p:nvSpPr>
          <p:cNvPr id="7" name="頁碼"/>
          <p:cNvSpPr txBox="1"/>
          <p:nvPr/>
        </p:nvSpPr>
        <p:spPr>
          <a:xfrm>
            <a:off x="11183112" y="64556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pic>
        <p:nvPicPr>
          <p:cNvPr id="8" name="系統畫面：FCU 管理：三種識別各司其職" descr="FCU 管理畫面：表格欄位為設備名稱、設備編號、供應商編號、安裝位置、室內溫度、風速、運轉模式、狀態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03720" cy="3883342"/>
          </a:xfrm>
          <a:prstGeom prst="rect">
            <a:avLst/>
          </a:prstGeom>
          <a:ln w="9525">
            <a:solidFill>
              <a:srgbClr val="D8E2E3"/>
            </a:solidFill>
          </a:ln>
        </p:spPr>
      </p:pic>
      <p:sp>
        <p:nvSpPr>
          <p:cNvPr id="9" name="標註1"/>
          <p:cNvSpPr/>
          <p:nvPr/>
        </p:nvSpPr>
        <p:spPr>
          <a:xfrm>
            <a:off x="1723186" y="2149874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標註2"/>
          <p:cNvSpPr/>
          <p:nvPr/>
        </p:nvSpPr>
        <p:spPr>
          <a:xfrm>
            <a:off x="2448077" y="2149874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1" name="標註3"/>
          <p:cNvSpPr/>
          <p:nvPr/>
        </p:nvSpPr>
        <p:spPr>
          <a:xfrm>
            <a:off x="3138449" y="2149874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2" name="標註4"/>
          <p:cNvSpPr/>
          <p:nvPr/>
        </p:nvSpPr>
        <p:spPr>
          <a:xfrm>
            <a:off x="6590309" y="2149874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3" name="說明卡1"/>
          <p:cNvSpPr/>
          <p:nvPr/>
        </p:nvSpPr>
        <p:spPr>
          <a:xfrm>
            <a:off x="7726680" y="1828800"/>
            <a:ext cx="39136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說明編號1"/>
          <p:cNvSpPr/>
          <p:nvPr/>
        </p:nvSpPr>
        <p:spPr>
          <a:xfrm>
            <a:off x="7900416" y="1943100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5" name="說明標題1"/>
          <p:cNvSpPr txBox="1"/>
          <p:nvPr/>
        </p:nvSpPr>
        <p:spPr>
          <a:xfrm>
            <a:off x="8311896" y="1956816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設備名稱</a:t>
            </a:r>
          </a:p>
        </p:txBody>
      </p:sp>
      <p:sp>
        <p:nvSpPr>
          <p:cNvPr id="16" name="說明內文1"/>
          <p:cNvSpPr txBox="1"/>
          <p:nvPr/>
        </p:nvSpPr>
        <p:spPr>
          <a:xfrm>
            <a:off x="8311896" y="2249424"/>
            <a:ext cx="327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客戶自訂的代碼（例如現場標籤）；沒設定時顯示「未設定」，按「編輯」修改。</a:t>
            </a:r>
          </a:p>
        </p:txBody>
      </p:sp>
      <p:sp>
        <p:nvSpPr>
          <p:cNvPr id="17" name="說明卡2"/>
          <p:cNvSpPr/>
          <p:nvPr/>
        </p:nvSpPr>
        <p:spPr>
          <a:xfrm>
            <a:off x="7726680" y="2834640"/>
            <a:ext cx="39136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說明編號2"/>
          <p:cNvSpPr/>
          <p:nvPr/>
        </p:nvSpPr>
        <p:spPr>
          <a:xfrm>
            <a:off x="7900416" y="2948940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說明標題2"/>
          <p:cNvSpPr txBox="1"/>
          <p:nvPr/>
        </p:nvSpPr>
        <p:spPr>
          <a:xfrm>
            <a:off x="8311896" y="2962656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設備編號</a:t>
            </a:r>
          </a:p>
        </p:txBody>
      </p:sp>
      <p:sp>
        <p:nvSpPr>
          <p:cNvPr id="20" name="說明內文2"/>
          <p:cNvSpPr txBox="1"/>
          <p:nvPr/>
        </p:nvSpPr>
        <p:spPr>
          <a:xfrm>
            <a:off x="8311896" y="3255264"/>
            <a:ext cx="327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系統編號（樓層加分區，例如 B1-Z12），由配置決定，不開放修改。</a:t>
            </a:r>
          </a:p>
        </p:txBody>
      </p:sp>
      <p:sp>
        <p:nvSpPr>
          <p:cNvPr id="21" name="說明卡3"/>
          <p:cNvSpPr/>
          <p:nvPr/>
        </p:nvSpPr>
        <p:spPr>
          <a:xfrm>
            <a:off x="7726680" y="3840480"/>
            <a:ext cx="39136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說明編號3"/>
          <p:cNvSpPr/>
          <p:nvPr/>
        </p:nvSpPr>
        <p:spPr>
          <a:xfrm>
            <a:off x="7900416" y="3954779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23" name="說明標題3"/>
          <p:cNvSpPr txBox="1"/>
          <p:nvPr/>
        </p:nvSpPr>
        <p:spPr>
          <a:xfrm>
            <a:off x="8311896" y="3968496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供應商編號</a:t>
            </a:r>
          </a:p>
        </p:txBody>
      </p:sp>
      <p:sp>
        <p:nvSpPr>
          <p:cNvPr id="24" name="說明內文3"/>
          <p:cNvSpPr txBox="1"/>
          <p:nvPr/>
        </p:nvSpPr>
        <p:spPr>
          <a:xfrm>
            <a:off x="8311896" y="4261104"/>
            <a:ext cx="327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供應商程式裡的編號，一律搭配 DDC 顯示，因為兩台 DDC 的編號會重複。</a:t>
            </a:r>
          </a:p>
        </p:txBody>
      </p:sp>
      <p:sp>
        <p:nvSpPr>
          <p:cNvPr id="25" name="說明卡4"/>
          <p:cNvSpPr/>
          <p:nvPr/>
        </p:nvSpPr>
        <p:spPr>
          <a:xfrm>
            <a:off x="7726680" y="4846320"/>
            <a:ext cx="39136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說明編號4"/>
          <p:cNvSpPr/>
          <p:nvPr/>
        </p:nvSpPr>
        <p:spPr>
          <a:xfrm>
            <a:off x="7900416" y="4960620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7" name="說明標題4"/>
          <p:cNvSpPr txBox="1"/>
          <p:nvPr/>
        </p:nvSpPr>
        <p:spPr>
          <a:xfrm>
            <a:off x="8311896" y="4974336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室溫上下限</a:t>
            </a:r>
          </a:p>
        </p:txBody>
      </p:sp>
      <p:sp>
        <p:nvSpPr>
          <p:cNvPr id="28" name="說明內文4"/>
          <p:cNvSpPr txBox="1"/>
          <p:nvPr/>
        </p:nvSpPr>
        <p:spPr>
          <a:xfrm>
            <a:off x="8311896" y="5266944"/>
            <a:ext cx="327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「室溫上下限設定」套用全場 FCU，室溫超出範圍就產生告警。</a:t>
            </a:r>
          </a:p>
        </p:txBody>
      </p:sp>
      <p:sp>
        <p:nvSpPr>
          <p:cNvPr id="29" name="資料來源說明"/>
          <p:cNvSpPr txBox="1"/>
          <p:nvPr/>
        </p:nvSpPr>
        <p:spPr>
          <a:xfrm>
            <a:off x="548640" y="5803582"/>
            <a:ext cx="6903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擷取自 VM 測試環境（2026-10-06）・資料由設備模擬器產生，不是現場設備資料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眉標"/>
          <p:cNvSpPr txBox="1"/>
          <p:nvPr/>
        </p:nvSpPr>
        <p:spPr>
          <a:xfrm>
            <a:off x="548640" y="265176"/>
            <a:ext cx="54315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TECO  /  智慧環境監控</a:t>
            </a:r>
          </a:p>
        </p:txBody>
      </p:sp>
      <p:sp>
        <p:nvSpPr>
          <p:cNvPr id="3" name="標題"/>
          <p:cNvSpPr txBox="1"/>
          <p:nvPr/>
        </p:nvSpPr>
        <p:spPr>
          <a:xfrm>
            <a:off x="548640" y="585216"/>
            <a:ext cx="110825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空間設備配置：把設備放到圖面上</a:t>
            </a:r>
          </a:p>
        </p:txBody>
      </p:sp>
      <p:sp>
        <p:nvSpPr>
          <p:cNvPr id="4" name="標題底線"/>
          <p:cNvSpPr/>
          <p:nvPr/>
        </p:nvSpPr>
        <p:spPr>
          <a:xfrm>
            <a:off x="548640" y="1271016"/>
            <a:ext cx="420624" cy="36576"/>
          </a:xfrm>
          <a:prstGeom prst="rect">
            <a:avLst/>
          </a:prstGeom>
          <a:solidFill>
            <a:srgbClr val="138C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副標"/>
          <p:cNvSpPr txBox="1"/>
          <p:nvPr/>
        </p:nvSpPr>
        <p:spPr>
          <a:xfrm>
            <a:off x="548640" y="1408176"/>
            <a:ext cx="1047902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路徑 /admin/floor-plan  ·  B1／B2 樓層的分區圖，設備位置以後端保存。</a:t>
            </a:r>
          </a:p>
        </p:txBody>
      </p:sp>
      <p:sp>
        <p:nvSpPr>
          <p:cNvPr id="6" name="頁尾"/>
          <p:cNvSpPr txBox="1"/>
          <p:nvPr/>
        </p:nvSpPr>
        <p:spPr>
          <a:xfrm>
            <a:off x="548640" y="6492240"/>
            <a:ext cx="80924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東元電機智慧環境監控系統  ·  2026.10</a:t>
            </a:r>
          </a:p>
        </p:txBody>
      </p:sp>
      <p:sp>
        <p:nvSpPr>
          <p:cNvPr id="7" name="頁碼"/>
          <p:cNvSpPr txBox="1"/>
          <p:nvPr/>
        </p:nvSpPr>
        <p:spPr>
          <a:xfrm>
            <a:off x="11183112" y="64556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pic>
        <p:nvPicPr>
          <p:cNvPr id="8" name="系統畫面：空間設備配置：把設備放到圖面上" descr="空間設備配置畫面：B1 樓層 CAD 分區圖與設備圖示，右側為選擇配置區域面板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03720" cy="3883342"/>
          </a:xfrm>
          <a:prstGeom prst="rect">
            <a:avLst/>
          </a:prstGeom>
          <a:ln w="9525">
            <a:solidFill>
              <a:srgbClr val="D8E2E3"/>
            </a:solidFill>
          </a:ln>
        </p:spPr>
      </p:pic>
      <p:sp>
        <p:nvSpPr>
          <p:cNvPr id="9" name="標註1"/>
          <p:cNvSpPr/>
          <p:nvPr/>
        </p:nvSpPr>
        <p:spPr>
          <a:xfrm>
            <a:off x="2655189" y="2658592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標註2"/>
          <p:cNvSpPr/>
          <p:nvPr/>
        </p:nvSpPr>
        <p:spPr>
          <a:xfrm>
            <a:off x="3656228" y="4215812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1" name="標註3"/>
          <p:cNvSpPr/>
          <p:nvPr/>
        </p:nvSpPr>
        <p:spPr>
          <a:xfrm>
            <a:off x="6831939" y="2650825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2" name="標註4"/>
          <p:cNvSpPr/>
          <p:nvPr/>
        </p:nvSpPr>
        <p:spPr>
          <a:xfrm>
            <a:off x="6038011" y="2243074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3" name="說明卡1"/>
          <p:cNvSpPr/>
          <p:nvPr/>
        </p:nvSpPr>
        <p:spPr>
          <a:xfrm>
            <a:off x="7726680" y="1828800"/>
            <a:ext cx="39136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說明編號1"/>
          <p:cNvSpPr/>
          <p:nvPr/>
        </p:nvSpPr>
        <p:spPr>
          <a:xfrm>
            <a:off x="7900416" y="1943100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5" name="說明標題1"/>
          <p:cNvSpPr txBox="1"/>
          <p:nvPr/>
        </p:nvSpPr>
        <p:spPr>
          <a:xfrm>
            <a:off x="8311896" y="1956816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樓層與檢視</a:t>
            </a:r>
          </a:p>
        </p:txBody>
      </p:sp>
      <p:sp>
        <p:nvSpPr>
          <p:cNvPr id="16" name="說明內文1"/>
          <p:cNvSpPr txBox="1"/>
          <p:nvPr/>
        </p:nvSpPr>
        <p:spPr>
          <a:xfrm>
            <a:off x="8311896" y="2249424"/>
            <a:ext cx="327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B1／B2 切換，並可在 2D 平面與 3D 立體兩種檢視之間切換。</a:t>
            </a:r>
          </a:p>
        </p:txBody>
      </p:sp>
      <p:sp>
        <p:nvSpPr>
          <p:cNvPr id="17" name="說明卡2"/>
          <p:cNvSpPr/>
          <p:nvPr/>
        </p:nvSpPr>
        <p:spPr>
          <a:xfrm>
            <a:off x="7726680" y="2834640"/>
            <a:ext cx="39136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說明編號2"/>
          <p:cNvSpPr/>
          <p:nvPr/>
        </p:nvSpPr>
        <p:spPr>
          <a:xfrm>
            <a:off x="7900416" y="2948940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說明標題2"/>
          <p:cNvSpPr txBox="1"/>
          <p:nvPr/>
        </p:nvSpPr>
        <p:spPr>
          <a:xfrm>
            <a:off x="8311896" y="2962656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分區圖</a:t>
            </a:r>
          </a:p>
        </p:txBody>
      </p:sp>
      <p:sp>
        <p:nvSpPr>
          <p:cNvPr id="20" name="說明內文2"/>
          <p:cNvSpPr txBox="1"/>
          <p:nvPr/>
        </p:nvSpPr>
        <p:spPr>
          <a:xfrm>
            <a:off x="8311896" y="3255264"/>
            <a:ext cx="327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B1 共 72 個分區；設備放進分區後，以圖示和代碼顯示在圖面上。</a:t>
            </a:r>
          </a:p>
        </p:txBody>
      </p:sp>
      <p:sp>
        <p:nvSpPr>
          <p:cNvPr id="21" name="說明卡3"/>
          <p:cNvSpPr/>
          <p:nvPr/>
        </p:nvSpPr>
        <p:spPr>
          <a:xfrm>
            <a:off x="7726680" y="3840480"/>
            <a:ext cx="39136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說明編號3"/>
          <p:cNvSpPr/>
          <p:nvPr/>
        </p:nvSpPr>
        <p:spPr>
          <a:xfrm>
            <a:off x="7900416" y="3954779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23" name="說明標題3"/>
          <p:cNvSpPr txBox="1"/>
          <p:nvPr/>
        </p:nvSpPr>
        <p:spPr>
          <a:xfrm>
            <a:off x="8311896" y="3968496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加入設備</a:t>
            </a:r>
          </a:p>
        </p:txBody>
      </p:sp>
      <p:sp>
        <p:nvSpPr>
          <p:cNvPr id="24" name="說明內文3"/>
          <p:cNvSpPr txBox="1"/>
          <p:nvPr/>
        </p:nvSpPr>
        <p:spPr>
          <a:xfrm>
            <a:off x="8311896" y="4261104"/>
            <a:ext cx="327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點選分區後，在右側加入冰水主機或 FCU 並調整位置；配置存在伺服器。</a:t>
            </a:r>
          </a:p>
        </p:txBody>
      </p:sp>
      <p:sp>
        <p:nvSpPr>
          <p:cNvPr id="25" name="說明卡4"/>
          <p:cNvSpPr/>
          <p:nvPr/>
        </p:nvSpPr>
        <p:spPr>
          <a:xfrm>
            <a:off x="7726680" y="4846320"/>
            <a:ext cx="39136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說明編號4"/>
          <p:cNvSpPr/>
          <p:nvPr/>
        </p:nvSpPr>
        <p:spPr>
          <a:xfrm>
            <a:off x="7900416" y="4960620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7" name="說明標題4"/>
          <p:cNvSpPr txBox="1"/>
          <p:nvPr/>
        </p:nvSpPr>
        <p:spPr>
          <a:xfrm>
            <a:off x="8311896" y="4974336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匯出與儲存</a:t>
            </a:r>
          </a:p>
        </p:txBody>
      </p:sp>
      <p:sp>
        <p:nvSpPr>
          <p:cNvPr id="28" name="說明內文4"/>
          <p:cNvSpPr txBox="1"/>
          <p:nvPr/>
        </p:nvSpPr>
        <p:spPr>
          <a:xfrm>
            <a:off x="8311896" y="5266944"/>
            <a:ext cx="327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存檔帶版本號，版本衝突回 409，避免覆蓋他人的變更。</a:t>
            </a:r>
          </a:p>
        </p:txBody>
      </p:sp>
      <p:sp>
        <p:nvSpPr>
          <p:cNvPr id="29" name="資料來源說明"/>
          <p:cNvSpPr txBox="1"/>
          <p:nvPr/>
        </p:nvSpPr>
        <p:spPr>
          <a:xfrm>
            <a:off x="548640" y="5803582"/>
            <a:ext cx="6903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擷取自 VM 測試環境（2026-10-06）・設備配置為驗收用的模擬對照，現場須依實際位置重新配置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眉標"/>
          <p:cNvSpPr txBox="1"/>
          <p:nvPr/>
        </p:nvSpPr>
        <p:spPr>
          <a:xfrm>
            <a:off x="548640" y="265176"/>
            <a:ext cx="54315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TECO  /  智慧環境監控</a:t>
            </a:r>
          </a:p>
        </p:txBody>
      </p:sp>
      <p:sp>
        <p:nvSpPr>
          <p:cNvPr id="3" name="標題"/>
          <p:cNvSpPr txBox="1"/>
          <p:nvPr/>
        </p:nvSpPr>
        <p:spPr>
          <a:xfrm>
            <a:off x="548640" y="585216"/>
            <a:ext cx="110825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使用者管理：擁有者與管理員的分層</a:t>
            </a:r>
          </a:p>
        </p:txBody>
      </p:sp>
      <p:sp>
        <p:nvSpPr>
          <p:cNvPr id="4" name="標題底線"/>
          <p:cNvSpPr/>
          <p:nvPr/>
        </p:nvSpPr>
        <p:spPr>
          <a:xfrm>
            <a:off x="548640" y="1271016"/>
            <a:ext cx="420624" cy="36576"/>
          </a:xfrm>
          <a:prstGeom prst="rect">
            <a:avLst/>
          </a:prstGeom>
          <a:solidFill>
            <a:srgbClr val="138C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副標"/>
          <p:cNvSpPr txBox="1"/>
          <p:nvPr/>
        </p:nvSpPr>
        <p:spPr>
          <a:xfrm>
            <a:off x="548640" y="1408176"/>
            <a:ext cx="1047902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路徑 /admin/users  ·  以「測試人員」（一般場館管理員）的身分登入時看到的畫面。</a:t>
            </a:r>
          </a:p>
        </p:txBody>
      </p:sp>
      <p:sp>
        <p:nvSpPr>
          <p:cNvPr id="6" name="頁尾"/>
          <p:cNvSpPr txBox="1"/>
          <p:nvPr/>
        </p:nvSpPr>
        <p:spPr>
          <a:xfrm>
            <a:off x="548640" y="6492240"/>
            <a:ext cx="80924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東元電機智慧環境監控系統  ·  2026.10</a:t>
            </a:r>
          </a:p>
        </p:txBody>
      </p:sp>
      <p:sp>
        <p:nvSpPr>
          <p:cNvPr id="7" name="頁碼"/>
          <p:cNvSpPr txBox="1"/>
          <p:nvPr/>
        </p:nvSpPr>
        <p:spPr>
          <a:xfrm>
            <a:off x="11183112" y="64556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pic>
        <p:nvPicPr>
          <p:cNvPr id="8" name="系統畫面：使用者管理：擁有者與管理員的分層" descr="使用者管理畫面：列表中場館管理員旁有「擁有者」標籤，其設定、重設密碼、刪除為灰色不可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828800"/>
            <a:ext cx="9509760" cy="2995574"/>
          </a:xfrm>
          <a:prstGeom prst="rect">
            <a:avLst/>
          </a:prstGeom>
          <a:ln w="9525">
            <a:solidFill>
              <a:srgbClr val="D8E2E3"/>
            </a:solidFill>
          </a:ln>
        </p:spPr>
      </p:pic>
      <p:sp>
        <p:nvSpPr>
          <p:cNvPr id="9" name="標註1"/>
          <p:cNvSpPr/>
          <p:nvPr/>
        </p:nvSpPr>
        <p:spPr>
          <a:xfrm>
            <a:off x="3818991" y="3456889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標註2"/>
          <p:cNvSpPr/>
          <p:nvPr/>
        </p:nvSpPr>
        <p:spPr>
          <a:xfrm>
            <a:off x="10380726" y="3456889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1" name="標註3"/>
          <p:cNvSpPr/>
          <p:nvPr/>
        </p:nvSpPr>
        <p:spPr>
          <a:xfrm>
            <a:off x="8668969" y="3456889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2" name="標註4"/>
          <p:cNvSpPr/>
          <p:nvPr/>
        </p:nvSpPr>
        <p:spPr>
          <a:xfrm>
            <a:off x="9667494" y="2905917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3" name="資料來源說明"/>
          <p:cNvSpPr txBox="1"/>
          <p:nvPr/>
        </p:nvSpPr>
        <p:spPr>
          <a:xfrm>
            <a:off x="1340967" y="4888382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擷取自 VM 測試環境（2026-10-06）・資料由設備模擬器產生，不是現場設備資料</a:t>
            </a:r>
          </a:p>
        </p:txBody>
      </p:sp>
      <p:sp>
        <p:nvSpPr>
          <p:cNvPr id="14" name="說明卡1"/>
          <p:cNvSpPr/>
          <p:nvPr/>
        </p:nvSpPr>
        <p:spPr>
          <a:xfrm>
            <a:off x="548640" y="5208422"/>
            <a:ext cx="2649474" cy="1101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說明編號1"/>
          <p:cNvSpPr/>
          <p:nvPr/>
        </p:nvSpPr>
        <p:spPr>
          <a:xfrm>
            <a:off x="722375" y="5322722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6" name="說明標題1"/>
          <p:cNvSpPr txBox="1"/>
          <p:nvPr/>
        </p:nvSpPr>
        <p:spPr>
          <a:xfrm>
            <a:off x="1133856" y="5336438"/>
            <a:ext cx="192709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擁有者</a:t>
            </a:r>
          </a:p>
        </p:txBody>
      </p:sp>
      <p:sp>
        <p:nvSpPr>
          <p:cNvPr id="17" name="說明內文1"/>
          <p:cNvSpPr txBox="1"/>
          <p:nvPr/>
        </p:nvSpPr>
        <p:spPr>
          <a:xfrm>
            <a:off x="1133856" y="5629046"/>
            <a:ext cx="2064257" cy="589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第一位管理員標示「擁有者」，不能被刪除、停用或變更角色。</a:t>
            </a:r>
          </a:p>
        </p:txBody>
      </p:sp>
      <p:sp>
        <p:nvSpPr>
          <p:cNvPr id="18" name="說明卡2"/>
          <p:cNvSpPr/>
          <p:nvPr/>
        </p:nvSpPr>
        <p:spPr>
          <a:xfrm>
            <a:off x="3362706" y="5208422"/>
            <a:ext cx="2649474" cy="1101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說明編號2"/>
          <p:cNvSpPr/>
          <p:nvPr/>
        </p:nvSpPr>
        <p:spPr>
          <a:xfrm>
            <a:off x="3536442" y="5322722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20" name="說明標題2"/>
          <p:cNvSpPr txBox="1"/>
          <p:nvPr/>
        </p:nvSpPr>
        <p:spPr>
          <a:xfrm>
            <a:off x="3947922" y="5336438"/>
            <a:ext cx="192709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管理員之間</a:t>
            </a:r>
          </a:p>
        </p:txBody>
      </p:sp>
      <p:sp>
        <p:nvSpPr>
          <p:cNvPr id="21" name="說明內文2"/>
          <p:cNvSpPr txBox="1"/>
          <p:nvPr/>
        </p:nvSpPr>
        <p:spPr>
          <a:xfrm>
            <a:off x="3947922" y="5629046"/>
            <a:ext cx="2064257" cy="589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其他管理員只有擁有者能設定、重設密碼、刪除；不能操作的選項變灰。</a:t>
            </a:r>
          </a:p>
        </p:txBody>
      </p:sp>
      <p:sp>
        <p:nvSpPr>
          <p:cNvPr id="22" name="說明卡3"/>
          <p:cNvSpPr/>
          <p:nvPr/>
        </p:nvSpPr>
        <p:spPr>
          <a:xfrm>
            <a:off x="6176772" y="5208422"/>
            <a:ext cx="2649474" cy="1101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說明編號3"/>
          <p:cNvSpPr/>
          <p:nvPr/>
        </p:nvSpPr>
        <p:spPr>
          <a:xfrm>
            <a:off x="6350507" y="5322722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24" name="說明標題3"/>
          <p:cNvSpPr txBox="1"/>
          <p:nvPr/>
        </p:nvSpPr>
        <p:spPr>
          <a:xfrm>
            <a:off x="6761988" y="5336438"/>
            <a:ext cx="192709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啟用開關</a:t>
            </a:r>
          </a:p>
        </p:txBody>
      </p:sp>
      <p:sp>
        <p:nvSpPr>
          <p:cNvPr id="25" name="說明內文3"/>
          <p:cNvSpPr txBox="1"/>
          <p:nvPr/>
        </p:nvSpPr>
        <p:spPr>
          <a:xfrm>
            <a:off x="6761988" y="5629046"/>
            <a:ext cx="2064257" cy="589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停用後該成員無法登入本場館。</a:t>
            </a:r>
          </a:p>
        </p:txBody>
      </p:sp>
      <p:sp>
        <p:nvSpPr>
          <p:cNvPr id="26" name="說明卡4"/>
          <p:cNvSpPr/>
          <p:nvPr/>
        </p:nvSpPr>
        <p:spPr>
          <a:xfrm>
            <a:off x="8990838" y="5208422"/>
            <a:ext cx="2649474" cy="1101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說明編號4"/>
          <p:cNvSpPr/>
          <p:nvPr/>
        </p:nvSpPr>
        <p:spPr>
          <a:xfrm>
            <a:off x="9164574" y="5322722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8" name="說明標題4"/>
          <p:cNvSpPr txBox="1"/>
          <p:nvPr/>
        </p:nvSpPr>
        <p:spPr>
          <a:xfrm>
            <a:off x="9576054" y="5336438"/>
            <a:ext cx="192709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新增使用者</a:t>
            </a:r>
          </a:p>
        </p:txBody>
      </p:sp>
      <p:sp>
        <p:nvSpPr>
          <p:cNvPr id="29" name="說明內文4"/>
          <p:cNvSpPr txBox="1"/>
          <p:nvPr/>
        </p:nvSpPr>
        <p:spPr>
          <a:xfrm>
            <a:off x="9576054" y="5629046"/>
            <a:ext cx="2064257" cy="589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填帳號、名稱、初始密碼（最少 6 個字元）與角色。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眉標"/>
          <p:cNvSpPr txBox="1"/>
          <p:nvPr/>
        </p:nvSpPr>
        <p:spPr>
          <a:xfrm>
            <a:off x="548640" y="265176"/>
            <a:ext cx="54315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TECO  /  智慧環境監控</a:t>
            </a:r>
          </a:p>
        </p:txBody>
      </p:sp>
      <p:sp>
        <p:nvSpPr>
          <p:cNvPr id="3" name="標題"/>
          <p:cNvSpPr txBox="1"/>
          <p:nvPr/>
        </p:nvSpPr>
        <p:spPr>
          <a:xfrm>
            <a:off x="548640" y="585216"/>
            <a:ext cx="110825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操作紀錄：連被拒絕的操作也留下</a:t>
            </a:r>
          </a:p>
        </p:txBody>
      </p:sp>
      <p:sp>
        <p:nvSpPr>
          <p:cNvPr id="4" name="標題底線"/>
          <p:cNvSpPr/>
          <p:nvPr/>
        </p:nvSpPr>
        <p:spPr>
          <a:xfrm>
            <a:off x="548640" y="1271016"/>
            <a:ext cx="420624" cy="36576"/>
          </a:xfrm>
          <a:prstGeom prst="rect">
            <a:avLst/>
          </a:prstGeom>
          <a:solidFill>
            <a:srgbClr val="138C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副標"/>
          <p:cNvSpPr txBox="1"/>
          <p:nvPr/>
        </p:nvSpPr>
        <p:spPr>
          <a:xfrm>
            <a:off x="548640" y="1408176"/>
            <a:ext cx="1047902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路徑 /admin/operation-log  ·  依日期區間查詢（最大一年），此例篩選 2026/10/05 一天。</a:t>
            </a:r>
          </a:p>
        </p:txBody>
      </p:sp>
      <p:sp>
        <p:nvSpPr>
          <p:cNvPr id="6" name="頁尾"/>
          <p:cNvSpPr txBox="1"/>
          <p:nvPr/>
        </p:nvSpPr>
        <p:spPr>
          <a:xfrm>
            <a:off x="548640" y="6492240"/>
            <a:ext cx="80924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東元電機智慧環境監控系統  ·  2026.10</a:t>
            </a:r>
          </a:p>
        </p:txBody>
      </p:sp>
      <p:sp>
        <p:nvSpPr>
          <p:cNvPr id="7" name="頁碼"/>
          <p:cNvSpPr txBox="1"/>
          <p:nvPr/>
        </p:nvSpPr>
        <p:spPr>
          <a:xfrm>
            <a:off x="11183112" y="64556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pic>
        <p:nvPicPr>
          <p:cNvPr id="8" name="系統畫面：操作紀錄：連被拒絕的操作也留下" descr="操作紀錄畫面：四筆紀錄，包含登出、被拒絕的刪除使用者（失敗）、登入、登入失敗（失敗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1828800"/>
            <a:ext cx="10424160" cy="2931795"/>
          </a:xfrm>
          <a:prstGeom prst="rect">
            <a:avLst/>
          </a:prstGeom>
          <a:ln w="9525">
            <a:solidFill>
              <a:srgbClr val="D8E2E3"/>
            </a:solidFill>
          </a:ln>
        </p:spPr>
      </p:pic>
      <p:sp>
        <p:nvSpPr>
          <p:cNvPr id="9" name="標註1"/>
          <p:cNvSpPr/>
          <p:nvPr/>
        </p:nvSpPr>
        <p:spPr>
          <a:xfrm>
            <a:off x="4916271" y="2922993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標註2"/>
          <p:cNvSpPr/>
          <p:nvPr/>
        </p:nvSpPr>
        <p:spPr>
          <a:xfrm>
            <a:off x="5281117" y="3509352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1" name="標註3"/>
          <p:cNvSpPr/>
          <p:nvPr/>
        </p:nvSpPr>
        <p:spPr>
          <a:xfrm>
            <a:off x="9607143" y="3509352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2" name="資料來源說明"/>
          <p:cNvSpPr txBox="1"/>
          <p:nvPr/>
        </p:nvSpPr>
        <p:spPr>
          <a:xfrm>
            <a:off x="883767" y="4824603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擷取自 VM 測試環境（2026-10-06）・資料由設備模擬器產生，不是現場設備資料</a:t>
            </a:r>
          </a:p>
        </p:txBody>
      </p:sp>
      <p:sp>
        <p:nvSpPr>
          <p:cNvPr id="13" name="說明卡1"/>
          <p:cNvSpPr/>
          <p:nvPr/>
        </p:nvSpPr>
        <p:spPr>
          <a:xfrm>
            <a:off x="548640" y="5144643"/>
            <a:ext cx="3587496" cy="1101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說明編號1"/>
          <p:cNvSpPr/>
          <p:nvPr/>
        </p:nvSpPr>
        <p:spPr>
          <a:xfrm>
            <a:off x="722375" y="5258942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5" name="說明標題1"/>
          <p:cNvSpPr txBox="1"/>
          <p:nvPr/>
        </p:nvSpPr>
        <p:spPr>
          <a:xfrm>
            <a:off x="1133856" y="5272658"/>
            <a:ext cx="28651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什麼都留紀錄</a:t>
            </a:r>
          </a:p>
        </p:txBody>
      </p:sp>
      <p:sp>
        <p:nvSpPr>
          <p:cNvPr id="16" name="說明內文1"/>
          <p:cNvSpPr txBox="1"/>
          <p:nvPr/>
        </p:nvSpPr>
        <p:spPr>
          <a:xfrm>
            <a:off x="1133856" y="5565267"/>
            <a:ext cx="3002280" cy="589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登入、登出、使用者與角色異動、告警門檻、設備保養等，記錄操作者、時間與 IP。</a:t>
            </a:r>
          </a:p>
        </p:txBody>
      </p:sp>
      <p:sp>
        <p:nvSpPr>
          <p:cNvPr id="17" name="說明卡2"/>
          <p:cNvSpPr/>
          <p:nvPr/>
        </p:nvSpPr>
        <p:spPr>
          <a:xfrm>
            <a:off x="4300728" y="5144643"/>
            <a:ext cx="3587496" cy="1101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說明編號2"/>
          <p:cNvSpPr/>
          <p:nvPr/>
        </p:nvSpPr>
        <p:spPr>
          <a:xfrm>
            <a:off x="4474463" y="5258942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說明標題2"/>
          <p:cNvSpPr txBox="1"/>
          <p:nvPr/>
        </p:nvSpPr>
        <p:spPr>
          <a:xfrm>
            <a:off x="4885944" y="5272658"/>
            <a:ext cx="28651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失敗也記錄</a:t>
            </a:r>
          </a:p>
        </p:txBody>
      </p:sp>
      <p:sp>
        <p:nvSpPr>
          <p:cNvPr id="20" name="說明內文2"/>
          <p:cNvSpPr txBox="1"/>
          <p:nvPr/>
        </p:nvSpPr>
        <p:spPr>
          <a:xfrm>
            <a:off x="4885944" y="5565267"/>
            <a:ext cx="3002280" cy="589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被拒絕的操作與登入失敗會標示為失敗，例如管理員嘗試刪除擁有者。</a:t>
            </a:r>
          </a:p>
        </p:txBody>
      </p:sp>
      <p:sp>
        <p:nvSpPr>
          <p:cNvPr id="21" name="說明卡3"/>
          <p:cNvSpPr/>
          <p:nvPr/>
        </p:nvSpPr>
        <p:spPr>
          <a:xfrm>
            <a:off x="8052816" y="5144643"/>
            <a:ext cx="3587496" cy="1101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說明編號3"/>
          <p:cNvSpPr/>
          <p:nvPr/>
        </p:nvSpPr>
        <p:spPr>
          <a:xfrm>
            <a:off x="8226551" y="5258942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23" name="說明標題3"/>
          <p:cNvSpPr txBox="1"/>
          <p:nvPr/>
        </p:nvSpPr>
        <p:spPr>
          <a:xfrm>
            <a:off x="8638032" y="5272658"/>
            <a:ext cx="28651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內容具體</a:t>
            </a:r>
          </a:p>
        </p:txBody>
      </p:sp>
      <p:sp>
        <p:nvSpPr>
          <p:cNvPr id="24" name="說明內文3"/>
          <p:cNvSpPr txBox="1"/>
          <p:nvPr/>
        </p:nvSpPr>
        <p:spPr>
          <a:xfrm>
            <a:off x="8638032" y="5565267"/>
            <a:ext cx="3002280" cy="589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操作內容寫明對象與原因；密碼不會寫進紀錄。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眉標"/>
          <p:cNvSpPr txBox="1"/>
          <p:nvPr/>
        </p:nvSpPr>
        <p:spPr>
          <a:xfrm>
            <a:off x="548640" y="265176"/>
            <a:ext cx="54315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TECO  /  智慧環境監控</a:t>
            </a:r>
          </a:p>
        </p:txBody>
      </p:sp>
      <p:sp>
        <p:nvSpPr>
          <p:cNvPr id="3" name="標題"/>
          <p:cNvSpPr txBox="1"/>
          <p:nvPr/>
        </p:nvSpPr>
        <p:spPr>
          <a:xfrm>
            <a:off x="548640" y="585216"/>
            <a:ext cx="110825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平台管理：場館與成員</a:t>
            </a:r>
          </a:p>
        </p:txBody>
      </p:sp>
      <p:sp>
        <p:nvSpPr>
          <p:cNvPr id="4" name="標題底線"/>
          <p:cNvSpPr/>
          <p:nvPr/>
        </p:nvSpPr>
        <p:spPr>
          <a:xfrm>
            <a:off x="548640" y="1271016"/>
            <a:ext cx="420624" cy="36576"/>
          </a:xfrm>
          <a:prstGeom prst="rect">
            <a:avLst/>
          </a:prstGeom>
          <a:solidFill>
            <a:srgbClr val="138C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副標"/>
          <p:cNvSpPr txBox="1"/>
          <p:nvPr/>
        </p:nvSpPr>
        <p:spPr>
          <a:xfrm>
            <a:off x="548640" y="1408176"/>
            <a:ext cx="1047902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路徑 /platform/merchants  ·  平台管理員登入後的畫面，與場館後台是分開的另一組介面。</a:t>
            </a:r>
          </a:p>
        </p:txBody>
      </p:sp>
      <p:sp>
        <p:nvSpPr>
          <p:cNvPr id="6" name="頁尾"/>
          <p:cNvSpPr txBox="1"/>
          <p:nvPr/>
        </p:nvSpPr>
        <p:spPr>
          <a:xfrm>
            <a:off x="548640" y="6492240"/>
            <a:ext cx="80924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東元電機智慧環境監控系統  ·  2026.10</a:t>
            </a:r>
          </a:p>
        </p:txBody>
      </p:sp>
      <p:sp>
        <p:nvSpPr>
          <p:cNvPr id="7" name="頁碼"/>
          <p:cNvSpPr txBox="1"/>
          <p:nvPr/>
        </p:nvSpPr>
        <p:spPr>
          <a:xfrm>
            <a:off x="11183112" y="64556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pic>
        <p:nvPicPr>
          <p:cNvPr id="8" name="系統畫面：平台管理：場館與成員" descr="平台管理的場館管理畫面：列出東元高爾夫球場，含狀態、權限模式與管理成員連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11" y="1828800"/>
            <a:ext cx="11091672" cy="2805269"/>
          </a:xfrm>
          <a:prstGeom prst="rect">
            <a:avLst/>
          </a:prstGeom>
          <a:ln w="9525">
            <a:solidFill>
              <a:srgbClr val="D8E2E3"/>
            </a:solidFill>
          </a:ln>
        </p:spPr>
      </p:pic>
      <p:sp>
        <p:nvSpPr>
          <p:cNvPr id="9" name="標註1"/>
          <p:cNvSpPr/>
          <p:nvPr/>
        </p:nvSpPr>
        <p:spPr>
          <a:xfrm>
            <a:off x="3296686" y="3088040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標註2"/>
          <p:cNvSpPr/>
          <p:nvPr/>
        </p:nvSpPr>
        <p:spPr>
          <a:xfrm>
            <a:off x="7067854" y="3088040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1" name="標註3"/>
          <p:cNvSpPr/>
          <p:nvPr/>
        </p:nvSpPr>
        <p:spPr>
          <a:xfrm>
            <a:off x="11116315" y="3088040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2" name="標註4"/>
          <p:cNvSpPr/>
          <p:nvPr/>
        </p:nvSpPr>
        <p:spPr>
          <a:xfrm>
            <a:off x="10395356" y="2402308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3" name="資料來源說明"/>
          <p:cNvSpPr txBox="1"/>
          <p:nvPr/>
        </p:nvSpPr>
        <p:spPr>
          <a:xfrm>
            <a:off x="550011" y="4698076"/>
            <a:ext cx="11091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擷取自 VM 測試環境（2026-10-06）・資料由設備模擬器產生，不是現場設備資料</a:t>
            </a:r>
          </a:p>
        </p:txBody>
      </p:sp>
      <p:sp>
        <p:nvSpPr>
          <p:cNvPr id="14" name="說明卡1"/>
          <p:cNvSpPr/>
          <p:nvPr/>
        </p:nvSpPr>
        <p:spPr>
          <a:xfrm>
            <a:off x="548640" y="5018116"/>
            <a:ext cx="2649474" cy="1101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說明編號1"/>
          <p:cNvSpPr/>
          <p:nvPr/>
        </p:nvSpPr>
        <p:spPr>
          <a:xfrm>
            <a:off x="722375" y="5132416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6" name="說明標題1"/>
          <p:cNvSpPr txBox="1"/>
          <p:nvPr/>
        </p:nvSpPr>
        <p:spPr>
          <a:xfrm>
            <a:off x="1133856" y="5146132"/>
            <a:ext cx="192709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跨場館維運</a:t>
            </a:r>
          </a:p>
        </p:txBody>
      </p:sp>
      <p:sp>
        <p:nvSpPr>
          <p:cNvPr id="17" name="說明內文1"/>
          <p:cNvSpPr txBox="1"/>
          <p:nvPr/>
        </p:nvSpPr>
        <p:spPr>
          <a:xfrm>
            <a:off x="1133856" y="5438740"/>
            <a:ext cx="2064257" cy="589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平台管理員跨場館管理；目前只有一個場館，狀態為啟用中。</a:t>
            </a:r>
          </a:p>
        </p:txBody>
      </p:sp>
      <p:sp>
        <p:nvSpPr>
          <p:cNvPr id="18" name="說明卡2"/>
          <p:cNvSpPr/>
          <p:nvPr/>
        </p:nvSpPr>
        <p:spPr>
          <a:xfrm>
            <a:off x="3362706" y="5018116"/>
            <a:ext cx="2649474" cy="1101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說明編號2"/>
          <p:cNvSpPr/>
          <p:nvPr/>
        </p:nvSpPr>
        <p:spPr>
          <a:xfrm>
            <a:off x="3536442" y="5132416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20" name="說明標題2"/>
          <p:cNvSpPr txBox="1"/>
          <p:nvPr/>
        </p:nvSpPr>
        <p:spPr>
          <a:xfrm>
            <a:off x="3947922" y="5146132"/>
            <a:ext cx="192709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權限模式</a:t>
            </a:r>
          </a:p>
        </p:txBody>
      </p:sp>
      <p:sp>
        <p:nvSpPr>
          <p:cNvPr id="21" name="說明內文2"/>
          <p:cNvSpPr txBox="1"/>
          <p:nvPr/>
        </p:nvSpPr>
        <p:spPr>
          <a:xfrm>
            <a:off x="3947922" y="5438740"/>
            <a:ext cx="2064257" cy="589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簡化模式（授予即完整 CRUD），或勾選「啟用細項設定」逐項控制。</a:t>
            </a:r>
          </a:p>
        </p:txBody>
      </p:sp>
      <p:sp>
        <p:nvSpPr>
          <p:cNvPr id="22" name="說明卡3"/>
          <p:cNvSpPr/>
          <p:nvPr/>
        </p:nvSpPr>
        <p:spPr>
          <a:xfrm>
            <a:off x="6176772" y="5018116"/>
            <a:ext cx="2649474" cy="1101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說明編號3"/>
          <p:cNvSpPr/>
          <p:nvPr/>
        </p:nvSpPr>
        <p:spPr>
          <a:xfrm>
            <a:off x="6350507" y="5132416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24" name="說明標題3"/>
          <p:cNvSpPr txBox="1"/>
          <p:nvPr/>
        </p:nvSpPr>
        <p:spPr>
          <a:xfrm>
            <a:off x="6761988" y="5146132"/>
            <a:ext cx="192709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管理成員</a:t>
            </a:r>
          </a:p>
        </p:txBody>
      </p:sp>
      <p:sp>
        <p:nvSpPr>
          <p:cNvPr id="25" name="說明內文3"/>
          <p:cNvSpPr txBox="1"/>
          <p:nvPr/>
        </p:nvSpPr>
        <p:spPr>
          <a:xfrm>
            <a:off x="6761988" y="5438740"/>
            <a:ext cx="2064257" cy="589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為場館加成員、重設成員密碼；第一位管理員自動成為擁有者。</a:t>
            </a:r>
          </a:p>
        </p:txBody>
      </p:sp>
      <p:sp>
        <p:nvSpPr>
          <p:cNvPr id="26" name="說明卡4"/>
          <p:cNvSpPr/>
          <p:nvPr/>
        </p:nvSpPr>
        <p:spPr>
          <a:xfrm>
            <a:off x="8990838" y="5018116"/>
            <a:ext cx="2649474" cy="1101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說明編號4"/>
          <p:cNvSpPr/>
          <p:nvPr/>
        </p:nvSpPr>
        <p:spPr>
          <a:xfrm>
            <a:off x="9164574" y="5132416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8" name="說明標題4"/>
          <p:cNvSpPr txBox="1"/>
          <p:nvPr/>
        </p:nvSpPr>
        <p:spPr>
          <a:xfrm>
            <a:off x="9576054" y="5146132"/>
            <a:ext cx="192709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新增場館</a:t>
            </a:r>
          </a:p>
        </p:txBody>
      </p:sp>
      <p:sp>
        <p:nvSpPr>
          <p:cNvPr id="29" name="說明內文4"/>
          <p:cNvSpPr txBox="1"/>
          <p:nvPr/>
        </p:nvSpPr>
        <p:spPr>
          <a:xfrm>
            <a:off x="9576054" y="5438740"/>
            <a:ext cx="2064257" cy="589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建立新場館；第一位成員只能由平台這邊建立。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眉標"/>
          <p:cNvSpPr txBox="1"/>
          <p:nvPr/>
        </p:nvSpPr>
        <p:spPr>
          <a:xfrm>
            <a:off x="548640" y="265176"/>
            <a:ext cx="54315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TECO  /  智慧環境監控</a:t>
            </a:r>
          </a:p>
        </p:txBody>
      </p:sp>
      <p:sp>
        <p:nvSpPr>
          <p:cNvPr id="3" name="標題"/>
          <p:cNvSpPr txBox="1"/>
          <p:nvPr/>
        </p:nvSpPr>
        <p:spPr>
          <a:xfrm>
            <a:off x="548640" y="585216"/>
            <a:ext cx="110825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全部告警：三種來源，一張清單</a:t>
            </a:r>
          </a:p>
        </p:txBody>
      </p:sp>
      <p:sp>
        <p:nvSpPr>
          <p:cNvPr id="4" name="標題底線"/>
          <p:cNvSpPr/>
          <p:nvPr/>
        </p:nvSpPr>
        <p:spPr>
          <a:xfrm>
            <a:off x="548640" y="1271016"/>
            <a:ext cx="420624" cy="36576"/>
          </a:xfrm>
          <a:prstGeom prst="rect">
            <a:avLst/>
          </a:prstGeom>
          <a:solidFill>
            <a:srgbClr val="138C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副標"/>
          <p:cNvSpPr txBox="1"/>
          <p:nvPr/>
        </p:nvSpPr>
        <p:spPr>
          <a:xfrm>
            <a:off x="548640" y="1408176"/>
            <a:ext cx="1047902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後台右上角「告警通知」→「查看全部告警」  ·  模擬情境：DDC2 離線、3 台 FCU 過熱、冰水主機 2 硬體警報。</a:t>
            </a:r>
          </a:p>
        </p:txBody>
      </p:sp>
      <p:sp>
        <p:nvSpPr>
          <p:cNvPr id="6" name="頁尾"/>
          <p:cNvSpPr txBox="1"/>
          <p:nvPr/>
        </p:nvSpPr>
        <p:spPr>
          <a:xfrm>
            <a:off x="548640" y="6492240"/>
            <a:ext cx="80924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東元電機智慧環境監控系統  ·  2026.10</a:t>
            </a:r>
          </a:p>
        </p:txBody>
      </p:sp>
      <p:sp>
        <p:nvSpPr>
          <p:cNvPr id="7" name="頁碼"/>
          <p:cNvSpPr txBox="1"/>
          <p:nvPr/>
        </p:nvSpPr>
        <p:spPr>
          <a:xfrm>
            <a:off x="11183112" y="64556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pic>
        <p:nvPicPr>
          <p:cNvPr id="8" name="系統畫面：全部告警：三種來源，一張清單" descr="全部告警彈窗：六筆告警，包含 DDC2 離線、三台 FCU 室內溫度過高、冰水主機 2 的冰水流量異常與軸承溫度過高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967" y="1828800"/>
            <a:ext cx="7223760" cy="2869713"/>
          </a:xfrm>
          <a:prstGeom prst="rect">
            <a:avLst/>
          </a:prstGeom>
          <a:ln w="9525">
            <a:solidFill>
              <a:srgbClr val="D8E2E3"/>
            </a:solidFill>
          </a:ln>
        </p:spPr>
      </p:pic>
      <p:sp>
        <p:nvSpPr>
          <p:cNvPr id="9" name="標註1"/>
          <p:cNvSpPr/>
          <p:nvPr/>
        </p:nvSpPr>
        <p:spPr>
          <a:xfrm>
            <a:off x="4721742" y="2694646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標註2"/>
          <p:cNvSpPr/>
          <p:nvPr/>
        </p:nvSpPr>
        <p:spPr>
          <a:xfrm>
            <a:off x="8679967" y="2689074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1" name="標註3"/>
          <p:cNvSpPr/>
          <p:nvPr/>
        </p:nvSpPr>
        <p:spPr>
          <a:xfrm>
            <a:off x="8927356" y="3903826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2" name="資料來源說明"/>
          <p:cNvSpPr txBox="1"/>
          <p:nvPr/>
        </p:nvSpPr>
        <p:spPr>
          <a:xfrm>
            <a:off x="2483967" y="4762520"/>
            <a:ext cx="7223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擷取自 VM 測試環境（2026-10-06）・情境由設備模擬器產生，用來示範各種告警長什麼樣子</a:t>
            </a:r>
          </a:p>
        </p:txBody>
      </p:sp>
      <p:sp>
        <p:nvSpPr>
          <p:cNvPr id="13" name="說明卡1"/>
          <p:cNvSpPr/>
          <p:nvPr/>
        </p:nvSpPr>
        <p:spPr>
          <a:xfrm>
            <a:off x="548640" y="5082560"/>
            <a:ext cx="3587496" cy="1101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說明編號1"/>
          <p:cNvSpPr/>
          <p:nvPr/>
        </p:nvSpPr>
        <p:spPr>
          <a:xfrm>
            <a:off x="722375" y="5196860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5" name="說明標題1"/>
          <p:cNvSpPr txBox="1"/>
          <p:nvPr/>
        </p:nvSpPr>
        <p:spPr>
          <a:xfrm>
            <a:off x="1133856" y="5210576"/>
            <a:ext cx="28651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名稱與編號</a:t>
            </a:r>
          </a:p>
        </p:txBody>
      </p:sp>
      <p:sp>
        <p:nvSpPr>
          <p:cNvPr id="16" name="說明內文1"/>
          <p:cNvSpPr txBox="1"/>
          <p:nvPr/>
        </p:nvSpPr>
        <p:spPr>
          <a:xfrm>
            <a:off x="1133856" y="5503184"/>
            <a:ext cx="3002280" cy="589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名稱是客戶自訂代碼（沒填顯示「未設定」），編號是系統編號，供應商編號帶 DDC 前綴，供現場對照。</a:t>
            </a:r>
          </a:p>
        </p:txBody>
      </p:sp>
      <p:sp>
        <p:nvSpPr>
          <p:cNvPr id="17" name="說明卡2"/>
          <p:cNvSpPr/>
          <p:nvPr/>
        </p:nvSpPr>
        <p:spPr>
          <a:xfrm>
            <a:off x="4300728" y="5082560"/>
            <a:ext cx="3587496" cy="1101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說明編號2"/>
          <p:cNvSpPr/>
          <p:nvPr/>
        </p:nvSpPr>
        <p:spPr>
          <a:xfrm>
            <a:off x="4474463" y="5196860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說明標題2"/>
          <p:cNvSpPr txBox="1"/>
          <p:nvPr/>
        </p:nvSpPr>
        <p:spPr>
          <a:xfrm>
            <a:off x="4885944" y="5210576"/>
            <a:ext cx="28651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通訊離線</a:t>
            </a:r>
          </a:p>
        </p:txBody>
      </p:sp>
      <p:sp>
        <p:nvSpPr>
          <p:cNvPr id="20" name="說明內文2"/>
          <p:cNvSpPr txBox="1"/>
          <p:nvPr/>
        </p:nvSpPr>
        <p:spPr>
          <a:xfrm>
            <a:off x="4885944" y="5503184"/>
            <a:ext cx="3002280" cy="589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以「離線」徽章顯示，一條通道一筆（此例 DDC2）；連續 60 秒讀不到才開，恢復自動結案。</a:t>
            </a:r>
          </a:p>
        </p:txBody>
      </p:sp>
      <p:sp>
        <p:nvSpPr>
          <p:cNvPr id="21" name="說明卡3"/>
          <p:cNvSpPr/>
          <p:nvPr/>
        </p:nvSpPr>
        <p:spPr>
          <a:xfrm>
            <a:off x="8052816" y="5082560"/>
            <a:ext cx="3587496" cy="1101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說明編號3"/>
          <p:cNvSpPr/>
          <p:nvPr/>
        </p:nvSpPr>
        <p:spPr>
          <a:xfrm>
            <a:off x="8226551" y="5196860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23" name="說明標題3"/>
          <p:cNvSpPr txBox="1"/>
          <p:nvPr/>
        </p:nvSpPr>
        <p:spPr>
          <a:xfrm>
            <a:off x="8638032" y="5210576"/>
            <a:ext cx="28651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異常原因</a:t>
            </a:r>
          </a:p>
        </p:txBody>
      </p:sp>
      <p:sp>
        <p:nvSpPr>
          <p:cNvPr id="24" name="說明內文3"/>
          <p:cNvSpPr txBox="1"/>
          <p:nvPr/>
        </p:nvSpPr>
        <p:spPr>
          <a:xfrm>
            <a:off x="8638032" y="5503184"/>
            <a:ext cx="3002280" cy="589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FCU 室溫超出門檻、冰水主機硬體警報（流量、軸承溫度）顯示紅色並寫明原因。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眉標"/>
          <p:cNvSpPr txBox="1"/>
          <p:nvPr/>
        </p:nvSpPr>
        <p:spPr>
          <a:xfrm>
            <a:off x="548640" y="265176"/>
            <a:ext cx="54315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TECO  /  智慧環境監控</a:t>
            </a:r>
          </a:p>
        </p:txBody>
      </p:sp>
      <p:sp>
        <p:nvSpPr>
          <p:cNvPr id="3" name="標題"/>
          <p:cNvSpPr txBox="1"/>
          <p:nvPr/>
        </p:nvSpPr>
        <p:spPr>
          <a:xfrm>
            <a:off x="548640" y="585216"/>
            <a:ext cx="110825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FCU 運轉報表：查詢、檢視與匯出</a:t>
            </a:r>
          </a:p>
        </p:txBody>
      </p:sp>
      <p:sp>
        <p:nvSpPr>
          <p:cNvPr id="4" name="標題底線"/>
          <p:cNvSpPr/>
          <p:nvPr/>
        </p:nvSpPr>
        <p:spPr>
          <a:xfrm>
            <a:off x="548640" y="1271016"/>
            <a:ext cx="420624" cy="36576"/>
          </a:xfrm>
          <a:prstGeom prst="rect">
            <a:avLst/>
          </a:prstGeom>
          <a:solidFill>
            <a:srgbClr val="138C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副標"/>
          <p:cNvSpPr txBox="1"/>
          <p:nvPr/>
        </p:nvSpPr>
        <p:spPr>
          <a:xfrm>
            <a:off x="548640" y="1408176"/>
            <a:ext cx="1047902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路徑 /admin/reports/fcu  ·  另有冰水主機運轉報表與異常告警報表，操作方式相同。</a:t>
            </a:r>
          </a:p>
        </p:txBody>
      </p:sp>
      <p:sp>
        <p:nvSpPr>
          <p:cNvPr id="6" name="頁尾"/>
          <p:cNvSpPr txBox="1"/>
          <p:nvPr/>
        </p:nvSpPr>
        <p:spPr>
          <a:xfrm>
            <a:off x="548640" y="6492240"/>
            <a:ext cx="80924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東元電機智慧環境監控系統  ·  2026.10</a:t>
            </a:r>
          </a:p>
        </p:txBody>
      </p:sp>
      <p:sp>
        <p:nvSpPr>
          <p:cNvPr id="7" name="頁碼"/>
          <p:cNvSpPr txBox="1"/>
          <p:nvPr/>
        </p:nvSpPr>
        <p:spPr>
          <a:xfrm>
            <a:off x="11183112" y="64556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  <p:pic>
        <p:nvPicPr>
          <p:cNvPr id="8" name="系統畫面：FCU 運轉報表：查詢、檢視與匯出" descr="FCU 運轉報表畫面：上方篩選列，下方每小時一筆的室內溫度、風速、運轉模式與狀態表格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03720" cy="3883342"/>
          </a:xfrm>
          <a:prstGeom prst="rect">
            <a:avLst/>
          </a:prstGeom>
          <a:ln w="9525">
            <a:solidFill>
              <a:srgbClr val="D8E2E3"/>
            </a:solidFill>
          </a:ln>
        </p:spPr>
      </p:pic>
      <p:sp>
        <p:nvSpPr>
          <p:cNvPr id="9" name="標註1"/>
          <p:cNvSpPr/>
          <p:nvPr/>
        </p:nvSpPr>
        <p:spPr>
          <a:xfrm>
            <a:off x="5313121" y="2215891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標註2"/>
          <p:cNvSpPr/>
          <p:nvPr/>
        </p:nvSpPr>
        <p:spPr>
          <a:xfrm>
            <a:off x="6521272" y="2215891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1" name="標註3"/>
          <p:cNvSpPr/>
          <p:nvPr/>
        </p:nvSpPr>
        <p:spPr>
          <a:xfrm>
            <a:off x="6590309" y="2545975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2" name="標註4"/>
          <p:cNvSpPr/>
          <p:nvPr/>
        </p:nvSpPr>
        <p:spPr>
          <a:xfrm>
            <a:off x="3863339" y="3244977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3" name="說明卡1"/>
          <p:cNvSpPr/>
          <p:nvPr/>
        </p:nvSpPr>
        <p:spPr>
          <a:xfrm>
            <a:off x="7726680" y="1828800"/>
            <a:ext cx="39136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說明編號1"/>
          <p:cNvSpPr/>
          <p:nvPr/>
        </p:nvSpPr>
        <p:spPr>
          <a:xfrm>
            <a:off x="7900416" y="1943100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5" name="說明標題1"/>
          <p:cNvSpPr txBox="1"/>
          <p:nvPr/>
        </p:nvSpPr>
        <p:spPr>
          <a:xfrm>
            <a:off x="8311896" y="1956816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篩選條件</a:t>
            </a:r>
          </a:p>
        </p:txBody>
      </p:sp>
      <p:sp>
        <p:nvSpPr>
          <p:cNvPr id="16" name="說明內文1"/>
          <p:cNvSpPr txBox="1"/>
          <p:nvPr/>
        </p:nvSpPr>
        <p:spPr>
          <a:xfrm>
            <a:off x="8311896" y="2249424"/>
            <a:ext cx="327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可依樓層、設備、狀態與日期區間（日／週）查詢。</a:t>
            </a:r>
          </a:p>
        </p:txBody>
      </p:sp>
      <p:sp>
        <p:nvSpPr>
          <p:cNvPr id="17" name="說明卡2"/>
          <p:cNvSpPr/>
          <p:nvPr/>
        </p:nvSpPr>
        <p:spPr>
          <a:xfrm>
            <a:off x="7726680" y="2834640"/>
            <a:ext cx="3913631" cy="7269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說明編號2"/>
          <p:cNvSpPr/>
          <p:nvPr/>
        </p:nvSpPr>
        <p:spPr>
          <a:xfrm>
            <a:off x="7900416" y="2948940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說明標題2"/>
          <p:cNvSpPr txBox="1"/>
          <p:nvPr/>
        </p:nvSpPr>
        <p:spPr>
          <a:xfrm>
            <a:off x="8311896" y="2962656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兩種檢視</a:t>
            </a:r>
          </a:p>
        </p:txBody>
      </p:sp>
      <p:sp>
        <p:nvSpPr>
          <p:cNvPr id="20" name="說明內文2"/>
          <p:cNvSpPr txBox="1"/>
          <p:nvPr/>
        </p:nvSpPr>
        <p:spPr>
          <a:xfrm>
            <a:off x="8311896" y="3255264"/>
            <a:ext cx="3273551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表格與折線圖可切換。</a:t>
            </a:r>
          </a:p>
        </p:txBody>
      </p:sp>
      <p:sp>
        <p:nvSpPr>
          <p:cNvPr id="21" name="說明卡3"/>
          <p:cNvSpPr/>
          <p:nvPr/>
        </p:nvSpPr>
        <p:spPr>
          <a:xfrm>
            <a:off x="7726680" y="3653028"/>
            <a:ext cx="39136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說明編號3"/>
          <p:cNvSpPr/>
          <p:nvPr/>
        </p:nvSpPr>
        <p:spPr>
          <a:xfrm>
            <a:off x="7900416" y="3767327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23" name="說明標題3"/>
          <p:cNvSpPr txBox="1"/>
          <p:nvPr/>
        </p:nvSpPr>
        <p:spPr>
          <a:xfrm>
            <a:off x="8311896" y="3781044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匯出</a:t>
            </a:r>
          </a:p>
        </p:txBody>
      </p:sp>
      <p:sp>
        <p:nvSpPr>
          <p:cNvPr id="24" name="說明內文3"/>
          <p:cNvSpPr txBox="1"/>
          <p:nvPr/>
        </p:nvSpPr>
        <p:spPr>
          <a:xfrm>
            <a:off x="8311896" y="4073652"/>
            <a:ext cx="327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「匯出 Excel」下載目前查詢的結果。</a:t>
            </a:r>
          </a:p>
        </p:txBody>
      </p:sp>
      <p:sp>
        <p:nvSpPr>
          <p:cNvPr id="25" name="說明卡4"/>
          <p:cNvSpPr/>
          <p:nvPr/>
        </p:nvSpPr>
        <p:spPr>
          <a:xfrm>
            <a:off x="7726680" y="4658868"/>
            <a:ext cx="39136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說明編號4"/>
          <p:cNvSpPr/>
          <p:nvPr/>
        </p:nvSpPr>
        <p:spPr>
          <a:xfrm>
            <a:off x="7900416" y="4773168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7" name="說明標題4"/>
          <p:cNvSpPr txBox="1"/>
          <p:nvPr/>
        </p:nvSpPr>
        <p:spPr>
          <a:xfrm>
            <a:off x="8311896" y="4786884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彙總資料</a:t>
            </a:r>
          </a:p>
        </p:txBody>
      </p:sp>
      <p:sp>
        <p:nvSpPr>
          <p:cNvPr id="28" name="說明內文4"/>
          <p:cNvSpPr txBox="1"/>
          <p:nvPr/>
        </p:nvSpPr>
        <p:spPr>
          <a:xfrm>
            <a:off x="8311896" y="5079492"/>
            <a:ext cx="327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每小時一筆：室內溫度、風速、運轉模式與狀態；超出室溫上下限的數值標紅。</a:t>
            </a:r>
          </a:p>
        </p:txBody>
      </p:sp>
      <p:sp>
        <p:nvSpPr>
          <p:cNvPr id="29" name="資料來源說明"/>
          <p:cNvSpPr txBox="1"/>
          <p:nvPr/>
        </p:nvSpPr>
        <p:spPr>
          <a:xfrm>
            <a:off x="548640" y="5803582"/>
            <a:ext cx="6903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擷取自 VM 測試環境（2026-10-06）・資料由設備模擬器產生，所以各小時的室溫幾乎相同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眉標"/>
          <p:cNvSpPr txBox="1"/>
          <p:nvPr/>
        </p:nvSpPr>
        <p:spPr>
          <a:xfrm>
            <a:off x="548640" y="265176"/>
            <a:ext cx="54315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TECO  /  智慧環境監控</a:t>
            </a:r>
          </a:p>
        </p:txBody>
      </p:sp>
      <p:sp>
        <p:nvSpPr>
          <p:cNvPr id="3" name="標題"/>
          <p:cNvSpPr txBox="1"/>
          <p:nvPr/>
        </p:nvSpPr>
        <p:spPr>
          <a:xfrm>
            <a:off x="548640" y="585216"/>
            <a:ext cx="110825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系統診斷：全部正常時的樣子</a:t>
            </a:r>
          </a:p>
        </p:txBody>
      </p:sp>
      <p:sp>
        <p:nvSpPr>
          <p:cNvPr id="4" name="標題底線"/>
          <p:cNvSpPr/>
          <p:nvPr/>
        </p:nvSpPr>
        <p:spPr>
          <a:xfrm>
            <a:off x="548640" y="1271016"/>
            <a:ext cx="420624" cy="36576"/>
          </a:xfrm>
          <a:prstGeom prst="rect">
            <a:avLst/>
          </a:prstGeom>
          <a:solidFill>
            <a:srgbClr val="138C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副標"/>
          <p:cNvSpPr txBox="1"/>
          <p:nvPr/>
        </p:nvSpPr>
        <p:spPr>
          <a:xfrm>
            <a:off x="548640" y="1408176"/>
            <a:ext cx="1047902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路徑 /platform/diagnostics  ·  平台管理員專用，是現場接通驗證的主要工具。</a:t>
            </a:r>
          </a:p>
        </p:txBody>
      </p:sp>
      <p:sp>
        <p:nvSpPr>
          <p:cNvPr id="6" name="頁尾"/>
          <p:cNvSpPr txBox="1"/>
          <p:nvPr/>
        </p:nvSpPr>
        <p:spPr>
          <a:xfrm>
            <a:off x="548640" y="6492240"/>
            <a:ext cx="80924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東元電機智慧環境監控系統  ·  2026.10</a:t>
            </a:r>
          </a:p>
        </p:txBody>
      </p:sp>
      <p:sp>
        <p:nvSpPr>
          <p:cNvPr id="7" name="頁碼"/>
          <p:cNvSpPr txBox="1"/>
          <p:nvPr/>
        </p:nvSpPr>
        <p:spPr>
          <a:xfrm>
            <a:off x="11183112" y="64556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26</a:t>
            </a:r>
          </a:p>
        </p:txBody>
      </p:sp>
      <p:pic>
        <p:nvPicPr>
          <p:cNvPr id="8" name="系統畫面：系統診斷：全部正常時的樣子" descr="系統診斷畫面：總燈號正常、Collector 程序與三條通道卡片皆正常，下方為逐項檢查結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03720" cy="3817351"/>
          </a:xfrm>
          <a:prstGeom prst="rect">
            <a:avLst/>
          </a:prstGeom>
          <a:ln w="9525">
            <a:solidFill>
              <a:srgbClr val="D8E2E3"/>
            </a:solidFill>
          </a:ln>
        </p:spPr>
      </p:pic>
      <p:sp>
        <p:nvSpPr>
          <p:cNvPr id="9" name="標註1"/>
          <p:cNvSpPr/>
          <p:nvPr/>
        </p:nvSpPr>
        <p:spPr>
          <a:xfrm>
            <a:off x="4553711" y="1892793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標註2"/>
          <p:cNvSpPr/>
          <p:nvPr/>
        </p:nvSpPr>
        <p:spPr>
          <a:xfrm>
            <a:off x="2117104" y="2249384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1" name="標註3"/>
          <p:cNvSpPr/>
          <p:nvPr/>
        </p:nvSpPr>
        <p:spPr>
          <a:xfrm>
            <a:off x="2320155" y="3689463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2" name="標註4"/>
          <p:cNvSpPr/>
          <p:nvPr/>
        </p:nvSpPr>
        <p:spPr>
          <a:xfrm>
            <a:off x="5244083" y="1892793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3" name="說明卡1"/>
          <p:cNvSpPr/>
          <p:nvPr/>
        </p:nvSpPr>
        <p:spPr>
          <a:xfrm>
            <a:off x="7726680" y="1828800"/>
            <a:ext cx="39136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說明編號1"/>
          <p:cNvSpPr/>
          <p:nvPr/>
        </p:nvSpPr>
        <p:spPr>
          <a:xfrm>
            <a:off x="7900416" y="1943100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5" name="說明標題1"/>
          <p:cNvSpPr txBox="1"/>
          <p:nvPr/>
        </p:nvSpPr>
        <p:spPr>
          <a:xfrm>
            <a:off x="8311896" y="1956816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總燈號</a:t>
            </a:r>
          </a:p>
        </p:txBody>
      </p:sp>
      <p:sp>
        <p:nvSpPr>
          <p:cNvPr id="16" name="說明內文1"/>
          <p:cNvSpPr txBox="1"/>
          <p:nvPr/>
        </p:nvSpPr>
        <p:spPr>
          <a:xfrm>
            <a:off x="8311896" y="2249424"/>
            <a:ext cx="327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統計正常、需確認、異常、無法判斷各有幾項；每 5 秒自動更新。</a:t>
            </a:r>
          </a:p>
        </p:txBody>
      </p:sp>
      <p:sp>
        <p:nvSpPr>
          <p:cNvPr id="17" name="說明卡2"/>
          <p:cNvSpPr/>
          <p:nvPr/>
        </p:nvSpPr>
        <p:spPr>
          <a:xfrm>
            <a:off x="7726680" y="2834640"/>
            <a:ext cx="3913631" cy="1101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說明編號2"/>
          <p:cNvSpPr/>
          <p:nvPr/>
        </p:nvSpPr>
        <p:spPr>
          <a:xfrm>
            <a:off x="7900416" y="2948940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說明標題2"/>
          <p:cNvSpPr txBox="1"/>
          <p:nvPr/>
        </p:nvSpPr>
        <p:spPr>
          <a:xfrm>
            <a:off x="8311896" y="2962656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通道連線</a:t>
            </a:r>
          </a:p>
        </p:txBody>
      </p:sp>
      <p:sp>
        <p:nvSpPr>
          <p:cNvPr id="20" name="說明內文2"/>
          <p:cNvSpPr txBox="1"/>
          <p:nvPr/>
        </p:nvSpPr>
        <p:spPr>
          <a:xfrm>
            <a:off x="8311896" y="3255264"/>
            <a:ext cx="3273551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Collector 程序與三條通道（漢鐘 Gateway、DDC1、DDC2）的連線與讀取狀態。</a:t>
            </a:r>
          </a:p>
        </p:txBody>
      </p:sp>
      <p:sp>
        <p:nvSpPr>
          <p:cNvPr id="21" name="說明卡3"/>
          <p:cNvSpPr/>
          <p:nvPr/>
        </p:nvSpPr>
        <p:spPr>
          <a:xfrm>
            <a:off x="7726680" y="4027932"/>
            <a:ext cx="39136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說明編號3"/>
          <p:cNvSpPr/>
          <p:nvPr/>
        </p:nvSpPr>
        <p:spPr>
          <a:xfrm>
            <a:off x="7900416" y="4142231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23" name="說明標題3"/>
          <p:cNvSpPr txBox="1"/>
          <p:nvPr/>
        </p:nvSpPr>
        <p:spPr>
          <a:xfrm>
            <a:off x="8311896" y="4155948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逐項檢查</a:t>
            </a:r>
          </a:p>
        </p:txBody>
      </p:sp>
      <p:sp>
        <p:nvSpPr>
          <p:cNvPr id="24" name="說明內文3"/>
          <p:cNvSpPr txBox="1"/>
          <p:nvPr/>
        </p:nvSpPr>
        <p:spPr>
          <a:xfrm>
            <a:off x="8311896" y="4448556"/>
            <a:ext cx="327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推送、時間偏差、數值範圍、FCU 台數對照、資料是否寫進資料庫。</a:t>
            </a:r>
          </a:p>
        </p:txBody>
      </p:sp>
      <p:sp>
        <p:nvSpPr>
          <p:cNvPr id="25" name="說明卡4"/>
          <p:cNvSpPr/>
          <p:nvPr/>
        </p:nvSpPr>
        <p:spPr>
          <a:xfrm>
            <a:off x="7726680" y="5033772"/>
            <a:ext cx="3913631" cy="7269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說明編號4"/>
          <p:cNvSpPr/>
          <p:nvPr/>
        </p:nvSpPr>
        <p:spPr>
          <a:xfrm>
            <a:off x="7900416" y="5148072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7" name="說明標題4"/>
          <p:cNvSpPr txBox="1"/>
          <p:nvPr/>
        </p:nvSpPr>
        <p:spPr>
          <a:xfrm>
            <a:off x="8311896" y="5161788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自動更新</a:t>
            </a:r>
          </a:p>
        </p:txBody>
      </p:sp>
      <p:sp>
        <p:nvSpPr>
          <p:cNvPr id="28" name="說明內文4"/>
          <p:cNvSpPr txBox="1"/>
          <p:nvPr/>
        </p:nvSpPr>
        <p:spPr>
          <a:xfrm>
            <a:off x="8311896" y="5454396"/>
            <a:ext cx="3273551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可暫停，或按「立即更新」。</a:t>
            </a:r>
          </a:p>
        </p:txBody>
      </p:sp>
      <p:sp>
        <p:nvSpPr>
          <p:cNvPr id="29" name="資料來源說明"/>
          <p:cNvSpPr txBox="1"/>
          <p:nvPr/>
        </p:nvSpPr>
        <p:spPr>
          <a:xfrm>
            <a:off x="548640" y="5737591"/>
            <a:ext cx="6903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擷取自 VM 測試環境（2026-10-06）・畫面中的 IP（172.31.10.x）是測試環境的模擬設備；現場會是設備的實際位址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眉標"/>
          <p:cNvSpPr txBox="1"/>
          <p:nvPr/>
        </p:nvSpPr>
        <p:spPr>
          <a:xfrm>
            <a:off x="548640" y="265176"/>
            <a:ext cx="54315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38C88"/>
                </a:solidFill>
                <a:latin typeface="Arial Unicode MS"/>
                <a:ea typeface="Arial Unicode MS"/>
                <a:cs typeface="Arial Unicode MS"/>
              </a:rPr>
              <a:t>TECO  /  智慧環境監控</a:t>
            </a:r>
          </a:p>
        </p:txBody>
      </p:sp>
      <p:sp>
        <p:nvSpPr>
          <p:cNvPr id="3" name="標題"/>
          <p:cNvSpPr txBox="1"/>
          <p:nvPr/>
        </p:nvSpPr>
        <p:spPr>
          <a:xfrm>
            <a:off x="548640" y="585216"/>
            <a:ext cx="110825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5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系統診斷：DDC2 離線時的樣子</a:t>
            </a:r>
          </a:p>
        </p:txBody>
      </p:sp>
      <p:sp>
        <p:nvSpPr>
          <p:cNvPr id="4" name="標題底線"/>
          <p:cNvSpPr/>
          <p:nvPr/>
        </p:nvSpPr>
        <p:spPr>
          <a:xfrm>
            <a:off x="548640" y="1271016"/>
            <a:ext cx="420624" cy="36576"/>
          </a:xfrm>
          <a:prstGeom prst="rect">
            <a:avLst/>
          </a:prstGeom>
          <a:solidFill>
            <a:srgbClr val="138C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副標"/>
          <p:cNvSpPr txBox="1"/>
          <p:nvPr/>
        </p:nvSpPr>
        <p:spPr>
          <a:xfrm>
            <a:off x="548640" y="1408176"/>
            <a:ext cx="1047902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同一頁，模擬 DDC2 整台連不上  ·  用來示範怎麼從畫面找出哪一層出問題。</a:t>
            </a:r>
          </a:p>
        </p:txBody>
      </p:sp>
      <p:sp>
        <p:nvSpPr>
          <p:cNvPr id="6" name="頁尾"/>
          <p:cNvSpPr txBox="1"/>
          <p:nvPr/>
        </p:nvSpPr>
        <p:spPr>
          <a:xfrm>
            <a:off x="548640" y="6492240"/>
            <a:ext cx="80924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東元電機智慧環境監控系統  ·  2026.10</a:t>
            </a:r>
          </a:p>
        </p:txBody>
      </p:sp>
      <p:sp>
        <p:nvSpPr>
          <p:cNvPr id="7" name="頁碼"/>
          <p:cNvSpPr txBox="1"/>
          <p:nvPr/>
        </p:nvSpPr>
        <p:spPr>
          <a:xfrm>
            <a:off x="11183112" y="64556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27</a:t>
            </a:r>
          </a:p>
        </p:txBody>
      </p:sp>
      <p:pic>
        <p:nvPicPr>
          <p:cNvPr id="8" name="系統畫面：系統診斷：DDC2 離線時的樣子" descr="系統診斷畫面：總燈號異常，DDC2 卡片顯示連線失敗與未連線，Collector 顯示需確認，檢查表中 DDC2 的 FCU 一列為異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03720" cy="3817351"/>
          </a:xfrm>
          <a:prstGeom prst="rect">
            <a:avLst/>
          </a:prstGeom>
          <a:ln w="9525">
            <a:solidFill>
              <a:srgbClr val="D8E2E3"/>
            </a:solidFill>
          </a:ln>
        </p:spPr>
      </p:pic>
      <p:sp>
        <p:nvSpPr>
          <p:cNvPr id="9" name="標註1"/>
          <p:cNvSpPr/>
          <p:nvPr/>
        </p:nvSpPr>
        <p:spPr>
          <a:xfrm>
            <a:off x="3660289" y="1892793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標註2"/>
          <p:cNvSpPr/>
          <p:nvPr/>
        </p:nvSpPr>
        <p:spPr>
          <a:xfrm>
            <a:off x="6543607" y="2615118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1" name="標註3"/>
          <p:cNvSpPr/>
          <p:nvPr/>
        </p:nvSpPr>
        <p:spPr>
          <a:xfrm>
            <a:off x="2214569" y="2615118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2" name="標註4"/>
          <p:cNvSpPr/>
          <p:nvPr/>
        </p:nvSpPr>
        <p:spPr>
          <a:xfrm>
            <a:off x="3660289" y="5367269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3" name="說明卡1"/>
          <p:cNvSpPr/>
          <p:nvPr/>
        </p:nvSpPr>
        <p:spPr>
          <a:xfrm>
            <a:off x="7726680" y="1828800"/>
            <a:ext cx="39136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說明編號1"/>
          <p:cNvSpPr/>
          <p:nvPr/>
        </p:nvSpPr>
        <p:spPr>
          <a:xfrm>
            <a:off x="7900416" y="1943100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5" name="說明標題1"/>
          <p:cNvSpPr txBox="1"/>
          <p:nvPr/>
        </p:nvSpPr>
        <p:spPr>
          <a:xfrm>
            <a:off x="8311896" y="1956816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總燈號轉紅</a:t>
            </a:r>
          </a:p>
        </p:txBody>
      </p:sp>
      <p:sp>
        <p:nvSpPr>
          <p:cNvPr id="16" name="說明內文1"/>
          <p:cNvSpPr txBox="1"/>
          <p:nvPr/>
        </p:nvSpPr>
        <p:spPr>
          <a:xfrm>
            <a:off x="8311896" y="2249424"/>
            <a:ext cx="327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有異常時提示「依下方紅色項目逐一排查」。</a:t>
            </a:r>
          </a:p>
        </p:txBody>
      </p:sp>
      <p:sp>
        <p:nvSpPr>
          <p:cNvPr id="17" name="說明卡2"/>
          <p:cNvSpPr/>
          <p:nvPr/>
        </p:nvSpPr>
        <p:spPr>
          <a:xfrm>
            <a:off x="7726680" y="2834640"/>
            <a:ext cx="3913631" cy="1101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說明編號2"/>
          <p:cNvSpPr/>
          <p:nvPr/>
        </p:nvSpPr>
        <p:spPr>
          <a:xfrm>
            <a:off x="7900416" y="2948940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9" name="說明標題2"/>
          <p:cNvSpPr txBox="1"/>
          <p:nvPr/>
        </p:nvSpPr>
        <p:spPr>
          <a:xfrm>
            <a:off x="8311896" y="2962656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定位通道</a:t>
            </a:r>
          </a:p>
        </p:txBody>
      </p:sp>
      <p:sp>
        <p:nvSpPr>
          <p:cNvPr id="20" name="說明內文2"/>
          <p:cNvSpPr txBox="1"/>
          <p:nvPr/>
        </p:nvSpPr>
        <p:spPr>
          <a:xfrm>
            <a:off x="8311896" y="3255264"/>
            <a:ext cx="3273551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DDC2：連線失敗、未連線，最後成功讀取是 4 分鐘前；DDC1 與漢鐘仍正常。</a:t>
            </a:r>
          </a:p>
        </p:txBody>
      </p:sp>
      <p:sp>
        <p:nvSpPr>
          <p:cNvPr id="21" name="說明卡3"/>
          <p:cNvSpPr/>
          <p:nvPr/>
        </p:nvSpPr>
        <p:spPr>
          <a:xfrm>
            <a:off x="7726680" y="4027932"/>
            <a:ext cx="39136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說明編號3"/>
          <p:cNvSpPr/>
          <p:nvPr/>
        </p:nvSpPr>
        <p:spPr>
          <a:xfrm>
            <a:off x="7900416" y="4142231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23" name="說明標題3"/>
          <p:cNvSpPr txBox="1"/>
          <p:nvPr/>
        </p:nvSpPr>
        <p:spPr>
          <a:xfrm>
            <a:off x="8311896" y="4155948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Collector 需確認</a:t>
            </a:r>
          </a:p>
        </p:txBody>
      </p:sp>
      <p:sp>
        <p:nvSpPr>
          <p:cNvPr id="24" name="說明內文3"/>
          <p:cNvSpPr txBox="1"/>
          <p:nvPr/>
        </p:nvSpPr>
        <p:spPr>
          <a:xfrm>
            <a:off x="8311896" y="4448556"/>
            <a:ext cx="327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程序還活著，但至少一條通道超過 60 秒沒有成功讀取。</a:t>
            </a:r>
          </a:p>
        </p:txBody>
      </p:sp>
      <p:sp>
        <p:nvSpPr>
          <p:cNvPr id="25" name="說明卡4"/>
          <p:cNvSpPr/>
          <p:nvPr/>
        </p:nvSpPr>
        <p:spPr>
          <a:xfrm>
            <a:off x="7726680" y="5033772"/>
            <a:ext cx="39136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說明編號4"/>
          <p:cNvSpPr/>
          <p:nvPr/>
        </p:nvSpPr>
        <p:spPr>
          <a:xfrm>
            <a:off x="7900416" y="5148072"/>
            <a:ext cx="274320" cy="274320"/>
          </a:xfrm>
          <a:prstGeom prst="ellipse">
            <a:avLst/>
          </a:prstGeom>
          <a:solidFill>
            <a:srgbClr val="138C88"/>
          </a:solidFill>
          <a:ln w="222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7" name="說明標題4"/>
          <p:cNvSpPr txBox="1"/>
          <p:nvPr/>
        </p:nvSpPr>
        <p:spPr>
          <a:xfrm>
            <a:off x="8311896" y="5161788"/>
            <a:ext cx="319125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735"/>
                </a:solidFill>
                <a:latin typeface="Arial Unicode MS"/>
                <a:ea typeface="Arial Unicode MS"/>
                <a:cs typeface="Arial Unicode MS"/>
              </a:rPr>
              <a:t>影響範圍</a:t>
            </a:r>
          </a:p>
        </p:txBody>
      </p:sp>
      <p:sp>
        <p:nvSpPr>
          <p:cNvPr id="28" name="說明內文4"/>
          <p:cNvSpPr txBox="1"/>
          <p:nvPr/>
        </p:nvSpPr>
        <p:spPr>
          <a:xfrm>
            <a:off x="8311896" y="5454396"/>
            <a:ext cx="3273551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檢查表指出 DDC2 這一層 FCU 數值整層不可信。</a:t>
            </a:r>
          </a:p>
        </p:txBody>
      </p:sp>
      <p:sp>
        <p:nvSpPr>
          <p:cNvPr id="29" name="資料來源說明"/>
          <p:cNvSpPr txBox="1"/>
          <p:nvPr/>
        </p:nvSpPr>
        <p:spPr>
          <a:xfrm>
            <a:off x="548640" y="5737591"/>
            <a:ext cx="6903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87B86"/>
                </a:solidFill>
                <a:latin typeface="Arial Unicode MS"/>
                <a:ea typeface="Arial Unicode MS"/>
                <a:cs typeface="Arial Unicode MS"/>
              </a:rPr>
              <a:t>擷取自 VM 測試環境（2026-10-06）・情境由設備模擬器產生（DDC2 離線）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2026-10-06T07:19:22.5080000Z</dcterms:created>
  <dcterms:modified xsi:type="dcterms:W3CDTF">2026-10-06T07:19:22.5080000Z</dcterms:modified>
</coreProperties>
</file>