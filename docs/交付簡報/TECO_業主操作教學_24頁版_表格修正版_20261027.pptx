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5240000" cy="85725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96" d="100"/>
          <a:sy n="96" d="100"/>
        </p:scale>
        <p:origin x="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適用對象：業主值班人員、設備維護人員與場館管理者。此份文件提供教學與驗收紀錄格式，正式驗收結果須於現場完成測試後簽認。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endParaRPr/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教材以目前可見功能為準。畫面中的編輯與儲存按鈕會受帳號權限限制。設備數據、狀態與告警會隨時間改變。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endParaRPr/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區網網址與帳號來源：使用者本次提供。未將測試密碼寫入簡報。遠端維運網址只作本次截圖用途，不列作業主日常使用入口。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endParaRPr/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登入已於遠端系統成功驗證。公用電腦不勾選「記住我」。登入失敗時核對帳密或聯繫管理者。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登入。原始截圖：02-login.jpg。畫面數值僅代表擷取時點，設備資料是否為現場實測值尚未逐項核對。本次未變更設備設定、門檻、保養狀態、帳號或權限。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前台採唯讀監看。樓層與設備總覽會自動輪播，也可依畫面按鈕切換。當下 FCU 總數為 95 台，B1 64 台、B2 31 台。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登入。原始截圖：01-front.jpg。畫面數值僅代表擷取時點，設備資料是否為現場實測值尚未逐項核對。本次未變更設備設定、門檻、保養狀態、帳號或權限。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依前後台狀態徽章、告警面板及專案狀態規則整理。運轉率是當下設備狀態統計，不是耗電量或節能率。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endParaRPr/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登入。原始截圖：03-dashboard.jpg。畫面數值僅代表擷取時點，設備資料是否為現場實測值尚未逐項核對。本次未變更設備設定、門檻、保養狀態、帳號或權限。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依畫面與既有告警規則：有效告警清單顯示尚未解除的事件。一般溫度告警於條件恢復後自動解除，保養提醒需完成保養後登錄。系統內告警通知與現場處理應同時追蹤，不把讀值恢復直接當作設備維修完成。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登入。原始截圖：04-alarms.jpg。畫面數值僅代表擷取時點，設備資料是否為現場實測值尚未逐項核對。本次未變更設備設定、門檻、保養狀態、帳號或權限。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設備名稱可以依現場習慣命名，系統設備編號固定。此頁以監控與管理設定為主，教材不將告警門檻解釋成主機的運轉控制指令。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登入。原始截圖：05-chillers.jpg。畫面數值僅代表擷取時點，設備資料是否為現場實測值尚未逐項核對。本次未變更設備設定、門檻、保養狀態、帳號或權限。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僅開啟面板，未修改或儲存。主機停止時既有溫度告警會解除，硬體警報與保養提醒不受影響。暖機時間為介面提示的預設值，現場驗收應核對實際部署設定。來源另見 src/apps/monitoring/pages/admin/chiller/AdminChillerPage.vue 與 backend/CHANGELOG.md 2026-10-19 溫度告警段落。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登入。原始截圖：06-chiller-threshold.jpg。畫面數值僅代表擷取時點，設備資料是否為現場實測值尚未逐項核對。本次未變更設備設定、門檻、保養狀態、帳號或權限。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本次僅查看保養狀態，未按重置或確認。完成保養時可依系統要求填寫備註，儲存後核對保養紀錄與重新起算的狀態。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登入。原始截圖：07-maintenance.jpg。畫面數值僅代表擷取時點，設備資料是否為現場實測值尚未逐項核對。本次未變更設備設定、門檻、保養狀態、帳號或權限。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同一分區可能有多台 FCU，因此系統分區編號不能單獨當成唯一實體設備識別，現場請同時使用名稱與帶 DDC 的供應商編號。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登入。原始截圖：08-fcu.jpg。畫面數值僅代表擷取時點，設備資料是否為現場實測值尚未逐項核對。本次未變更設備設定、門檻、保養狀態、帳號或權限。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本次僅開啟面板，未變更設定。FCU 關機時不判定室溫告警，既有室溫告警自動解除。教材沒有宣稱此功能可改變 FCU 遙控器設定溫度、風速或開關。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登入。原始截圖：09-fcu-threshold.jpg。畫面數值僅代表擷取時點，設備資料是否為現場實測值尚未逐項核對。本次未變更設備設定、門檻、保養狀態、帳號或權限。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現行畫面 B1 66 台配置包含 64 台 FCU 與 2 台冰水主機。原簡報的 72 分區為舊版資訊，本次採現行畫面 77 分區。圖面位置仍須現場逐台核對。本次未移動設備或儲存配置。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登入。原始截圖：10-floor-b1.jpg。畫面數值僅代表擷取時點，設備資料是否為現場實測值尚未逐項核對。本次未變更設備設定、門檻、保養狀態、帳號或權限。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原簡報的 B2 41 區為舊版資訊，現行頁面為 46 區。本次沒有編輯權限，因此編輯及跨裝置儲存需於現場由有權限者另行驗收。遇到多人更新或版本衝突，應先重新讀取最新配置再操作，避免覆蓋他人調整。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登入。原始截圖：11-floor-b2.jpg。畫面數值僅代表擷取時點，設備資料是否為現場實測值尚未逐項核對。本次未變更設備設定、門檻、保養狀態、帳號或權限。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登入。原始截圖：12-floor-3d.jpg。畫面數值僅代表擷取時點，設備資料是否為現場實測值尚未逐項核對。本次未變更設備設定、門檻、保養狀態、帳號或權限。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本次已讀取當日每小時資料並切換折線圖。點擊匯出後下載未在本次流程完成確認，不能記作 Excel 匯出驗收通過。實作依目前查詢條件匯出全部結果，不限目前分頁，來源 src/apps/monitoring/pages/admin/_services/report-export.ts。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登入。原始截圖：13-fcu-report.jpg。畫面數值僅代表擷取時點，設備資料是否為現場實測值尚未逐項核對。本次未變更設備設定、門檻、保養狀態、帳號或權限。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示例為 2026-10-27 東側門 FCU 每小時室內溫度，不是全場節能成效或電力分析。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登入。原始截圖：14-fcu-chart.jpg。畫面數值僅代表擷取時點，設備資料是否為現場實測值尚未逐項核對。本次未變更設備設定、門檻、保養狀態、帳號或權限。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查詢結果為每小時報表。主機停止、負載為 0 時仍可能有水溫回報，不應只因水溫變化就推論主機正在運轉。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登入。原始截圖：15-chiller-report.jpg。畫面數值僅代表擷取時點，設備資料是否為現場實測值尚未逐項核對。本次未變更設備設定、門檻、保養狀態、帳號或權限。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本次畫面同時顯示有效與已排除事件。歷史告警數量不等於目前未解除告警數。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登入。原始截圖：16-alarm-report.jpg。畫面數值僅代表擷取時點，設備資料是否為現場實測值尚未逐項核對。本次未變更設備設定、門檻、保養狀態、帳號或權限。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 teco_admin 在使用者列表的身分為一般使用者，並具有多個功能權限，但空間配置為僅檢視。不要把右上角通用「管理員」字樣當成全權限證明。場館擁有者不能被刪除、停用或降級，其他管理員由擁有者管理。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登入。原始截圖：17-users.jpg。畫面數值僅代表擷取時點，設備資料是否為現場實測值尚未逐項核對。本次未變更設備設定、門檻、保養狀態、帳號或權限。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監控中心勾選時會帶入冰水主機管理與 FCU管理。全部功能勾選且都可編輯視為場館管理員。新增後由使用者保管其密碼，教材不公開密碼。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登入。原始截圖：18-user-features.jpg。畫面數值僅代表擷取時點，設備資料是否為現場實測值尚未逐項核對。本次未變更設備設定、門檻、保養狀態、帳號或權限。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本次可看到 teco_admin 的登入紀錄與先前設備名稱更新。IP 欄可能顯示代理或容器位址，不保證等於終端電腦位址，不將該欄單獨當作人員身分證明。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登入。原始截圖：19-operation-log.jpg。畫面數值僅代表擷取時點，設備資料是否為現場實測值尚未逐項核對。本次未變更設備設定、門檻、保養狀態、帳號或權限。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本次已執行登出並確認回到登入頁。沒有更改任何密碼。</a:t>
            </a:r>
          </a:p>
          <a:p>
            <a:endParaRPr/>
          </a:p>
          <a:p>
            <a:r>
              <a:t>參考來源：/Users/emmt-1246/Documents/projects/東元電機智慧環境監控/docs/TECO_智慧環境監控系統介紹與技術說明.pptx。</a:t>
            </a:r>
          </a:p>
          <a:p>
            <a:r>
              <a:t>實際畫面：2026-10-27，透過使用者指定的 Tailscale 網址 http://100.75.209.59:8081/ 擷取，使用 teco_admin 登入。原始截圖：20-account-menu.jpg。畫面數值僅代表擷取時點，設備資料是否為現場實測值尚未逐項核對。本次未變更設備設定、門檻、保養狀態、帳號或權限。</a:t>
            </a:r>
          </a:p>
          <a:p>
            <a:r>
              <a:t>教學與驗收結果不同。現場測試區網網址由使用者提供，本次未在業主區網端實測，不以遠端連通取代區網驗收。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CB5E15-4DB2-4177-BBF9-B8D5E053E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238500"/>
            <a:ext cx="12192000" cy="12382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2B279F6-9E62-44DC-9723-79C78202C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4714875"/>
            <a:ext cx="10668000" cy="952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6E1A801-72E6-40C2-88DD-7B66B0B2C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571875"/>
            <a:ext cx="12192000" cy="1428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93DB818-5C99-4397-AF5C-147A283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EFFDEAE-2278-4E52-914B-101B23F91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13525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EB43259-2683-4C4E-91F2-5A25BCA1C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D02C97A-68F0-46F0-BE79-BFDB93766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90853B0-E863-4078-80FE-C3E72BB5B41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096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6CD9143-5130-42D0-A9B5-50824DBB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666750"/>
            <a:ext cx="13525500" cy="104775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6E984C8-E884-4022-8339-B27022508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" y="2381250"/>
            <a:ext cx="6286500" cy="533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192.168.10.199:8081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192.168.10.199:8081/admi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14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CO">
            <a:extLst>
              <a:ext uri="{FF2B5EF4-FFF2-40B4-BE49-F238E27FC236}">
                <a16:creationId xmlns:a16="http://schemas.microsoft.com/office/drawing/2014/main" id="{CBE63EB7-C745-4A2E-8C4B-794D9FB6674A}"/>
              </a:ext>
            </a:extLst>
          </p:cNvPr>
          <p:cNvSpPr>
            <a:spLocks noGrp="1"/>
          </p:cNvSpPr>
          <p:nvPr/>
        </p:nvSpPr>
        <p:spPr>
          <a:xfrm>
            <a:off x="723900" y="619125"/>
            <a:ext cx="4762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4650" b="1">
                <a:solidFill>
                  <a:srgbClr val="78D5C5"/>
                </a:solidFill>
                <a:latin typeface="Heiti TC"/>
                <a:ea typeface="Heiti TC"/>
                <a:cs typeface="Heiti TC"/>
              </a:defRPr>
            </a:pPr>
            <a:r>
              <a:rPr sz="4650" b="1">
                <a:solidFill>
                  <a:srgbClr val="78D5C5"/>
                </a:solidFill>
                <a:latin typeface="Heiti TC"/>
                <a:ea typeface="Heiti TC"/>
                <a:cs typeface="Heiti TC"/>
              </a:rPr>
              <a:t>TECO</a:t>
            </a:r>
          </a:p>
        </p:txBody>
      </p:sp>
      <p:sp>
        <p:nvSpPr>
          <p:cNvPr id="2" name="東元電機&#10;智慧環境監控系統">
            <a:extLst>
              <a:ext uri="{FF2B5EF4-FFF2-40B4-BE49-F238E27FC236}">
                <a16:creationId xmlns:a16="http://schemas.microsoft.com/office/drawing/2014/main" id="{73DD6767-25F9-4A65-86DA-CC1648943AD4}"/>
              </a:ext>
            </a:extLst>
          </p:cNvPr>
          <p:cNvSpPr>
            <a:spLocks noGrp="1"/>
          </p:cNvSpPr>
          <p:nvPr/>
        </p:nvSpPr>
        <p:spPr>
          <a:xfrm>
            <a:off x="723900" y="2247900"/>
            <a:ext cx="13430250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58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東元電機</a:t>
            </a:r>
          </a:p>
          <a:p>
            <a:pPr>
              <a:buNone/>
              <a:defRPr sz="58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58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智慧環境監控系統</a:t>
            </a:r>
          </a:p>
        </p:txBody>
      </p:sp>
      <p:sp>
        <p:nvSpPr>
          <p:cNvPr id="3" name="業主操作教學與驗收說明">
            <a:extLst>
              <a:ext uri="{FF2B5EF4-FFF2-40B4-BE49-F238E27FC236}">
                <a16:creationId xmlns:a16="http://schemas.microsoft.com/office/drawing/2014/main" id="{D4F9BDB8-0326-465E-AD62-B7CD40F14457}"/>
              </a:ext>
            </a:extLst>
          </p:cNvPr>
          <p:cNvSpPr>
            <a:spLocks noGrp="1"/>
          </p:cNvSpPr>
          <p:nvPr/>
        </p:nvSpPr>
        <p:spPr>
          <a:xfrm>
            <a:off x="762000" y="4800600"/>
            <a:ext cx="12954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375" b="0">
                <a:solidFill>
                  <a:srgbClr val="B9E7DF"/>
                </a:solidFill>
                <a:latin typeface="Heiti TC"/>
                <a:ea typeface="Heiti TC"/>
                <a:cs typeface="Heiti TC"/>
              </a:defRPr>
            </a:pPr>
            <a:r>
              <a:rPr sz="3375" b="0">
                <a:solidFill>
                  <a:srgbClr val="B9E7DF"/>
                </a:solidFill>
                <a:latin typeface="Heiti TC"/>
                <a:ea typeface="Heiti TC"/>
                <a:cs typeface="Heiti TC"/>
              </a:rPr>
              <a:t>業主操作教學與驗收說明</a:t>
            </a:r>
          </a:p>
        </p:txBody>
      </p:sp>
      <p:sp>
        <p:nvSpPr>
          <p:cNvPr id="4" name="現場測試區網版本">
            <a:extLst>
              <a:ext uri="{FF2B5EF4-FFF2-40B4-BE49-F238E27FC236}">
                <a16:creationId xmlns:a16="http://schemas.microsoft.com/office/drawing/2014/main" id="{041E10BC-872D-4F33-966D-0CA008EED9A6}"/>
              </a:ext>
            </a:extLst>
          </p:cNvPr>
          <p:cNvSpPr>
            <a:spLocks noGrp="1"/>
          </p:cNvSpPr>
          <p:nvPr/>
        </p:nvSpPr>
        <p:spPr>
          <a:xfrm>
            <a:off x="762000" y="6534150"/>
            <a:ext cx="12954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現場測試區網版本</a:t>
            </a:r>
          </a:p>
        </p:txBody>
      </p:sp>
      <p:sp>
        <p:nvSpPr>
          <p:cNvPr id="5" name="文件日期　2026 年 10 月 27 日">
            <a:extLst>
              <a:ext uri="{FF2B5EF4-FFF2-40B4-BE49-F238E27FC236}">
                <a16:creationId xmlns:a16="http://schemas.microsoft.com/office/drawing/2014/main" id="{B1A391AB-2E2A-4727-9121-09E21CE4C85E}"/>
              </a:ext>
            </a:extLst>
          </p:cNvPr>
          <p:cNvSpPr>
            <a:spLocks noGrp="1"/>
          </p:cNvSpPr>
          <p:nvPr/>
        </p:nvSpPr>
        <p:spPr>
          <a:xfrm>
            <a:off x="762000" y="7153275"/>
            <a:ext cx="12954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BDCCD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BDCCD6"/>
                </a:solidFill>
                <a:latin typeface="Heiti TC"/>
                <a:ea typeface="Heiti TC"/>
                <a:cs typeface="Heiti TC"/>
              </a:rPr>
              <a:t>文件日期　2026 年 10 月 27 日</a:t>
            </a:r>
          </a:p>
        </p:txBody>
      </p:sp>
    </p:spTree>
    <p:extLst>
      <p:ext uri="{BB962C8B-B14F-4D97-AF65-F5344CB8AC3E}">
        <p14:creationId xmlns:p14="http://schemas.microsoft.com/office/powerpoint/2010/main" val="41954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CC3D33EA-B523-4589-8BF7-3A98725DCBC2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使用前說明">
            <a:extLst>
              <a:ext uri="{FF2B5EF4-FFF2-40B4-BE49-F238E27FC236}">
                <a16:creationId xmlns:a16="http://schemas.microsoft.com/office/drawing/2014/main" id="{D59C38DE-E01B-40BC-A449-74AFD9872BF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使用前說明</a:t>
            </a:r>
          </a:p>
        </p:txBody>
      </p:sp>
      <p:sp>
        <p:nvSpPr>
          <p:cNvPr id="3" name="教學範圍與使用方式">
            <a:extLst>
              <a:ext uri="{FF2B5EF4-FFF2-40B4-BE49-F238E27FC236}">
                <a16:creationId xmlns:a16="http://schemas.microsoft.com/office/drawing/2014/main" id="{D8C35801-7D54-40A1-B72D-5E0D6099BC6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教學範圍與使用方式</a:t>
            </a:r>
          </a:p>
        </p:txBody>
      </p:sp>
      <p:sp>
        <p:nvSpPr>
          <p:cNvPr id="4" name="東元電機智慧環境監控系統　業主操作教學與驗收說明">
            <a:extLst>
              <a:ext uri="{FF2B5EF4-FFF2-40B4-BE49-F238E27FC236}">
                <a16:creationId xmlns:a16="http://schemas.microsoft.com/office/drawing/2014/main" id="{2DB0EBE8-B99B-449A-8222-6064C480798E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0F796FE1-E695-402E-84C7-305837582B52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6" name="01">
            <a:extLst>
              <a:ext uri="{FF2B5EF4-FFF2-40B4-BE49-F238E27FC236}">
                <a16:creationId xmlns:a16="http://schemas.microsoft.com/office/drawing/2014/main" id="{AAEF829E-FC64-44C8-BE79-B79754DF611C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7" name="日常監看">
            <a:extLst>
              <a:ext uri="{FF2B5EF4-FFF2-40B4-BE49-F238E27FC236}">
                <a16:creationId xmlns:a16="http://schemas.microsoft.com/office/drawing/2014/main" id="{8A4796FF-03F4-4C33-9A99-3D78A3DC43E6}"/>
              </a:ext>
            </a:extLst>
          </p:cNvPr>
          <p:cNvSpPr>
            <a:spLocks noGrp="1"/>
          </p:cNvSpPr>
          <p:nvPr/>
        </p:nvSpPr>
        <p:spPr>
          <a:xfrm>
            <a:off x="1809750" y="213360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日常監看</a:t>
            </a:r>
          </a:p>
        </p:txBody>
      </p:sp>
      <p:sp>
        <p:nvSpPr>
          <p:cNvPr id="8" name="前台大螢幕、後台監控中心、設備狀態與即時告警">
            <a:extLst>
              <a:ext uri="{FF2B5EF4-FFF2-40B4-BE49-F238E27FC236}">
                <a16:creationId xmlns:a16="http://schemas.microsoft.com/office/drawing/2014/main" id="{82F5B35E-3D65-46E1-9AD6-3C2AF8E179DD}"/>
              </a:ext>
            </a:extLst>
          </p:cNvPr>
          <p:cNvSpPr>
            <a:spLocks noGrp="1"/>
          </p:cNvSpPr>
          <p:nvPr/>
        </p:nvSpPr>
        <p:spPr>
          <a:xfrm>
            <a:off x="4857750" y="2152650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前台大螢幕、後台監控中心、設備狀態與即時告警</a:t>
            </a:r>
          </a:p>
        </p:txBody>
      </p:sp>
      <p:sp>
        <p:nvSpPr>
          <p:cNvPr id="9" name="02">
            <a:extLst>
              <a:ext uri="{FF2B5EF4-FFF2-40B4-BE49-F238E27FC236}">
                <a16:creationId xmlns:a16="http://schemas.microsoft.com/office/drawing/2014/main" id="{B7E79198-10B2-4F15-B84A-5B0989CFC9EF}"/>
              </a:ext>
            </a:extLst>
          </p:cNvPr>
          <p:cNvSpPr>
            <a:spLocks noGrp="1"/>
          </p:cNvSpPr>
          <p:nvPr/>
        </p:nvSpPr>
        <p:spPr>
          <a:xfrm>
            <a:off x="666750" y="34671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0" name="管理操作">
            <a:extLst>
              <a:ext uri="{FF2B5EF4-FFF2-40B4-BE49-F238E27FC236}">
                <a16:creationId xmlns:a16="http://schemas.microsoft.com/office/drawing/2014/main" id="{A4BA15C4-9E4B-4FB0-8748-79A0047CC21C}"/>
              </a:ext>
            </a:extLst>
          </p:cNvPr>
          <p:cNvSpPr>
            <a:spLocks noGrp="1"/>
          </p:cNvSpPr>
          <p:nvPr/>
        </p:nvSpPr>
        <p:spPr>
          <a:xfrm>
            <a:off x="1809750" y="346710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管理操作</a:t>
            </a:r>
          </a:p>
        </p:txBody>
      </p:sp>
      <p:sp>
        <p:nvSpPr>
          <p:cNvPr id="11" name="設備名稱、告警門檻、保養、空間檢視與使用者權限">
            <a:extLst>
              <a:ext uri="{FF2B5EF4-FFF2-40B4-BE49-F238E27FC236}">
                <a16:creationId xmlns:a16="http://schemas.microsoft.com/office/drawing/2014/main" id="{1F3DAF95-FB14-4939-AD01-A73A4A1ACAD0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設備名稱、告警門檻、保養、空間檢視與使用者權限</a:t>
            </a:r>
          </a:p>
        </p:txBody>
      </p:sp>
      <p:sp>
        <p:nvSpPr>
          <p:cNvPr id="12" name="03">
            <a:extLst>
              <a:ext uri="{FF2B5EF4-FFF2-40B4-BE49-F238E27FC236}">
                <a16:creationId xmlns:a16="http://schemas.microsoft.com/office/drawing/2014/main" id="{0D260B95-6F17-44E9-9C1E-D8B08E56DAEA}"/>
              </a:ext>
            </a:extLst>
          </p:cNvPr>
          <p:cNvSpPr>
            <a:spLocks noGrp="1"/>
          </p:cNvSpPr>
          <p:nvPr/>
        </p:nvSpPr>
        <p:spPr>
          <a:xfrm>
            <a:off x="666750" y="48006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3" name="查詢留存">
            <a:extLst>
              <a:ext uri="{FF2B5EF4-FFF2-40B4-BE49-F238E27FC236}">
                <a16:creationId xmlns:a16="http://schemas.microsoft.com/office/drawing/2014/main" id="{E7328FBB-6492-4EAB-B5C2-493DF3CFB2FD}"/>
              </a:ext>
            </a:extLst>
          </p:cNvPr>
          <p:cNvSpPr>
            <a:spLocks noGrp="1"/>
          </p:cNvSpPr>
          <p:nvPr/>
        </p:nvSpPr>
        <p:spPr>
          <a:xfrm>
            <a:off x="1809750" y="480060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查詢留存</a:t>
            </a:r>
          </a:p>
        </p:txBody>
      </p:sp>
      <p:sp>
        <p:nvSpPr>
          <p:cNvPr id="14" name="FCU、冰水主機、異常告警報表，以及操作紀錄">
            <a:extLst>
              <a:ext uri="{FF2B5EF4-FFF2-40B4-BE49-F238E27FC236}">
                <a16:creationId xmlns:a16="http://schemas.microsoft.com/office/drawing/2014/main" id="{E94C5EB7-C396-461F-9C10-6D36F5AD5FA3}"/>
              </a:ext>
            </a:extLst>
          </p:cNvPr>
          <p:cNvSpPr>
            <a:spLocks noGrp="1"/>
          </p:cNvSpPr>
          <p:nvPr/>
        </p:nvSpPr>
        <p:spPr>
          <a:xfrm>
            <a:off x="4857750" y="4819650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FCU、冰水主機、異常告警報表，以及操作紀錄</a:t>
            </a:r>
          </a:p>
        </p:txBody>
      </p:sp>
      <p:sp>
        <p:nvSpPr>
          <p:cNvPr id="15" name="04">
            <a:extLst>
              <a:ext uri="{FF2B5EF4-FFF2-40B4-BE49-F238E27FC236}">
                <a16:creationId xmlns:a16="http://schemas.microsoft.com/office/drawing/2014/main" id="{619B78BF-92CB-4460-A2AC-87A562356848}"/>
              </a:ext>
            </a:extLst>
          </p:cNvPr>
          <p:cNvSpPr>
            <a:spLocks noGrp="1"/>
          </p:cNvSpPr>
          <p:nvPr/>
        </p:nvSpPr>
        <p:spPr>
          <a:xfrm>
            <a:off x="666750" y="6134100"/>
            <a:ext cx="857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1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16" name="驗收紀錄">
            <a:extLst>
              <a:ext uri="{FF2B5EF4-FFF2-40B4-BE49-F238E27FC236}">
                <a16:creationId xmlns:a16="http://schemas.microsoft.com/office/drawing/2014/main" id="{D15CC0DD-0370-414B-8FE2-BDF929EE76AF}"/>
              </a:ext>
            </a:extLst>
          </p:cNvPr>
          <p:cNvSpPr>
            <a:spLocks noGrp="1"/>
          </p:cNvSpPr>
          <p:nvPr/>
        </p:nvSpPr>
        <p:spPr>
          <a:xfrm>
            <a:off x="1809750" y="613410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700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驗收紀錄</a:t>
            </a:r>
          </a:p>
        </p:txBody>
      </p:sp>
      <p:sp>
        <p:nvSpPr>
          <p:cNvPr id="17" name="區網連線、讀值核對、功能測試與交接簽認">
            <a:extLst>
              <a:ext uri="{FF2B5EF4-FFF2-40B4-BE49-F238E27FC236}">
                <a16:creationId xmlns:a16="http://schemas.microsoft.com/office/drawing/2014/main" id="{3DB401AA-65A8-45F9-95A8-1C5F1D50EC26}"/>
              </a:ext>
            </a:extLst>
          </p:cNvPr>
          <p:cNvSpPr>
            <a:spLocks noGrp="1"/>
          </p:cNvSpPr>
          <p:nvPr/>
        </p:nvSpPr>
        <p:spPr>
          <a:xfrm>
            <a:off x="4857750" y="6153150"/>
            <a:ext cx="9334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2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區網連線、讀值核對、功能測試與交接簽認</a:t>
            </a:r>
          </a:p>
        </p:txBody>
      </p:sp>
    </p:spTree>
    <p:extLst>
      <p:ext uri="{BB962C8B-B14F-4D97-AF65-F5344CB8AC3E}">
        <p14:creationId xmlns:p14="http://schemas.microsoft.com/office/powerpoint/2010/main" val="183578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CO  /  智慧環境監控">
            <a:extLst>
              <a:ext uri="{FF2B5EF4-FFF2-40B4-BE49-F238E27FC236}">
                <a16:creationId xmlns:a16="http://schemas.microsoft.com/office/drawing/2014/main" id="{A298DCFD-902D-46E3-BB60-7AA1E1ECDAAC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系統入口">
            <a:extLst>
              <a:ext uri="{FF2B5EF4-FFF2-40B4-BE49-F238E27FC236}">
                <a16:creationId xmlns:a16="http://schemas.microsoft.com/office/drawing/2014/main" id="{E38ABDBB-3611-41FC-9865-526D31945815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系統入口</a:t>
            </a:r>
          </a:p>
        </p:txBody>
      </p:sp>
      <p:sp>
        <p:nvSpPr>
          <p:cNvPr id="3" name="現場測試區網網址">
            <a:extLst>
              <a:ext uri="{FF2B5EF4-FFF2-40B4-BE49-F238E27FC236}">
                <a16:creationId xmlns:a16="http://schemas.microsoft.com/office/drawing/2014/main" id="{F3E9E83B-8FB9-4C0E-AAF6-BED8FEF4D6E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現場測試區網網址</a:t>
            </a:r>
          </a:p>
        </p:txBody>
      </p:sp>
      <p:sp>
        <p:nvSpPr>
          <p:cNvPr id="4" name="業主電腦須連接現場允許的區域網路，使用瀏覽器開啟以下網址">
            <a:extLst>
              <a:ext uri="{FF2B5EF4-FFF2-40B4-BE49-F238E27FC236}">
                <a16:creationId xmlns:a16="http://schemas.microsoft.com/office/drawing/2014/main" id="{326DB746-70F3-4BDC-BF22-86F60EE2E8B4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業主電腦須連接現場允許的區域網路，使用瀏覽器開啟以下網址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CB6617CA-57C0-4B83-9D90-4DC945AA8E60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3">
            <a:extLst>
              <a:ext uri="{FF2B5EF4-FFF2-40B4-BE49-F238E27FC236}">
                <a16:creationId xmlns:a16="http://schemas.microsoft.com/office/drawing/2014/main" id="{D4FA7D95-A15B-4DD6-ACBC-57CA16399786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7" name="前台監控大螢幕">
            <a:extLst>
              <a:ext uri="{FF2B5EF4-FFF2-40B4-BE49-F238E27FC236}">
                <a16:creationId xmlns:a16="http://schemas.microsoft.com/office/drawing/2014/main" id="{A70B9D22-0FD3-4C26-A7FD-FDEFE7FE445F}"/>
              </a:ext>
            </a:extLst>
          </p:cNvPr>
          <p:cNvSpPr>
            <a:spLocks noGrp="1"/>
          </p:cNvSpPr>
          <p:nvPr/>
        </p:nvSpPr>
        <p:spPr>
          <a:xfrm>
            <a:off x="571500" y="2419350"/>
            <a:ext cx="1409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前台監控大螢幕</a:t>
            </a:r>
          </a:p>
        </p:txBody>
      </p:sp>
      <p:sp>
        <p:nvSpPr>
          <p:cNvPr id="8" name="http://192.168.10.199:8081">
            <a:extLst>
              <a:ext uri="{FF2B5EF4-FFF2-40B4-BE49-F238E27FC236}">
                <a16:creationId xmlns:a16="http://schemas.microsoft.com/office/drawing/2014/main" id="{CE0A60D3-5CD4-4E98-AFC1-014AD369DF01}"/>
              </a:ext>
            </a:extLst>
          </p:cNvPr>
          <p:cNvSpPr>
            <a:spLocks noGrp="1"/>
          </p:cNvSpPr>
          <p:nvPr/>
        </p:nvSpPr>
        <p:spPr>
          <a:xfrm>
            <a:off x="571500" y="3048000"/>
            <a:ext cx="1409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9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975" b="1">
                <a:solidFill>
                  <a:srgbClr val="143149"/>
                </a:solidFill>
                <a:latin typeface="Heiti TC"/>
                <a:ea typeface="Heiti TC"/>
                <a:cs typeface="Heiti TC"/>
                <a:hlinkClick r:id="rId3"/>
              </a:rPr>
              <a:t>http://192.168.10.199:8081</a:t>
            </a:r>
          </a:p>
        </p:txBody>
      </p:sp>
      <p:sp>
        <p:nvSpPr>
          <p:cNvPr id="9" name="提供即時監看，不需登入">
            <a:extLst>
              <a:ext uri="{FF2B5EF4-FFF2-40B4-BE49-F238E27FC236}">
                <a16:creationId xmlns:a16="http://schemas.microsoft.com/office/drawing/2014/main" id="{59037A7D-5772-4E82-A1D9-A60C6872492B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409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提供即時監看，不需登入</a:t>
            </a:r>
          </a:p>
        </p:txBody>
      </p:sp>
      <p:sp>
        <p:nvSpPr>
          <p:cNvPr id="10" name="後台管理系統">
            <a:extLst>
              <a:ext uri="{FF2B5EF4-FFF2-40B4-BE49-F238E27FC236}">
                <a16:creationId xmlns:a16="http://schemas.microsoft.com/office/drawing/2014/main" id="{AB39EFE0-5895-45E0-BEA3-7FC25765C437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1409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5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後台管理系統</a:t>
            </a:r>
          </a:p>
        </p:txBody>
      </p:sp>
      <p:sp>
        <p:nvSpPr>
          <p:cNvPr id="11" name="http://192.168.10.199:8081/adm">
            <a:extLst>
              <a:ext uri="{FF2B5EF4-FFF2-40B4-BE49-F238E27FC236}">
                <a16:creationId xmlns:a16="http://schemas.microsoft.com/office/drawing/2014/main" id="{64A745D8-F25B-406C-88FC-99742227B73F}"/>
              </a:ext>
            </a:extLst>
          </p:cNvPr>
          <p:cNvSpPr>
            <a:spLocks noGrp="1"/>
          </p:cNvSpPr>
          <p:nvPr/>
        </p:nvSpPr>
        <p:spPr>
          <a:xfrm>
            <a:off x="571500" y="5657850"/>
            <a:ext cx="14097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  <a:hlinkClick r:id="rId4"/>
              </a:rPr>
              <a:t>http://192.168.10.199:8081/admin</a:t>
            </a:r>
          </a:p>
        </p:txBody>
      </p:sp>
      <p:sp>
        <p:nvSpPr>
          <p:cNvPr id="12" name="帳號 teco_admin，密碼依交付資料登入">
            <a:extLst>
              <a:ext uri="{FF2B5EF4-FFF2-40B4-BE49-F238E27FC236}">
                <a16:creationId xmlns:a16="http://schemas.microsoft.com/office/drawing/2014/main" id="{7EBC3898-06A3-4EBB-8850-BABB881CE66C}"/>
              </a:ext>
            </a:extLst>
          </p:cNvPr>
          <p:cNvSpPr>
            <a:spLocks noGrp="1"/>
          </p:cNvSpPr>
          <p:nvPr/>
        </p:nvSpPr>
        <p:spPr>
          <a:xfrm>
            <a:off x="571500" y="6524625"/>
            <a:ext cx="1409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 dirty="0" err="1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帳號</a:t>
            </a:r>
            <a:r>
              <a:rPr sz="2175" b="0" dirty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 </a:t>
            </a:r>
            <a:r>
              <a:rPr sz="2175" b="0" dirty="0" err="1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teco_admin，密碼</a:t>
            </a:r>
            <a:r>
              <a:rPr lang="zh-TW" altLang="en-US" sz="2175" b="0" dirty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 </a:t>
            </a:r>
            <a:r>
              <a:rPr lang="en-US" altLang="zh-TW" sz="2175" b="0" dirty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123456</a:t>
            </a:r>
            <a:endParaRPr sz="2175" b="0" dirty="0">
              <a:solidFill>
                <a:srgbClr val="354A5B"/>
              </a:solidFill>
              <a:latin typeface="Heiti TC"/>
              <a:ea typeface="Heiti TC"/>
              <a:cs typeface="Heiti TC"/>
            </a:endParaRPr>
          </a:p>
        </p:txBody>
      </p:sp>
      <p:sp>
        <p:nvSpPr>
          <p:cNvPr id="13" name="這是現場區網入口，無法以一般外部網路直接使用。區網連通請於現">
            <a:extLst>
              <a:ext uri="{FF2B5EF4-FFF2-40B4-BE49-F238E27FC236}">
                <a16:creationId xmlns:a16="http://schemas.microsoft.com/office/drawing/2014/main" id="{ABC65771-5EF8-4163-BA10-20B0D733DD31}"/>
              </a:ext>
            </a:extLst>
          </p:cNvPr>
          <p:cNvSpPr>
            <a:spLocks noGrp="1"/>
          </p:cNvSpPr>
          <p:nvPr/>
        </p:nvSpPr>
        <p:spPr>
          <a:xfrm>
            <a:off x="571500" y="7372350"/>
            <a:ext cx="140970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75" b="0" dirty="0" err="1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這是現場區網入口，無法以一般外部網路直接使用。區網連通請於現場驗收</a:t>
            </a:r>
            <a:r>
              <a:rPr sz="1875" b="0" dirty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9356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D663C950-231B-4FAD-B15A-277014E6B643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90F22385-433B-46FE-9ACD-A6D4ADF4EE6C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後台登入">
            <a:extLst>
              <a:ext uri="{FF2B5EF4-FFF2-40B4-BE49-F238E27FC236}">
                <a16:creationId xmlns:a16="http://schemas.microsoft.com/office/drawing/2014/main" id="{D71491F5-1558-4838-BF25-005474352C41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後台登入</a:t>
            </a:r>
          </a:p>
        </p:txBody>
      </p:sp>
      <p:sp>
        <p:nvSpPr>
          <p:cNvPr id="4" name="前台可直接監看，後台需通過帳號驗證">
            <a:extLst>
              <a:ext uri="{FF2B5EF4-FFF2-40B4-BE49-F238E27FC236}">
                <a16:creationId xmlns:a16="http://schemas.microsoft.com/office/drawing/2014/main" id="{1423B046-4ED1-4118-9705-A9DDF2BF237E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前台可直接監看，後台需通過帳號驗證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6EBF430F-7C33-4524-8E5B-E4EC1CDDEAC0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4">
            <a:extLst>
              <a:ext uri="{FF2B5EF4-FFF2-40B4-BE49-F238E27FC236}">
                <a16:creationId xmlns:a16="http://schemas.microsoft.com/office/drawing/2014/main" id="{09FE78EB-E06A-4403-A41E-B46976345AF0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F09033D-2965-4EFF-B477-FD089032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81263" y="2047875"/>
            <a:ext cx="6086475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54F7272C-B07A-4C24-A3E8-4252E9719601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開啟後台網址">
            <a:extLst>
              <a:ext uri="{FF2B5EF4-FFF2-40B4-BE49-F238E27FC236}">
                <a16:creationId xmlns:a16="http://schemas.microsoft.com/office/drawing/2014/main" id="{AD53BEC0-CD60-4827-80B5-353461049BAC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開啟後台網址</a:t>
            </a:r>
          </a:p>
        </p:txBody>
      </p:sp>
      <p:sp>
        <p:nvSpPr>
          <p:cNvPr id="10" name="輸入區網網址，&#10;尾端保留 /admin。">
            <a:extLst>
              <a:ext uri="{FF2B5EF4-FFF2-40B4-BE49-F238E27FC236}">
                <a16:creationId xmlns:a16="http://schemas.microsoft.com/office/drawing/2014/main" id="{BCC8098D-F4E0-4AA5-A24E-A6BD68A31573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輸入區網網址，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尾端保留 /admin。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6895CB73-1618-4D9D-8C0D-795029011ED3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輸入帳號與密碼">
            <a:extLst>
              <a:ext uri="{FF2B5EF4-FFF2-40B4-BE49-F238E27FC236}">
                <a16:creationId xmlns:a16="http://schemas.microsoft.com/office/drawing/2014/main" id="{3CDCD37D-C4F4-4D78-82CD-7CB513B596F4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輸入帳號與密碼</a:t>
            </a:r>
          </a:p>
        </p:txBody>
      </p:sp>
      <p:sp>
        <p:nvSpPr>
          <p:cNvPr id="13" name="輸入 teco_admin&#10;與交付密碼後按「登入」。">
            <a:extLst>
              <a:ext uri="{FF2B5EF4-FFF2-40B4-BE49-F238E27FC236}">
                <a16:creationId xmlns:a16="http://schemas.microsoft.com/office/drawing/2014/main" id="{CFA06547-70F7-4D4F-BEAD-C44C1EC08F58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輸入 teco_admin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與交付密碼後按「登入」。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3ED27891-7323-4FF3-AB77-0DBB694B674B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確認登入身分">
            <a:extLst>
              <a:ext uri="{FF2B5EF4-FFF2-40B4-BE49-F238E27FC236}">
                <a16:creationId xmlns:a16="http://schemas.microsoft.com/office/drawing/2014/main" id="{075C182A-4A82-4DEC-BD9C-391237320658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確認登入身分</a:t>
            </a:r>
          </a:p>
        </p:txBody>
      </p:sp>
      <p:sp>
        <p:nvSpPr>
          <p:cNvPr id="16" name="進入後台後，核對右上角姓名與場館。">
            <a:extLst>
              <a:ext uri="{FF2B5EF4-FFF2-40B4-BE49-F238E27FC236}">
                <a16:creationId xmlns:a16="http://schemas.microsoft.com/office/drawing/2014/main" id="{1493D2B3-AE5B-4051-B4A3-F05711B7403C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進入後台後，核對右上角姓名與場館。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E587AA71-5762-49F3-9C6D-FB884D99A331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12752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3968D985-98C8-49C9-8E3E-90BE37C79B29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D99136C6-62F2-448C-A3FA-FC57BAE69B0F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前台監控大螢幕">
            <a:extLst>
              <a:ext uri="{FF2B5EF4-FFF2-40B4-BE49-F238E27FC236}">
                <a16:creationId xmlns:a16="http://schemas.microsoft.com/office/drawing/2014/main" id="{6A367A05-5B23-4013-8BC2-E56461BDFB5D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前台監控大螢幕</a:t>
            </a:r>
          </a:p>
        </p:txBody>
      </p:sp>
      <p:sp>
        <p:nvSpPr>
          <p:cNvPr id="4" name="測試區網前台　http://192.168.10.199:8">
            <a:extLst>
              <a:ext uri="{FF2B5EF4-FFF2-40B4-BE49-F238E27FC236}">
                <a16:creationId xmlns:a16="http://schemas.microsoft.com/office/drawing/2014/main" id="{A8DAAA09-C1D8-4B05-9538-F55887D02A67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測試區網前台　http://192.168.10.199:8081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4DAE5F96-1531-40FC-A645-19CA34154CC3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5">
            <a:extLst>
              <a:ext uri="{FF2B5EF4-FFF2-40B4-BE49-F238E27FC236}">
                <a16:creationId xmlns:a16="http://schemas.microsoft.com/office/drawing/2014/main" id="{DF0DF8E9-A75E-4181-8C43-06DFE45254A6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363E3B9-E5F2-470B-956C-5E508D7D51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2688" y="2047875"/>
            <a:ext cx="9663624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7328DFAF-96F9-462A-9F1C-297F8C56A336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主機與樓層總覽">
            <a:extLst>
              <a:ext uri="{FF2B5EF4-FFF2-40B4-BE49-F238E27FC236}">
                <a16:creationId xmlns:a16="http://schemas.microsoft.com/office/drawing/2014/main" id="{83B9659E-C9B8-4253-BD71-C81598D90C2C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主機與樓層總覽</a:t>
            </a:r>
          </a:p>
        </p:txBody>
      </p:sp>
      <p:sp>
        <p:nvSpPr>
          <p:cNvPr id="10" name="左側讀取主機資訊，中央檢視 B1／B2 樓層。">
            <a:extLst>
              <a:ext uri="{FF2B5EF4-FFF2-40B4-BE49-F238E27FC236}">
                <a16:creationId xmlns:a16="http://schemas.microsoft.com/office/drawing/2014/main" id="{7080CB77-4827-451D-8128-CF3AAA88BAEE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左側讀取主機資訊，中央檢視 B1／B2 樓層。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5CBAE598-326D-434E-AEB0-4E0FD3572EEF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FCU 狀態">
            <a:extLst>
              <a:ext uri="{FF2B5EF4-FFF2-40B4-BE49-F238E27FC236}">
                <a16:creationId xmlns:a16="http://schemas.microsoft.com/office/drawing/2014/main" id="{AD32022B-9B8E-4366-8236-331DA1DF720B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FCU 狀態</a:t>
            </a:r>
          </a:p>
        </p:txBody>
      </p:sp>
      <p:sp>
        <p:nvSpPr>
          <p:cNvPr id="13" name="查看台數、運轉率與室溫。">
            <a:extLst>
              <a:ext uri="{FF2B5EF4-FFF2-40B4-BE49-F238E27FC236}">
                <a16:creationId xmlns:a16="http://schemas.microsoft.com/office/drawing/2014/main" id="{F355D5F1-A0E0-4873-844B-0C2E307B75F9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查看台數、運轉率與室溫。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CE2B9B1C-5C32-4B97-BBBB-3F15F180C9F2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即時告警">
            <a:extLst>
              <a:ext uri="{FF2B5EF4-FFF2-40B4-BE49-F238E27FC236}">
                <a16:creationId xmlns:a16="http://schemas.microsoft.com/office/drawing/2014/main" id="{CEE5BDC2-E014-4D31-BD3B-06F5AF059F31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即時告警</a:t>
            </a:r>
          </a:p>
        </p:txBody>
      </p:sp>
      <p:sp>
        <p:nvSpPr>
          <p:cNvPr id="16" name="下方顯示尚未解除的告警與異常原因。">
            <a:extLst>
              <a:ext uri="{FF2B5EF4-FFF2-40B4-BE49-F238E27FC236}">
                <a16:creationId xmlns:a16="http://schemas.microsoft.com/office/drawing/2014/main" id="{4055A59A-809F-4E53-96FB-68281BA104FA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下方顯示尚未解除的告警與異常原因。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3B37E05A-726E-4FB4-AD29-7C90D67F4CA8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11068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CO  /  智慧環境監控">
            <a:extLst>
              <a:ext uri="{FF2B5EF4-FFF2-40B4-BE49-F238E27FC236}">
                <a16:creationId xmlns:a16="http://schemas.microsoft.com/office/drawing/2014/main" id="{6E994B46-6559-4B29-89FC-753E51147F69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日常監看">
            <a:extLst>
              <a:ext uri="{FF2B5EF4-FFF2-40B4-BE49-F238E27FC236}">
                <a16:creationId xmlns:a16="http://schemas.microsoft.com/office/drawing/2014/main" id="{03206988-8AC2-460C-B472-5F5D9DB26197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日常監看</a:t>
            </a:r>
          </a:p>
        </p:txBody>
      </p:sp>
      <p:sp>
        <p:nvSpPr>
          <p:cNvPr id="3" name="設備狀態判讀">
            <a:extLst>
              <a:ext uri="{FF2B5EF4-FFF2-40B4-BE49-F238E27FC236}">
                <a16:creationId xmlns:a16="http://schemas.microsoft.com/office/drawing/2014/main" id="{62DBE58E-CDCE-43AC-BA15-FBB89BFA79C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設備狀態判讀</a:t>
            </a:r>
          </a:p>
        </p:txBody>
      </p:sp>
      <p:sp>
        <p:nvSpPr>
          <p:cNvPr id="4" name="狀態文字與告警原因需一起看，不能只依顏色判斷">
            <a:extLst>
              <a:ext uri="{FF2B5EF4-FFF2-40B4-BE49-F238E27FC236}">
                <a16:creationId xmlns:a16="http://schemas.microsoft.com/office/drawing/2014/main" id="{1288ABD0-D4DC-484E-B646-74B6FB415ABD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狀態文字與告警原因需一起看，不能只依顏色判斷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2AFC3288-F33B-4941-AF6D-DE02F3559025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6">
            <a:extLst>
              <a:ext uri="{FF2B5EF4-FFF2-40B4-BE49-F238E27FC236}">
                <a16:creationId xmlns:a16="http://schemas.microsoft.com/office/drawing/2014/main" id="{95498F64-6975-482A-8CCE-222BA3EAE274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004FF97-4B6A-4643-A4F5-D63E987AC4AF}"/>
              </a:ext>
            </a:extLst>
          </p:cNvPr>
          <p:cNvGraphicFramePr/>
          <p:nvPr/>
        </p:nvGraphicFramePr>
        <p:xfrm>
          <a:off x="571500" y="2143125"/>
          <a:ext cx="7524750" cy="5095875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49313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畫面狀態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1431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代表意義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>
                      <a:solidFill>
                        <a:srgbClr val="D8E2E8"/>
                      </a:solidFill>
                      <a:prstDash val="soli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1431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運轉中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設備目前回報運轉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停止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設備目前回報停止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異常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設備或讀值觸發有效告警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離線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CF2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系統未取得有效連線或讀值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ECF2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待保養</a:t>
                      </a:r>
                    </a:p>
                  </a:txBody>
                  <a:tcPr anchor="ctr">
                    <a:lnL w="9525">
                      <a:solidFill>
                        <a:srgbClr val="D8E2E8"/>
                      </a:solidFill>
                      <a:prstDash val="soli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354A5B"/>
                          </a:solidFill>
                          <a:latin typeface="Heiti TC"/>
                          <a:ea typeface="Heiti TC"/>
                          <a:cs typeface="Heiti TC"/>
                        </a:rPr>
                        <a:t>冰水主機達保養提醒條件</a:t>
                      </a:r>
                    </a:p>
                  </a:txBody>
                  <a:tcPr anchor="ctr">
                    <a:lnL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8E2E8"/>
                      </a:solidFill>
                      <a:prstDash val="solid"/>
                    </a:lnR>
                    <a:lnT w="9525" cap="flat" cmpd="sng" algn="ctr">
                      <a:solidFill>
                        <a:srgbClr val="D8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8E2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畫面沒有讀值或顯示「--」時，應先確認資料與通訊狀態。">
            <a:extLst>
              <a:ext uri="{FF2B5EF4-FFF2-40B4-BE49-F238E27FC236}">
                <a16:creationId xmlns:a16="http://schemas.microsoft.com/office/drawing/2014/main" id="{BA0FF7B7-4E10-4432-B7D0-1DE07446A4E8}"/>
              </a:ext>
            </a:extLst>
          </p:cNvPr>
          <p:cNvSpPr>
            <a:spLocks noGrp="1"/>
          </p:cNvSpPr>
          <p:nvPr/>
        </p:nvSpPr>
        <p:spPr>
          <a:xfrm>
            <a:off x="571500" y="7505700"/>
            <a:ext cx="14097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畫面沒有讀值或顯示「--」時，應先確認資料與通訊狀態。</a:t>
            </a:r>
          </a:p>
        </p:txBody>
      </p:sp>
    </p:spTree>
    <p:extLst>
      <p:ext uri="{BB962C8B-B14F-4D97-AF65-F5344CB8AC3E}">
        <p14:creationId xmlns:p14="http://schemas.microsoft.com/office/powerpoint/2010/main" val="482161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CE6F14F1-F4A9-467B-90CC-9858B9A28AA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904D93AB-7941-4F59-B162-8C8B41DB6423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後台監控中心">
            <a:extLst>
              <a:ext uri="{FF2B5EF4-FFF2-40B4-BE49-F238E27FC236}">
                <a16:creationId xmlns:a16="http://schemas.microsoft.com/office/drawing/2014/main" id="{BB590B75-6128-4D05-B5EC-F8E92588D06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後台監控中心</a:t>
            </a:r>
          </a:p>
        </p:txBody>
      </p:sp>
      <p:sp>
        <p:nvSpPr>
          <p:cNvPr id="4" name="登入後的總覽畫面，供日常巡檢使用">
            <a:extLst>
              <a:ext uri="{FF2B5EF4-FFF2-40B4-BE49-F238E27FC236}">
                <a16:creationId xmlns:a16="http://schemas.microsoft.com/office/drawing/2014/main" id="{5D2C5272-F6D9-4080-86BF-2B0962AE310B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登入後的總覽畫面，供日常巡檢使用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2DB0F5A7-F23F-42F2-9918-401890A72140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7">
            <a:extLst>
              <a:ext uri="{FF2B5EF4-FFF2-40B4-BE49-F238E27FC236}">
                <a16:creationId xmlns:a16="http://schemas.microsoft.com/office/drawing/2014/main" id="{4153B8C1-13E1-4BAA-AF77-9EB0EE6BD262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A8DE7E9-21EA-4177-9B4A-194D27C13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14315" y="2019300"/>
            <a:ext cx="9611371" cy="3857625"/>
          </a:xfrm>
          <a:prstGeom prst="rect">
            <a:avLst/>
          </a:prstGeom>
        </p:spPr>
      </p:pic>
      <p:sp>
        <p:nvSpPr>
          <p:cNvPr id="8" name="01  台數核對">
            <a:extLst>
              <a:ext uri="{FF2B5EF4-FFF2-40B4-BE49-F238E27FC236}">
                <a16:creationId xmlns:a16="http://schemas.microsoft.com/office/drawing/2014/main" id="{EA4DD971-0422-46E0-B6E1-74DA973AEA2C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台數核對</a:t>
            </a:r>
          </a:p>
        </p:txBody>
      </p:sp>
      <p:sp>
        <p:nvSpPr>
          <p:cNvPr id="9" name="先看設備總數，&#10;再看異常與離線台數。">
            <a:extLst>
              <a:ext uri="{FF2B5EF4-FFF2-40B4-BE49-F238E27FC236}">
                <a16:creationId xmlns:a16="http://schemas.microsoft.com/office/drawing/2014/main" id="{97B93F49-2340-47CC-948C-C344964DF85D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先看設備總數，</a:t>
            </a:r>
          </a:p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再看異常與離線台數。</a:t>
            </a:r>
          </a:p>
        </p:txBody>
      </p:sp>
      <p:sp>
        <p:nvSpPr>
          <p:cNvPr id="10" name="02  主機讀值">
            <a:extLst>
              <a:ext uri="{FF2B5EF4-FFF2-40B4-BE49-F238E27FC236}">
                <a16:creationId xmlns:a16="http://schemas.microsoft.com/office/drawing/2014/main" id="{A8A67CCA-260C-4754-B2A3-F35F8259D5CF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主機讀值</a:t>
            </a:r>
          </a:p>
        </p:txBody>
      </p:sp>
      <p:sp>
        <p:nvSpPr>
          <p:cNvPr id="11" name="查看負載、出回水溫度、溫度差與累積時數。">
            <a:extLst>
              <a:ext uri="{FF2B5EF4-FFF2-40B4-BE49-F238E27FC236}">
                <a16:creationId xmlns:a16="http://schemas.microsoft.com/office/drawing/2014/main" id="{5AA8FD3F-D40E-4B2D-A2AA-05B4E202B65D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查看負載、出回水溫度、溫度差與累積時數。</a:t>
            </a:r>
          </a:p>
        </p:txBody>
      </p:sp>
      <p:sp>
        <p:nvSpPr>
          <p:cNvPr id="12" name="03  告警入口">
            <a:extLst>
              <a:ext uri="{FF2B5EF4-FFF2-40B4-BE49-F238E27FC236}">
                <a16:creationId xmlns:a16="http://schemas.microsoft.com/office/drawing/2014/main" id="{76828229-F01F-4E89-A99B-2F8A7CE2FE93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告警入口</a:t>
            </a:r>
          </a:p>
        </p:txBody>
      </p:sp>
      <p:sp>
        <p:nvSpPr>
          <p:cNvPr id="13" name="按「查看全部告警」，取得完整設備識別與原因。">
            <a:extLst>
              <a:ext uri="{FF2B5EF4-FFF2-40B4-BE49-F238E27FC236}">
                <a16:creationId xmlns:a16="http://schemas.microsoft.com/office/drawing/2014/main" id="{FA4BD383-E24B-4EFF-98C1-8C1BB38D3E72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按「查看全部告警」，取得完整設備識別與原因。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82F62D5F-1998-42E4-B787-9195691654E3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81860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2D968E56-65E9-4212-86CD-321D3A73675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38128B78-DBD0-42C0-BAC1-F48DFB8C291B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全部告警與現場處理">
            <a:extLst>
              <a:ext uri="{FF2B5EF4-FFF2-40B4-BE49-F238E27FC236}">
                <a16:creationId xmlns:a16="http://schemas.microsoft.com/office/drawing/2014/main" id="{6A7F3A2D-0017-4C61-BFEC-9FF91861D9B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全部告警與現場處理</a:t>
            </a:r>
          </a:p>
        </p:txBody>
      </p:sp>
      <p:sp>
        <p:nvSpPr>
          <p:cNvPr id="4" name="示例畫面顯示「1F大門／室內溫度過低」，僅代表擷取時點">
            <a:extLst>
              <a:ext uri="{FF2B5EF4-FFF2-40B4-BE49-F238E27FC236}">
                <a16:creationId xmlns:a16="http://schemas.microsoft.com/office/drawing/2014/main" id="{D79A711A-C2ED-4B50-A779-0CFEAEB556F2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示例畫面顯示「1F大門／室內溫度過低」，僅代表擷取時點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D5459EED-4B67-4C4F-961B-7EB9BD402141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8">
            <a:extLst>
              <a:ext uri="{FF2B5EF4-FFF2-40B4-BE49-F238E27FC236}">
                <a16:creationId xmlns:a16="http://schemas.microsoft.com/office/drawing/2014/main" id="{B3850718-8C68-4DC4-8294-90308427CFE0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5EB714F-D2C4-4DFE-9CF1-40C2242F1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663230"/>
            <a:ext cx="14097000" cy="2569766"/>
          </a:xfrm>
          <a:prstGeom prst="rect">
            <a:avLst/>
          </a:prstGeom>
        </p:spPr>
      </p:pic>
      <p:sp>
        <p:nvSpPr>
          <p:cNvPr id="8" name="01  記錄設備">
            <a:extLst>
              <a:ext uri="{FF2B5EF4-FFF2-40B4-BE49-F238E27FC236}">
                <a16:creationId xmlns:a16="http://schemas.microsoft.com/office/drawing/2014/main" id="{55B9312B-9B9B-4221-964C-5B425646796A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記錄設備</a:t>
            </a:r>
          </a:p>
        </p:txBody>
      </p:sp>
      <p:sp>
        <p:nvSpPr>
          <p:cNvPr id="9" name="抄錄時間、設備名稱、系統編號與供應商編號。">
            <a:extLst>
              <a:ext uri="{FF2B5EF4-FFF2-40B4-BE49-F238E27FC236}">
                <a16:creationId xmlns:a16="http://schemas.microsoft.com/office/drawing/2014/main" id="{9528618C-274F-4C16-8B0F-E40C4CADCCED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抄錄時間、設備名稱、系統編號與供應商編號。</a:t>
            </a:r>
          </a:p>
        </p:txBody>
      </p:sp>
      <p:sp>
        <p:nvSpPr>
          <p:cNvPr id="10" name="02  依原因檢查">
            <a:extLst>
              <a:ext uri="{FF2B5EF4-FFF2-40B4-BE49-F238E27FC236}">
                <a16:creationId xmlns:a16="http://schemas.microsoft.com/office/drawing/2014/main" id="{6DFBF967-815C-466E-941A-AE80BBB51C65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依原因檢查</a:t>
            </a:r>
          </a:p>
        </p:txBody>
      </p:sp>
      <p:sp>
        <p:nvSpPr>
          <p:cNvPr id="11" name="溫度異常核對現場讀值，離線先查通訊範圍。">
            <a:extLst>
              <a:ext uri="{FF2B5EF4-FFF2-40B4-BE49-F238E27FC236}">
                <a16:creationId xmlns:a16="http://schemas.microsoft.com/office/drawing/2014/main" id="{A96F7641-5A38-43A0-90F2-B601034FDC1B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溫度異常核對現場讀值，離線先查通訊範圍。</a:t>
            </a:r>
          </a:p>
        </p:txBody>
      </p:sp>
      <p:sp>
        <p:nvSpPr>
          <p:cNvPr id="12" name="03  追蹤恢復">
            <a:extLst>
              <a:ext uri="{FF2B5EF4-FFF2-40B4-BE49-F238E27FC236}">
                <a16:creationId xmlns:a16="http://schemas.microsoft.com/office/drawing/2014/main" id="{4167BE86-2154-4633-98F8-16DA38A62D80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追蹤恢復</a:t>
            </a:r>
          </a:p>
        </p:txBody>
      </p:sp>
      <p:sp>
        <p:nvSpPr>
          <p:cNvPr id="13" name="條件恢復後，回告警報表查閱歷史紀錄。">
            <a:extLst>
              <a:ext uri="{FF2B5EF4-FFF2-40B4-BE49-F238E27FC236}">
                <a16:creationId xmlns:a16="http://schemas.microsoft.com/office/drawing/2014/main" id="{9933BA16-845B-4215-9BFB-83159BEB1AF5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條件恢復後，回告警報表查閱歷史紀錄。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05EC1D28-B25B-43D2-BF49-DAF63076E646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352351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BC297CAA-68B9-4058-8EFC-32253DEFED5D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F9D9F30C-36B5-4EBB-B839-01D9054578C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冰水主機管理">
            <a:extLst>
              <a:ext uri="{FF2B5EF4-FFF2-40B4-BE49-F238E27FC236}">
                <a16:creationId xmlns:a16="http://schemas.microsoft.com/office/drawing/2014/main" id="{56488D1D-78D2-41F1-B1E2-B6BFCCD39079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冰水主機管理</a:t>
            </a:r>
          </a:p>
        </p:txBody>
      </p:sp>
      <p:sp>
        <p:nvSpPr>
          <p:cNvPr id="4" name="選單：冰水主機管理　　路徑：/admin/chiller">
            <a:extLst>
              <a:ext uri="{FF2B5EF4-FFF2-40B4-BE49-F238E27FC236}">
                <a16:creationId xmlns:a16="http://schemas.microsoft.com/office/drawing/2014/main" id="{A192005F-E764-4D97-88E0-D04FC052A276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選單：冰水主機管理　　路徑：/admin/chiller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4231D689-6251-418C-AA15-ED6B630265F5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09">
            <a:extLst>
              <a:ext uri="{FF2B5EF4-FFF2-40B4-BE49-F238E27FC236}">
                <a16:creationId xmlns:a16="http://schemas.microsoft.com/office/drawing/2014/main" id="{944F361F-017A-4991-AA61-25EA0E03BB65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97CDE0D-DBBB-47D0-ABB8-B46955C5B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509643"/>
            <a:ext cx="14097000" cy="2876939"/>
          </a:xfrm>
          <a:prstGeom prst="rect">
            <a:avLst/>
          </a:prstGeom>
        </p:spPr>
      </p:pic>
      <p:sp>
        <p:nvSpPr>
          <p:cNvPr id="8" name="01  確認主機">
            <a:extLst>
              <a:ext uri="{FF2B5EF4-FFF2-40B4-BE49-F238E27FC236}">
                <a16:creationId xmlns:a16="http://schemas.microsoft.com/office/drawing/2014/main" id="{8379D82D-70A1-4333-A2CA-661DD42CA409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確認主機</a:t>
            </a:r>
          </a:p>
        </p:txBody>
      </p:sp>
      <p:sp>
        <p:nvSpPr>
          <p:cNvPr id="9" name="以設備名稱與 CH-1／CH-2 核對機房設備。">
            <a:extLst>
              <a:ext uri="{FF2B5EF4-FFF2-40B4-BE49-F238E27FC236}">
                <a16:creationId xmlns:a16="http://schemas.microsoft.com/office/drawing/2014/main" id="{C437B317-1DED-443F-8A76-1B854D2E391E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以設備名稱與 CH-1／CH-2 核對機房設備。</a:t>
            </a:r>
          </a:p>
        </p:txBody>
      </p:sp>
      <p:sp>
        <p:nvSpPr>
          <p:cNvPr id="10" name="02  讀值與時數">
            <a:extLst>
              <a:ext uri="{FF2B5EF4-FFF2-40B4-BE49-F238E27FC236}">
                <a16:creationId xmlns:a16="http://schemas.microsoft.com/office/drawing/2014/main" id="{B84BCC93-2EC6-45DC-8DD1-5F7C4CD2201C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讀值與時數</a:t>
            </a:r>
          </a:p>
        </p:txBody>
      </p:sp>
      <p:sp>
        <p:nvSpPr>
          <p:cNvPr id="11" name="查看出水、回水、ΔT 與累積運轉時數。">
            <a:extLst>
              <a:ext uri="{FF2B5EF4-FFF2-40B4-BE49-F238E27FC236}">
                <a16:creationId xmlns:a16="http://schemas.microsoft.com/office/drawing/2014/main" id="{B70BF896-CFB0-4ECD-B800-106914296F85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查看出水、回水、ΔT 與累積運轉時數。</a:t>
            </a:r>
          </a:p>
        </p:txBody>
      </p:sp>
      <p:sp>
        <p:nvSpPr>
          <p:cNvPr id="12" name="03  管理操作">
            <a:extLst>
              <a:ext uri="{FF2B5EF4-FFF2-40B4-BE49-F238E27FC236}">
                <a16:creationId xmlns:a16="http://schemas.microsoft.com/office/drawing/2014/main" id="{153D582E-66F2-470A-96D2-4FBFFBFAC176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管理操作</a:t>
            </a:r>
          </a:p>
        </p:txBody>
      </p:sp>
      <p:sp>
        <p:nvSpPr>
          <p:cNvPr id="13" name="「編輯」調整名稱，&#10;門檻與保養各有獨立入口。">
            <a:extLst>
              <a:ext uri="{FF2B5EF4-FFF2-40B4-BE49-F238E27FC236}">
                <a16:creationId xmlns:a16="http://schemas.microsoft.com/office/drawing/2014/main" id="{0F0953FE-63D0-4AEE-9DC5-00814B7F0377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「編輯」調整名稱，</a:t>
            </a:r>
          </a:p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門檻與保養各有獨立入口。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7958896E-3338-48F2-8F1E-5D2FEB4E6FDB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25305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CO  /  智慧環境監控">
            <a:extLst>
              <a:ext uri="{FF2B5EF4-FFF2-40B4-BE49-F238E27FC236}">
                <a16:creationId xmlns:a16="http://schemas.microsoft.com/office/drawing/2014/main" id="{AE3C69F6-D40B-4AF8-BE6F-629DB01A8C7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設定教學">
            <a:extLst>
              <a:ext uri="{FF2B5EF4-FFF2-40B4-BE49-F238E27FC236}">
                <a16:creationId xmlns:a16="http://schemas.microsoft.com/office/drawing/2014/main" id="{2AD248D2-3F87-4088-986A-763B5791059E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設定教學</a:t>
            </a:r>
          </a:p>
        </p:txBody>
      </p:sp>
      <p:sp>
        <p:nvSpPr>
          <p:cNvPr id="3" name="冰水主機告警門檻">
            <a:extLst>
              <a:ext uri="{FF2B5EF4-FFF2-40B4-BE49-F238E27FC236}">
                <a16:creationId xmlns:a16="http://schemas.microsoft.com/office/drawing/2014/main" id="{3368D67A-B7C1-4C66-A4FA-2BC28A499E44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冰水主機告警門檻</a:t>
            </a:r>
          </a:p>
        </p:txBody>
      </p:sp>
      <p:sp>
        <p:nvSpPr>
          <p:cNvPr id="4" name="冰水主機管理，選擇指定主機的「告警門檻」">
            <a:extLst>
              <a:ext uri="{FF2B5EF4-FFF2-40B4-BE49-F238E27FC236}">
                <a16:creationId xmlns:a16="http://schemas.microsoft.com/office/drawing/2014/main" id="{071ED06F-CA4B-4557-9EC5-3EC29A63C3EC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冰水主機管理，選擇指定主機的「告警門檻」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2726CA03-9A68-4A90-9405-43C22BD15465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0">
            <a:extLst>
              <a:ext uri="{FF2B5EF4-FFF2-40B4-BE49-F238E27FC236}">
                <a16:creationId xmlns:a16="http://schemas.microsoft.com/office/drawing/2014/main" id="{1389EBC7-E33C-4678-A13B-7AAAF44CC43D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58543EF-A0C5-413D-A6E4-FAB76654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3215" y="2038350"/>
            <a:ext cx="4100945" cy="5638800"/>
          </a:xfrm>
          <a:prstGeom prst="rect">
            <a:avLst/>
          </a:prstGeom>
        </p:spPr>
      </p:pic>
      <p:sp>
        <p:nvSpPr>
          <p:cNvPr id="8" name="溫度範圍">
            <a:extLst>
              <a:ext uri="{FF2B5EF4-FFF2-40B4-BE49-F238E27FC236}">
                <a16:creationId xmlns:a16="http://schemas.microsoft.com/office/drawing/2014/main" id="{E126F77D-1040-4AC6-8121-B1A801BD266F}"/>
              </a:ext>
            </a:extLst>
          </p:cNvPr>
          <p:cNvSpPr>
            <a:spLocks noGrp="1"/>
          </p:cNvSpPr>
          <p:nvPr/>
        </p:nvSpPr>
        <p:spPr>
          <a:xfrm>
            <a:off x="5715000" y="2143125"/>
            <a:ext cx="857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溫度範圍</a:t>
            </a:r>
          </a:p>
        </p:txBody>
      </p:sp>
      <p:sp>
        <p:nvSpPr>
          <p:cNvPr id="9" name="出水、回水與 ΔT 各有上下限，依現場設備需求設定。">
            <a:extLst>
              <a:ext uri="{FF2B5EF4-FFF2-40B4-BE49-F238E27FC236}">
                <a16:creationId xmlns:a16="http://schemas.microsoft.com/office/drawing/2014/main" id="{9DFA06D6-F9FB-4D1D-A3C3-62E371409073}"/>
              </a:ext>
            </a:extLst>
          </p:cNvPr>
          <p:cNvSpPr>
            <a:spLocks noGrp="1"/>
          </p:cNvSpPr>
          <p:nvPr/>
        </p:nvSpPr>
        <p:spPr>
          <a:xfrm>
            <a:off x="5715000" y="2638425"/>
            <a:ext cx="8572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出水、回水與 ΔT 各有上下限，依現場設備需求設定。</a:t>
            </a:r>
          </a:p>
        </p:txBody>
      </p:sp>
      <p:sp>
        <p:nvSpPr>
          <p:cNvPr id="10" name="保養間隔">
            <a:extLst>
              <a:ext uri="{FF2B5EF4-FFF2-40B4-BE49-F238E27FC236}">
                <a16:creationId xmlns:a16="http://schemas.microsoft.com/office/drawing/2014/main" id="{AEF39D4A-A5A3-407B-B026-49F8CAC97A5D}"/>
              </a:ext>
            </a:extLst>
          </p:cNvPr>
          <p:cNvSpPr>
            <a:spLocks noGrp="1"/>
          </p:cNvSpPr>
          <p:nvPr/>
        </p:nvSpPr>
        <p:spPr>
          <a:xfrm>
            <a:off x="5715000" y="3467100"/>
            <a:ext cx="857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保養間隔</a:t>
            </a:r>
          </a:p>
        </p:txBody>
      </p:sp>
      <p:sp>
        <p:nvSpPr>
          <p:cNvPr id="11" name="以累積運轉小時計算，留空表示不提醒。">
            <a:extLst>
              <a:ext uri="{FF2B5EF4-FFF2-40B4-BE49-F238E27FC236}">
                <a16:creationId xmlns:a16="http://schemas.microsoft.com/office/drawing/2014/main" id="{1562EE61-EE31-4150-8F87-F7FAD7A2006A}"/>
              </a:ext>
            </a:extLst>
          </p:cNvPr>
          <p:cNvSpPr>
            <a:spLocks noGrp="1"/>
          </p:cNvSpPr>
          <p:nvPr/>
        </p:nvSpPr>
        <p:spPr>
          <a:xfrm>
            <a:off x="5715000" y="3962400"/>
            <a:ext cx="8572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以累積運轉小時計算，留空表示不提醒。</a:t>
            </a:r>
          </a:p>
        </p:txBody>
      </p:sp>
      <p:sp>
        <p:nvSpPr>
          <p:cNvPr id="12" name="儲存後生效">
            <a:extLst>
              <a:ext uri="{FF2B5EF4-FFF2-40B4-BE49-F238E27FC236}">
                <a16:creationId xmlns:a16="http://schemas.microsoft.com/office/drawing/2014/main" id="{5E63B853-DEA2-4566-8996-45FED020598D}"/>
              </a:ext>
            </a:extLst>
          </p:cNvPr>
          <p:cNvSpPr>
            <a:spLocks noGrp="1"/>
          </p:cNvSpPr>
          <p:nvPr/>
        </p:nvSpPr>
        <p:spPr>
          <a:xfrm>
            <a:off x="5715000" y="4791075"/>
            <a:ext cx="857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儲存後生效</a:t>
            </a:r>
          </a:p>
        </p:txBody>
      </p:sp>
      <p:sp>
        <p:nvSpPr>
          <p:cNvPr id="13" name="按「儲存設定」後數秒套用，連續超標 60 秒才告警。">
            <a:extLst>
              <a:ext uri="{FF2B5EF4-FFF2-40B4-BE49-F238E27FC236}">
                <a16:creationId xmlns:a16="http://schemas.microsoft.com/office/drawing/2014/main" id="{4D1FAE23-3BD0-439F-969D-DC911227A574}"/>
              </a:ext>
            </a:extLst>
          </p:cNvPr>
          <p:cNvSpPr>
            <a:spLocks noGrp="1"/>
          </p:cNvSpPr>
          <p:nvPr/>
        </p:nvSpPr>
        <p:spPr>
          <a:xfrm>
            <a:off x="5715000" y="5286375"/>
            <a:ext cx="8572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按「儲存設定」後數秒套用，連續超標 60 秒才告警。</a:t>
            </a:r>
          </a:p>
        </p:txBody>
      </p:sp>
      <p:sp>
        <p:nvSpPr>
          <p:cNvPr id="14" name="停機與暖機">
            <a:extLst>
              <a:ext uri="{FF2B5EF4-FFF2-40B4-BE49-F238E27FC236}">
                <a16:creationId xmlns:a16="http://schemas.microsoft.com/office/drawing/2014/main" id="{62545013-F637-4A91-A100-EE7B84C32140}"/>
              </a:ext>
            </a:extLst>
          </p:cNvPr>
          <p:cNvSpPr>
            <a:spLocks noGrp="1"/>
          </p:cNvSpPr>
          <p:nvPr/>
        </p:nvSpPr>
        <p:spPr>
          <a:xfrm>
            <a:off x="5715000" y="6115050"/>
            <a:ext cx="8572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停機與暖機</a:t>
            </a:r>
          </a:p>
        </p:txBody>
      </p:sp>
      <p:sp>
        <p:nvSpPr>
          <p:cNvPr id="15" name="溫度告警只在運轉時判定，開機暖機預設 15 分鐘。">
            <a:extLst>
              <a:ext uri="{FF2B5EF4-FFF2-40B4-BE49-F238E27FC236}">
                <a16:creationId xmlns:a16="http://schemas.microsoft.com/office/drawing/2014/main" id="{3DCA182A-3074-49C1-A962-11A0488DDD65}"/>
              </a:ext>
            </a:extLst>
          </p:cNvPr>
          <p:cNvSpPr>
            <a:spLocks noGrp="1"/>
          </p:cNvSpPr>
          <p:nvPr/>
        </p:nvSpPr>
        <p:spPr>
          <a:xfrm>
            <a:off x="5715000" y="6610350"/>
            <a:ext cx="85725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溫度告警只在運轉時判定，開機暖機預設 15 分鐘。</a:t>
            </a:r>
          </a:p>
        </p:txBody>
      </p:sp>
      <p:sp>
        <p:nvSpPr>
          <p:cNvPr id="16" name="畫面設定值為擷取當下內容，正式門檻須由業主與設備人員確認">
            <a:extLst>
              <a:ext uri="{FF2B5EF4-FFF2-40B4-BE49-F238E27FC236}">
                <a16:creationId xmlns:a16="http://schemas.microsoft.com/office/drawing/2014/main" id="{14BD4B87-2E14-4EA1-8AFD-6585CFEBF902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畫面設定值為擷取當下內容，正式門檻須由業主與設備人員確認</a:t>
            </a:r>
          </a:p>
        </p:txBody>
      </p:sp>
    </p:spTree>
    <p:extLst>
      <p:ext uri="{BB962C8B-B14F-4D97-AF65-F5344CB8AC3E}">
        <p14:creationId xmlns:p14="http://schemas.microsoft.com/office/powerpoint/2010/main" val="1084772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D60B5905-3130-4944-A02C-ED97EC1A95EA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A30FD4A2-A3DC-4E40-8360-D6119C535CC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冰水主機保養紀錄">
            <a:extLst>
              <a:ext uri="{FF2B5EF4-FFF2-40B4-BE49-F238E27FC236}">
                <a16:creationId xmlns:a16="http://schemas.microsoft.com/office/drawing/2014/main" id="{C4B6C415-5D6B-46FB-B779-2EC46ED8FE0E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冰水主機保養紀錄</a:t>
            </a:r>
          </a:p>
        </p:txBody>
      </p:sp>
      <p:sp>
        <p:nvSpPr>
          <p:cNvPr id="4" name="「保養完成」會改變保養基準，須由負責人員操作">
            <a:extLst>
              <a:ext uri="{FF2B5EF4-FFF2-40B4-BE49-F238E27FC236}">
                <a16:creationId xmlns:a16="http://schemas.microsoft.com/office/drawing/2014/main" id="{315EF4EE-687C-41E7-8C56-64E63E5AD918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「保養完成」會改變保養基準，須由負責人員操作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DBEDE890-C458-4FA5-B6A0-EB6544104604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1">
            <a:extLst>
              <a:ext uri="{FF2B5EF4-FFF2-40B4-BE49-F238E27FC236}">
                <a16:creationId xmlns:a16="http://schemas.microsoft.com/office/drawing/2014/main" id="{1B886084-5344-47E4-B425-613ECA408C00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9FF5EA3-EE43-4895-B651-935D8DEEF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091" y="2047875"/>
            <a:ext cx="5754818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1448DD5E-1C81-4425-AB20-098177CC63AF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檢查剩餘時數">
            <a:extLst>
              <a:ext uri="{FF2B5EF4-FFF2-40B4-BE49-F238E27FC236}">
                <a16:creationId xmlns:a16="http://schemas.microsoft.com/office/drawing/2014/main" id="{6905028B-00BB-49B1-AD05-F54849E66FEF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檢查剩餘時數</a:t>
            </a:r>
          </a:p>
        </p:txBody>
      </p:sp>
      <p:sp>
        <p:nvSpPr>
          <p:cNvPr id="10" name="核對保養間隔、距上次保養與目前累積時數。">
            <a:extLst>
              <a:ext uri="{FF2B5EF4-FFF2-40B4-BE49-F238E27FC236}">
                <a16:creationId xmlns:a16="http://schemas.microsoft.com/office/drawing/2014/main" id="{08CC93CB-226F-40F7-98C5-FF72D5966570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核對保養間隔、距上次保養與目前累積時數。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FDF86ADF-1C1E-4F14-BE46-2E6086803561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完成實際保養">
            <a:extLst>
              <a:ext uri="{FF2B5EF4-FFF2-40B4-BE49-F238E27FC236}">
                <a16:creationId xmlns:a16="http://schemas.microsoft.com/office/drawing/2014/main" id="{B13DAA2C-104A-4CEA-B2F6-661B47E109AE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完成實際保養</a:t>
            </a:r>
          </a:p>
        </p:txBody>
      </p:sp>
      <p:sp>
        <p:nvSpPr>
          <p:cNvPr id="13" name="安排並完成現場保養後，再進行系統登錄。">
            <a:extLst>
              <a:ext uri="{FF2B5EF4-FFF2-40B4-BE49-F238E27FC236}">
                <a16:creationId xmlns:a16="http://schemas.microsoft.com/office/drawing/2014/main" id="{21366DB4-C7CF-4414-BBF5-091F3BEF91F6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安排並完成現場保養後，再進行系統登錄。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9E80C46C-F96B-440F-A392-931663FA666A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保養完成與重置">
            <a:extLst>
              <a:ext uri="{FF2B5EF4-FFF2-40B4-BE49-F238E27FC236}">
                <a16:creationId xmlns:a16="http://schemas.microsoft.com/office/drawing/2014/main" id="{205B741C-3C15-44BD-91DE-DC0D43FEBAAB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保養完成與重置</a:t>
            </a:r>
          </a:p>
        </p:txBody>
      </p:sp>
      <p:sp>
        <p:nvSpPr>
          <p:cNvPr id="16" name="點選「保養完成・重置」&#10;確認後重新計算提醒。">
            <a:extLst>
              <a:ext uri="{FF2B5EF4-FFF2-40B4-BE49-F238E27FC236}">
                <a16:creationId xmlns:a16="http://schemas.microsoft.com/office/drawing/2014/main" id="{ABE03C80-FEAC-4FCB-8BCC-53B91A25C434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點選「保養完成・重置」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確認後重新計算提醒。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65113098-ED54-413C-A2C9-D538DA51AD83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033460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46E7377E-D312-448F-A17F-D3C238F2658B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969D8ED8-EE38-4F3B-9DFC-AAF8750DFC02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FCU 設備查閱與名稱管理">
            <a:extLst>
              <a:ext uri="{FF2B5EF4-FFF2-40B4-BE49-F238E27FC236}">
                <a16:creationId xmlns:a16="http://schemas.microsoft.com/office/drawing/2014/main" id="{5C3A34D3-7F11-411A-BA22-C8867672EC88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FCU 設備查閱與名稱管理</a:t>
            </a:r>
          </a:p>
        </p:txBody>
      </p:sp>
      <p:sp>
        <p:nvSpPr>
          <p:cNvPr id="4" name="選單：FCU管理　　路徑：/admin/fcu">
            <a:extLst>
              <a:ext uri="{FF2B5EF4-FFF2-40B4-BE49-F238E27FC236}">
                <a16:creationId xmlns:a16="http://schemas.microsoft.com/office/drawing/2014/main" id="{DD2DD807-FEA4-41CA-9E52-6C3A874428AE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選單：FCU管理　　路徑：/admin/fcu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E898DFE9-0BC3-44B6-827B-E215494C9892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2">
            <a:extLst>
              <a:ext uri="{FF2B5EF4-FFF2-40B4-BE49-F238E27FC236}">
                <a16:creationId xmlns:a16="http://schemas.microsoft.com/office/drawing/2014/main" id="{C34B747E-3125-4882-B40A-090A1204CD24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A6700FC-3E45-43A0-9BE8-BCEBBD7A1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56867" y="2019300"/>
            <a:ext cx="10126266" cy="3857625"/>
          </a:xfrm>
          <a:prstGeom prst="rect">
            <a:avLst/>
          </a:prstGeom>
        </p:spPr>
      </p:pic>
      <p:sp>
        <p:nvSpPr>
          <p:cNvPr id="8" name="01  識別設備">
            <a:extLst>
              <a:ext uri="{FF2B5EF4-FFF2-40B4-BE49-F238E27FC236}">
                <a16:creationId xmlns:a16="http://schemas.microsoft.com/office/drawing/2014/main" id="{3270E772-7C72-494A-924C-BEED7EB2374F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識別設備</a:t>
            </a:r>
          </a:p>
        </p:txBody>
      </p:sp>
      <p:sp>
        <p:nvSpPr>
          <p:cNvPr id="9" name="名稱對照現場標籤，系統編號對照樓層分區。">
            <a:extLst>
              <a:ext uri="{FF2B5EF4-FFF2-40B4-BE49-F238E27FC236}">
                <a16:creationId xmlns:a16="http://schemas.microsoft.com/office/drawing/2014/main" id="{9E2C5B12-7BF4-410B-8F47-68C812B19506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名稱對照現場標籤，系統編號對照樓層分區。</a:t>
            </a:r>
          </a:p>
        </p:txBody>
      </p:sp>
      <p:sp>
        <p:nvSpPr>
          <p:cNvPr id="10" name="02  供應商編號">
            <a:extLst>
              <a:ext uri="{FF2B5EF4-FFF2-40B4-BE49-F238E27FC236}">
                <a16:creationId xmlns:a16="http://schemas.microsoft.com/office/drawing/2014/main" id="{1A77D8A6-1867-47B4-9835-52F67F45990B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供應商編號</a:t>
            </a:r>
          </a:p>
        </p:txBody>
      </p:sp>
      <p:sp>
        <p:nvSpPr>
          <p:cNvPr id="11" name="維修對照時連同 DDC1／DDC2 一起記錄。">
            <a:extLst>
              <a:ext uri="{FF2B5EF4-FFF2-40B4-BE49-F238E27FC236}">
                <a16:creationId xmlns:a16="http://schemas.microsoft.com/office/drawing/2014/main" id="{861267FE-A003-4EE3-AA0F-9C5C7765DB6D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維修對照時連同 DDC1／DDC2 一起記錄。</a:t>
            </a:r>
          </a:p>
        </p:txBody>
      </p:sp>
      <p:sp>
        <p:nvSpPr>
          <p:cNvPr id="12" name="03  資料與名稱">
            <a:extLst>
              <a:ext uri="{FF2B5EF4-FFF2-40B4-BE49-F238E27FC236}">
                <a16:creationId xmlns:a16="http://schemas.microsoft.com/office/drawing/2014/main" id="{F4A10E8C-F37C-493E-9B0F-96CCD5A32476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資料與名稱</a:t>
            </a:r>
          </a:p>
        </p:txBody>
      </p:sp>
      <p:sp>
        <p:nvSpPr>
          <p:cNvPr id="13" name="逐台查看室溫、風速、模式及狀態，「編輯」調整名稱。">
            <a:extLst>
              <a:ext uri="{FF2B5EF4-FFF2-40B4-BE49-F238E27FC236}">
                <a16:creationId xmlns:a16="http://schemas.microsoft.com/office/drawing/2014/main" id="{EE1C61D6-B3DC-4AA4-B9FC-46837AF07982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逐台查看室溫、風速、模式及狀態，「編輯」調整名稱。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E1660CB1-0CD4-49FC-964E-6A27BC0C0B3E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958286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587A3863-4337-4525-A983-52FD826F71E9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7D0357B6-E474-460B-A91C-594561350715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FCU 室溫告警上下限">
            <a:extLst>
              <a:ext uri="{FF2B5EF4-FFF2-40B4-BE49-F238E27FC236}">
                <a16:creationId xmlns:a16="http://schemas.microsoft.com/office/drawing/2014/main" id="{E9B1249A-69C1-4D71-8247-33729AEC560D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FCU 室溫告警上下限</a:t>
            </a:r>
          </a:p>
        </p:txBody>
      </p:sp>
      <p:sp>
        <p:nvSpPr>
          <p:cNvPr id="4" name="這裡設定告警判斷範圍，請依現場管理需求確認">
            <a:extLst>
              <a:ext uri="{FF2B5EF4-FFF2-40B4-BE49-F238E27FC236}">
                <a16:creationId xmlns:a16="http://schemas.microsoft.com/office/drawing/2014/main" id="{888C60DC-7D8B-487E-8CB4-4B0B7D44A329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這裡設定告警判斷範圍，請依現場管理需求確認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403B5D85-0D25-4FEE-9BDD-C7520A467F77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3">
            <a:extLst>
              <a:ext uri="{FF2B5EF4-FFF2-40B4-BE49-F238E27FC236}">
                <a16:creationId xmlns:a16="http://schemas.microsoft.com/office/drawing/2014/main" id="{74B2A2FA-9165-4B5A-A4A6-B3A550430443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99260D-E8EB-495B-B6A5-B93C56F06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32814" y="2047875"/>
            <a:ext cx="5183372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B8EE01A5-A9D7-4ED2-A02B-E961C6F363FE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開啟設定室溫">
            <a:extLst>
              <a:ext uri="{FF2B5EF4-FFF2-40B4-BE49-F238E27FC236}">
                <a16:creationId xmlns:a16="http://schemas.microsoft.com/office/drawing/2014/main" id="{AA349AA1-82D2-4085-8743-FB3EF2B3EE92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開啟設定室溫</a:t>
            </a:r>
          </a:p>
        </p:txBody>
      </p:sp>
      <p:sp>
        <p:nvSpPr>
          <p:cNvPr id="10" name="按 FCU 管理頁的&#10;「設定室溫」。">
            <a:extLst>
              <a:ext uri="{FF2B5EF4-FFF2-40B4-BE49-F238E27FC236}">
                <a16:creationId xmlns:a16="http://schemas.microsoft.com/office/drawing/2014/main" id="{DA679982-21E8-452F-892C-249F7E3C3F91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按 FCU 管理頁的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「設定室溫」。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BC803AA1-507F-42F8-997C-C9E838EF06AC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全場共用範圍">
            <a:extLst>
              <a:ext uri="{FF2B5EF4-FFF2-40B4-BE49-F238E27FC236}">
                <a16:creationId xmlns:a16="http://schemas.microsoft.com/office/drawing/2014/main" id="{32779DC8-BFAD-44AE-9CB0-5B27C2B98408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全場共用範圍</a:t>
            </a:r>
          </a:p>
        </p:txBody>
      </p:sp>
      <p:sp>
        <p:nvSpPr>
          <p:cNvPr id="13" name="設定全場 FCU 告警範圍。&#10;完成後按「儲存設定」。">
            <a:extLst>
              <a:ext uri="{FF2B5EF4-FFF2-40B4-BE49-F238E27FC236}">
                <a16:creationId xmlns:a16="http://schemas.microsoft.com/office/drawing/2014/main" id="{35A60830-16A8-40B3-9D32-EEABACEB5721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設定全場 FCU 告警範圍。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完成後按「儲存設定」。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E319FD45-5C53-4E08-849A-E01181401B35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確認套用條件">
            <a:extLst>
              <a:ext uri="{FF2B5EF4-FFF2-40B4-BE49-F238E27FC236}">
                <a16:creationId xmlns:a16="http://schemas.microsoft.com/office/drawing/2014/main" id="{F7052807-01B4-46F5-8842-6E2841114058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確認套用條件</a:t>
            </a:r>
          </a:p>
        </p:txBody>
      </p:sp>
      <p:sp>
        <p:nvSpPr>
          <p:cNvPr id="16" name="儲存後數秒套用，開機且持續超標 60 秒才告警。">
            <a:extLst>
              <a:ext uri="{FF2B5EF4-FFF2-40B4-BE49-F238E27FC236}">
                <a16:creationId xmlns:a16="http://schemas.microsoft.com/office/drawing/2014/main" id="{939E7971-9938-48CD-9173-E9329A02EED3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儲存後數秒套用，開機且持續超標 60 秒才告警。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0AC26177-EE26-4A9E-98B6-8FB770891B9F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184238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9267D8B2-AFA2-4749-94FD-123B533DC384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A621BC4F-76A8-42A5-8B4B-C579ECD09999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B1 空間設備檢視">
            <a:extLst>
              <a:ext uri="{FF2B5EF4-FFF2-40B4-BE49-F238E27FC236}">
                <a16:creationId xmlns:a16="http://schemas.microsoft.com/office/drawing/2014/main" id="{68D6A489-611E-4B38-B54C-908D50323C6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B1 空間設備檢視</a:t>
            </a:r>
          </a:p>
        </p:txBody>
      </p:sp>
      <p:sp>
        <p:nvSpPr>
          <p:cNvPr id="4" name="現行畫面：B1 77 個分區，66 台已配置設備">
            <a:extLst>
              <a:ext uri="{FF2B5EF4-FFF2-40B4-BE49-F238E27FC236}">
                <a16:creationId xmlns:a16="http://schemas.microsoft.com/office/drawing/2014/main" id="{1778AD25-D0C8-431B-B181-25EF53990767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現行畫面：B1 77 個分區，66 台已配置設備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11AF4499-631C-49FB-AC9D-B7785C5D7F65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4">
            <a:extLst>
              <a:ext uri="{FF2B5EF4-FFF2-40B4-BE49-F238E27FC236}">
                <a16:creationId xmlns:a16="http://schemas.microsoft.com/office/drawing/2014/main" id="{04E48B52-F955-470B-BF8F-765C5D74B9A9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1786A0F-832A-4493-AB5F-CD92939AA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701" y="2047875"/>
            <a:ext cx="8845598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BD67E32F-629B-4B9A-A032-93BAAE0D72EB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切換樓層">
            <a:extLst>
              <a:ext uri="{FF2B5EF4-FFF2-40B4-BE49-F238E27FC236}">
                <a16:creationId xmlns:a16="http://schemas.microsoft.com/office/drawing/2014/main" id="{9C5107FB-8375-405B-BBCA-AC5FFA3820E3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切換樓層</a:t>
            </a:r>
          </a:p>
        </p:txBody>
      </p:sp>
      <p:sp>
        <p:nvSpPr>
          <p:cNvPr id="10" name="選擇 B1 後，以縮放工具&#10;查看設備名稱與分區。">
            <a:extLst>
              <a:ext uri="{FF2B5EF4-FFF2-40B4-BE49-F238E27FC236}">
                <a16:creationId xmlns:a16="http://schemas.microsoft.com/office/drawing/2014/main" id="{88752941-518F-490A-A631-22A55BA0CA0A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選擇 B1 後，以縮放工具</a:t>
            </a:r>
          </a:p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查看設備名稱與分區。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095990C0-9774-433B-8571-E50F528F80C2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對照設備位置">
            <a:extLst>
              <a:ext uri="{FF2B5EF4-FFF2-40B4-BE49-F238E27FC236}">
                <a16:creationId xmlns:a16="http://schemas.microsoft.com/office/drawing/2014/main" id="{DD3DDFFF-F9A2-4588-9372-4CB45C197B2D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對照設備位置</a:t>
            </a:r>
          </a:p>
        </p:txBody>
      </p:sp>
      <p:sp>
        <p:nvSpPr>
          <p:cNvPr id="13" name="以現場標籤核對圖面，不以示意面積作施工尺寸。">
            <a:extLst>
              <a:ext uri="{FF2B5EF4-FFF2-40B4-BE49-F238E27FC236}">
                <a16:creationId xmlns:a16="http://schemas.microsoft.com/office/drawing/2014/main" id="{0CA65BB3-515E-4425-8D54-B4610BE5D09E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以現場標籤核對圖面，不以示意面積作施工尺寸。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DD7FFD78-ED7F-4CA0-8FBA-31F8AEEE16D5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留意帳號權限">
            <a:extLst>
              <a:ext uri="{FF2B5EF4-FFF2-40B4-BE49-F238E27FC236}">
                <a16:creationId xmlns:a16="http://schemas.microsoft.com/office/drawing/2014/main" id="{F0861E20-4CB9-40FA-B3FB-DA3CA3B0B8C2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留意帳號權限</a:t>
            </a:r>
          </a:p>
        </p:txBody>
      </p:sp>
      <p:sp>
        <p:nvSpPr>
          <p:cNvPr id="16" name="本次 teco_admin 顯示「僅檢視」，可查看與匯出配置">
            <a:extLst>
              <a:ext uri="{FF2B5EF4-FFF2-40B4-BE49-F238E27FC236}">
                <a16:creationId xmlns:a16="http://schemas.microsoft.com/office/drawing/2014/main" id="{0076A5A2-8751-41EC-910F-B6E9D3DF01B3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本次 teco_admin 顯示「僅檢視」，可查看與匯出配置。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3A4DEA9F-26E9-46CF-8064-E8C6B9853410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974262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98FE75F4-C223-477C-A2AF-755802F3EB53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CE29D27B-6DF9-4EBE-B922-C2E38D2D561A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B2 空間檢視與配置權限">
            <a:extLst>
              <a:ext uri="{FF2B5EF4-FFF2-40B4-BE49-F238E27FC236}">
                <a16:creationId xmlns:a16="http://schemas.microsoft.com/office/drawing/2014/main" id="{BA5ADADF-E414-4D6D-AFE0-C161046AFAE7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B2 空間檢視與配置權限</a:t>
            </a:r>
          </a:p>
        </p:txBody>
      </p:sp>
      <p:sp>
        <p:nvSpPr>
          <p:cNvPr id="4" name="修改配置須使用具備「空間設備配置／可編輯」權限的帳號">
            <a:extLst>
              <a:ext uri="{FF2B5EF4-FFF2-40B4-BE49-F238E27FC236}">
                <a16:creationId xmlns:a16="http://schemas.microsoft.com/office/drawing/2014/main" id="{84D139CC-1968-4CD5-AAA9-746E92040BCC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修改配置須使用具備「空間設備配置／可編輯」權限的帳號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A31D2AAA-B958-4A48-BA8A-99F232DBC774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5">
            <a:extLst>
              <a:ext uri="{FF2B5EF4-FFF2-40B4-BE49-F238E27FC236}">
                <a16:creationId xmlns:a16="http://schemas.microsoft.com/office/drawing/2014/main" id="{9CDAB11B-A8CC-4034-A53E-353E959B1833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AACA932-6DA9-4B35-94B5-AA50F32AA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701" y="2047875"/>
            <a:ext cx="8845598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2856FD1F-AC73-4BDA-87F0-5D26C06F3492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B2 圖面核對">
            <a:extLst>
              <a:ext uri="{FF2B5EF4-FFF2-40B4-BE49-F238E27FC236}">
                <a16:creationId xmlns:a16="http://schemas.microsoft.com/office/drawing/2014/main" id="{02C9F023-850F-48CC-BC01-BFC010445007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B2 圖面核對</a:t>
            </a:r>
          </a:p>
        </p:txBody>
      </p:sp>
      <p:sp>
        <p:nvSpPr>
          <p:cNvPr id="10" name="現行畫面為 46 個分區、31 台已配置設備。">
            <a:extLst>
              <a:ext uri="{FF2B5EF4-FFF2-40B4-BE49-F238E27FC236}">
                <a16:creationId xmlns:a16="http://schemas.microsoft.com/office/drawing/2014/main" id="{D25FFA40-6928-4A1B-802D-300E5BB765DA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現行畫面為 46 個分區、31 台已配置設備。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950E64A8-64C8-4E3D-938A-DA349F01FD71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檢視與編輯不同">
            <a:extLst>
              <a:ext uri="{FF2B5EF4-FFF2-40B4-BE49-F238E27FC236}">
                <a16:creationId xmlns:a16="http://schemas.microsoft.com/office/drawing/2014/main" id="{B6BE29FC-19C8-49AD-9DBF-813627C356B9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檢視與編輯不同</a:t>
            </a:r>
          </a:p>
        </p:txBody>
      </p:sp>
      <p:sp>
        <p:nvSpPr>
          <p:cNvPr id="13" name="僅檢視帳號不會出現可儲存的編輯流程。">
            <a:extLst>
              <a:ext uri="{FF2B5EF4-FFF2-40B4-BE49-F238E27FC236}">
                <a16:creationId xmlns:a16="http://schemas.microsoft.com/office/drawing/2014/main" id="{ABF36AC4-B9EF-464A-9E48-D33D230089D7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僅檢視帳號不會出現可儲存的編輯流程。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574F2CA2-E4DB-4E70-9070-4C87AAF418BC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具編輯權限時">
            <a:extLst>
              <a:ext uri="{FF2B5EF4-FFF2-40B4-BE49-F238E27FC236}">
                <a16:creationId xmlns:a16="http://schemas.microsoft.com/office/drawing/2014/main" id="{38C019EA-7ED9-4792-8D8A-15D1D1F8E45B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具編輯權限時</a:t>
            </a:r>
          </a:p>
        </p:txBody>
      </p:sp>
      <p:sp>
        <p:nvSpPr>
          <p:cNvPr id="16" name="選區加入設備、調整位置，再儲存並重新開頁確認。">
            <a:extLst>
              <a:ext uri="{FF2B5EF4-FFF2-40B4-BE49-F238E27FC236}">
                <a16:creationId xmlns:a16="http://schemas.microsoft.com/office/drawing/2014/main" id="{CBA96D04-FFBA-4D21-8D69-7F40F8668303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選區加入設備、調整位置，再儲存並重新開頁確認。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9E48577A-CB1C-437B-B8F0-EFA4D9D56A08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8649857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717B1A76-16DC-4875-B18A-909A36359614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0EEB0D33-ADA9-4E96-AF68-CF672A97CC1D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3D 立體空間檢視">
            <a:extLst>
              <a:ext uri="{FF2B5EF4-FFF2-40B4-BE49-F238E27FC236}">
                <a16:creationId xmlns:a16="http://schemas.microsoft.com/office/drawing/2014/main" id="{FA83E2F7-C7F3-48A3-B45D-FA01CDAE7D1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3D 立體空間檢視</a:t>
            </a:r>
          </a:p>
        </p:txBody>
      </p:sp>
      <p:sp>
        <p:nvSpPr>
          <p:cNvPr id="4" name="立體量體為示意，供空間理解與設備位置查閱">
            <a:extLst>
              <a:ext uri="{FF2B5EF4-FFF2-40B4-BE49-F238E27FC236}">
                <a16:creationId xmlns:a16="http://schemas.microsoft.com/office/drawing/2014/main" id="{04E74B2E-CF20-43CB-B2DC-BACD20FAC831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立體量體為示意，供空間理解與設備位置查閱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0C8AD8F1-5A97-4790-ACC0-0D79C57FBDEC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6">
            <a:extLst>
              <a:ext uri="{FF2B5EF4-FFF2-40B4-BE49-F238E27FC236}">
                <a16:creationId xmlns:a16="http://schemas.microsoft.com/office/drawing/2014/main" id="{1DCD0516-ABF2-49C4-B7C4-8979988B3745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F9F9E88-75AC-400B-B4C5-18CFF9EF3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1701" y="2047875"/>
            <a:ext cx="8845598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D1A085BC-E66D-4C7D-A47C-B775F96AB504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切換 3D">
            <a:extLst>
              <a:ext uri="{FF2B5EF4-FFF2-40B4-BE49-F238E27FC236}">
                <a16:creationId xmlns:a16="http://schemas.microsoft.com/office/drawing/2014/main" id="{4ACA36DC-9088-4A98-9F93-66481CF8CCA7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切換 3D</a:t>
            </a:r>
          </a:p>
        </p:txBody>
      </p:sp>
      <p:sp>
        <p:nvSpPr>
          <p:cNvPr id="10" name="在樓層圖面右上方選擇「3D 立體」。">
            <a:extLst>
              <a:ext uri="{FF2B5EF4-FFF2-40B4-BE49-F238E27FC236}">
                <a16:creationId xmlns:a16="http://schemas.microsoft.com/office/drawing/2014/main" id="{22D9F43D-E607-40D8-AE5B-EFCA959405F9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在樓層圖面右上方選擇「3D 立體」。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83FEC55F-1481-4E0D-A5E5-F9612E06C2D1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旋轉與縮放">
            <a:extLst>
              <a:ext uri="{FF2B5EF4-FFF2-40B4-BE49-F238E27FC236}">
                <a16:creationId xmlns:a16="http://schemas.microsoft.com/office/drawing/2014/main" id="{489E459E-5C30-4B96-9D7F-8CA2128EC264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旋轉與縮放</a:t>
            </a:r>
          </a:p>
        </p:txBody>
      </p:sp>
      <p:sp>
        <p:nvSpPr>
          <p:cNvPr id="13" name="拖曳旋轉、滾輪縮放，「重設視角」回到初始視角。">
            <a:extLst>
              <a:ext uri="{FF2B5EF4-FFF2-40B4-BE49-F238E27FC236}">
                <a16:creationId xmlns:a16="http://schemas.microsoft.com/office/drawing/2014/main" id="{55E10886-2ECB-4B12-BB06-A20566D88A78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拖曳旋轉、滾輪縮放，「重設視角」回到初始視角。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49A777E8-CBE9-43F5-8648-747CE6B32406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切回 2D">
            <a:extLst>
              <a:ext uri="{FF2B5EF4-FFF2-40B4-BE49-F238E27FC236}">
                <a16:creationId xmlns:a16="http://schemas.microsoft.com/office/drawing/2014/main" id="{DEFC7310-EB58-49D3-82FC-29046E736773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切回 2D</a:t>
            </a:r>
          </a:p>
        </p:txBody>
      </p:sp>
      <p:sp>
        <p:nvSpPr>
          <p:cNvPr id="16" name="需要設備編輯時使用 2D 平面，並確認編輯權限。">
            <a:extLst>
              <a:ext uri="{FF2B5EF4-FFF2-40B4-BE49-F238E27FC236}">
                <a16:creationId xmlns:a16="http://schemas.microsoft.com/office/drawing/2014/main" id="{E1263CE3-2325-4D27-8697-989CCBD7F416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需要設備編輯時使用 2D 平面，並確認編輯權限。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9E7E0E67-94AC-4BCE-8325-D7A8BF9BB6F2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859063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8C2DF860-3CA6-4674-AA61-89404E0D2791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5E157AA1-E1FF-4A63-B447-E0B2F8609A6A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FCU 運轉報表查詢">
            <a:extLst>
              <a:ext uri="{FF2B5EF4-FFF2-40B4-BE49-F238E27FC236}">
                <a16:creationId xmlns:a16="http://schemas.microsoft.com/office/drawing/2014/main" id="{E53A83AD-B5C0-4093-A2FF-97F47351A20B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FCU 運轉報表查詢</a:t>
            </a:r>
          </a:p>
        </p:txBody>
      </p:sp>
      <p:sp>
        <p:nvSpPr>
          <p:cNvPr id="4" name="選單：統計報表／FCU運轉報表">
            <a:extLst>
              <a:ext uri="{FF2B5EF4-FFF2-40B4-BE49-F238E27FC236}">
                <a16:creationId xmlns:a16="http://schemas.microsoft.com/office/drawing/2014/main" id="{90F8C060-DD9A-4D9A-92EA-47B223DBCDC3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選單：統計報表／FCU運轉報表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7E622B2B-CE58-4708-A26B-323864586654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7">
            <a:extLst>
              <a:ext uri="{FF2B5EF4-FFF2-40B4-BE49-F238E27FC236}">
                <a16:creationId xmlns:a16="http://schemas.microsoft.com/office/drawing/2014/main" id="{0C648886-81EE-4BB6-8742-FEC2F9BE1B62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B618BB4-EF8E-43DC-810D-AFA0BF4C7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7916" y="2019300"/>
            <a:ext cx="8724167" cy="3857625"/>
          </a:xfrm>
          <a:prstGeom prst="rect">
            <a:avLst/>
          </a:prstGeom>
        </p:spPr>
      </p:pic>
      <p:sp>
        <p:nvSpPr>
          <p:cNvPr id="8" name="01  設定篩選">
            <a:extLst>
              <a:ext uri="{FF2B5EF4-FFF2-40B4-BE49-F238E27FC236}">
                <a16:creationId xmlns:a16="http://schemas.microsoft.com/office/drawing/2014/main" id="{E0A6431F-8909-4A1E-8435-E76644C0CBD9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設定篩選</a:t>
            </a:r>
          </a:p>
        </p:txBody>
      </p:sp>
      <p:sp>
        <p:nvSpPr>
          <p:cNvPr id="9" name="選樓層、設備、狀態、日期，並指定日或週。">
            <a:extLst>
              <a:ext uri="{FF2B5EF4-FFF2-40B4-BE49-F238E27FC236}">
                <a16:creationId xmlns:a16="http://schemas.microsoft.com/office/drawing/2014/main" id="{3CDF493A-B073-4675-8FF8-5A0053A8DE95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選樓層、設備、狀態、日期，並指定日或週。</a:t>
            </a:r>
          </a:p>
        </p:txBody>
      </p:sp>
      <p:sp>
        <p:nvSpPr>
          <p:cNvPr id="10" name="02  核對查詢結果">
            <a:extLst>
              <a:ext uri="{FF2B5EF4-FFF2-40B4-BE49-F238E27FC236}">
                <a16:creationId xmlns:a16="http://schemas.microsoft.com/office/drawing/2014/main" id="{2004765D-7641-463C-A05C-9B0AC9B12098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核對查詢結果</a:t>
            </a:r>
          </a:p>
        </p:txBody>
      </p:sp>
      <p:sp>
        <p:nvSpPr>
          <p:cNvPr id="11" name="確認設備名稱、編號與日期，再查看每小時資料。">
            <a:extLst>
              <a:ext uri="{FF2B5EF4-FFF2-40B4-BE49-F238E27FC236}">
                <a16:creationId xmlns:a16="http://schemas.microsoft.com/office/drawing/2014/main" id="{37BD7D14-208E-4224-B7E8-C76414C49C3E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確認設備名稱、編號與日期，再查看每小時資料。</a:t>
            </a:r>
          </a:p>
        </p:txBody>
      </p:sp>
      <p:sp>
        <p:nvSpPr>
          <p:cNvPr id="12" name="03  匯出留存">
            <a:extLst>
              <a:ext uri="{FF2B5EF4-FFF2-40B4-BE49-F238E27FC236}">
                <a16:creationId xmlns:a16="http://schemas.microsoft.com/office/drawing/2014/main" id="{BE89209B-9273-4C2F-A9D9-68CA30E9D593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匯出留存</a:t>
            </a:r>
          </a:p>
        </p:txBody>
      </p:sp>
      <p:sp>
        <p:nvSpPr>
          <p:cNvPr id="13" name="按「匯出 Excel」，&#10;下載完成後開檔核對。">
            <a:extLst>
              <a:ext uri="{FF2B5EF4-FFF2-40B4-BE49-F238E27FC236}">
                <a16:creationId xmlns:a16="http://schemas.microsoft.com/office/drawing/2014/main" id="{6E873E24-8114-48D0-9B13-D543DF62529E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按「匯出 Excel」，</a:t>
            </a:r>
          </a:p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下載完成後開檔核對。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4897872C-CB46-4DBA-9C48-E8C314E0B017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866925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D23BCC6A-454B-4C4B-8F8F-641C5CC66FA1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895A7C5E-2B35-448E-88CB-A6B8AA2D05C2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FCU 溫度趨勢判讀">
            <a:extLst>
              <a:ext uri="{FF2B5EF4-FFF2-40B4-BE49-F238E27FC236}">
                <a16:creationId xmlns:a16="http://schemas.microsoft.com/office/drawing/2014/main" id="{50A86336-6091-4169-960C-5171DE128166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FCU 溫度趨勢判讀</a:t>
            </a:r>
          </a:p>
        </p:txBody>
      </p:sp>
      <p:sp>
        <p:nvSpPr>
          <p:cNvPr id="4" name="折線圖呈現查詢時段的資料，當日尚未累積的時段不會出現">
            <a:extLst>
              <a:ext uri="{FF2B5EF4-FFF2-40B4-BE49-F238E27FC236}">
                <a16:creationId xmlns:a16="http://schemas.microsoft.com/office/drawing/2014/main" id="{0BF74D72-3748-405D-9EF9-DC7C673ADE53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折線圖呈現查詢時段的資料，當日尚未累積的時段不會出現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F0BE8E12-05B4-4EA9-8465-040837AF2A22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8">
            <a:extLst>
              <a:ext uri="{FF2B5EF4-FFF2-40B4-BE49-F238E27FC236}">
                <a16:creationId xmlns:a16="http://schemas.microsoft.com/office/drawing/2014/main" id="{7550323D-B8C5-4EBD-9CC9-8EBC7A643610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746F9AA-D8D5-47D6-82CF-462DDA35E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94409" y="2019300"/>
            <a:ext cx="9451181" cy="3857625"/>
          </a:xfrm>
          <a:prstGeom prst="rect">
            <a:avLst/>
          </a:prstGeom>
        </p:spPr>
      </p:pic>
      <p:sp>
        <p:nvSpPr>
          <p:cNvPr id="8" name="01  切換折線圖">
            <a:extLst>
              <a:ext uri="{FF2B5EF4-FFF2-40B4-BE49-F238E27FC236}">
                <a16:creationId xmlns:a16="http://schemas.microsoft.com/office/drawing/2014/main" id="{0DFF3CAF-2189-4D67-97A2-EF98A5167627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切換折線圖</a:t>
            </a:r>
          </a:p>
        </p:txBody>
      </p:sp>
      <p:sp>
        <p:nvSpPr>
          <p:cNvPr id="9" name="同一組查詢條件可以在「報表」與「折線圖」間切換。">
            <a:extLst>
              <a:ext uri="{FF2B5EF4-FFF2-40B4-BE49-F238E27FC236}">
                <a16:creationId xmlns:a16="http://schemas.microsoft.com/office/drawing/2014/main" id="{E4D6B38A-3AF6-40EB-A3A2-60AB630B7469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同一組查詢條件可以在「報表」與「折線圖」間切換。</a:t>
            </a:r>
          </a:p>
        </p:txBody>
      </p:sp>
      <p:sp>
        <p:nvSpPr>
          <p:cNvPr id="10" name="02  看時間與變化">
            <a:extLst>
              <a:ext uri="{FF2B5EF4-FFF2-40B4-BE49-F238E27FC236}">
                <a16:creationId xmlns:a16="http://schemas.microsoft.com/office/drawing/2014/main" id="{97F55DF3-F003-4DCF-B53E-E44298B8C3A9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看時間與變化</a:t>
            </a:r>
          </a:p>
        </p:txBody>
      </p:sp>
      <p:sp>
        <p:nvSpPr>
          <p:cNvPr id="11" name="比對溫度變化時間與現場開關機或使用情形。">
            <a:extLst>
              <a:ext uri="{FF2B5EF4-FFF2-40B4-BE49-F238E27FC236}">
                <a16:creationId xmlns:a16="http://schemas.microsoft.com/office/drawing/2014/main" id="{3AD11BBB-5948-4F99-B952-C70AD428AA44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比對溫度變化時間與現場開關機或使用情形。</a:t>
            </a:r>
          </a:p>
        </p:txBody>
      </p:sp>
      <p:sp>
        <p:nvSpPr>
          <p:cNvPr id="12" name="03  搭配告警查核">
            <a:extLst>
              <a:ext uri="{FF2B5EF4-FFF2-40B4-BE49-F238E27FC236}">
                <a16:creationId xmlns:a16="http://schemas.microsoft.com/office/drawing/2014/main" id="{F3AE603A-B677-475C-8E7D-11ED295A8C60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搭配告警查核</a:t>
            </a:r>
          </a:p>
        </p:txBody>
      </p:sp>
      <p:sp>
        <p:nvSpPr>
          <p:cNvPr id="13" name="需要判斷異常時，同步查看告警與設備狀態。">
            <a:extLst>
              <a:ext uri="{FF2B5EF4-FFF2-40B4-BE49-F238E27FC236}">
                <a16:creationId xmlns:a16="http://schemas.microsoft.com/office/drawing/2014/main" id="{7FBB561C-7570-47E7-9E04-1A41DD55DC87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需要判斷異常時，同步查看告警與設備狀態。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35F6D015-BCEF-463B-8891-D4F2B1DB482B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327216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9E850EAF-2EC6-4D65-AA17-561702293D98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FBB0A4CE-198D-4BCA-B5FB-30E14FB24778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冰水主機運轉報表">
            <a:extLst>
              <a:ext uri="{FF2B5EF4-FFF2-40B4-BE49-F238E27FC236}">
                <a16:creationId xmlns:a16="http://schemas.microsoft.com/office/drawing/2014/main" id="{E92F7CBF-E2D3-426E-AA54-35F2EB0DBF1D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冰水主機運轉報表</a:t>
            </a:r>
          </a:p>
        </p:txBody>
      </p:sp>
      <p:sp>
        <p:nvSpPr>
          <p:cNvPr id="4" name="選單：統計報表／冰水主機運轉報表">
            <a:extLst>
              <a:ext uri="{FF2B5EF4-FFF2-40B4-BE49-F238E27FC236}">
                <a16:creationId xmlns:a16="http://schemas.microsoft.com/office/drawing/2014/main" id="{3D7CBD27-33D3-422E-83BA-5AB3EB4257BE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選單：統計報表／冰水主機運轉報表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40025E83-AC42-46E5-9AD9-D99506C8B833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19">
            <a:extLst>
              <a:ext uri="{FF2B5EF4-FFF2-40B4-BE49-F238E27FC236}">
                <a16:creationId xmlns:a16="http://schemas.microsoft.com/office/drawing/2014/main" id="{AD4218BC-7783-4AFF-A2BA-346A25A7ECB7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FEDA59-DB6F-4EBF-87D7-BB6C312F1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7916" y="2019300"/>
            <a:ext cx="8724167" cy="3857625"/>
          </a:xfrm>
          <a:prstGeom prst="rect">
            <a:avLst/>
          </a:prstGeom>
        </p:spPr>
      </p:pic>
      <p:sp>
        <p:nvSpPr>
          <p:cNvPr id="8" name="01  選主機與日期">
            <a:extLst>
              <a:ext uri="{FF2B5EF4-FFF2-40B4-BE49-F238E27FC236}">
                <a16:creationId xmlns:a16="http://schemas.microsoft.com/office/drawing/2014/main" id="{939BCF71-8919-4D8C-85A0-8CF708250081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選主機與日期</a:t>
            </a:r>
          </a:p>
        </p:txBody>
      </p:sp>
      <p:sp>
        <p:nvSpPr>
          <p:cNvPr id="9" name="指定冰水主機 1 或 2，選日或週查詢。">
            <a:extLst>
              <a:ext uri="{FF2B5EF4-FFF2-40B4-BE49-F238E27FC236}">
                <a16:creationId xmlns:a16="http://schemas.microsoft.com/office/drawing/2014/main" id="{5CD5C2DB-6A28-4F9C-94AC-775B415A8C76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指定冰水主機 1 或 2，選日或週查詢。</a:t>
            </a:r>
          </a:p>
        </p:txBody>
      </p:sp>
      <p:sp>
        <p:nvSpPr>
          <p:cNvPr id="10" name="02  讀取溫度與負載">
            <a:extLst>
              <a:ext uri="{FF2B5EF4-FFF2-40B4-BE49-F238E27FC236}">
                <a16:creationId xmlns:a16="http://schemas.microsoft.com/office/drawing/2014/main" id="{35C9A5A5-B655-451C-9AE0-797640B350CA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讀取溫度與負載</a:t>
            </a:r>
          </a:p>
        </p:txBody>
      </p:sp>
      <p:sp>
        <p:nvSpPr>
          <p:cNvPr id="11" name="比對出回水、ΔT、負載與時數。">
            <a:extLst>
              <a:ext uri="{FF2B5EF4-FFF2-40B4-BE49-F238E27FC236}">
                <a16:creationId xmlns:a16="http://schemas.microsoft.com/office/drawing/2014/main" id="{77B9874C-12B2-43D4-A208-E7310077C8DB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比對出回水、ΔT、負載與時數。</a:t>
            </a:r>
          </a:p>
        </p:txBody>
      </p:sp>
      <p:sp>
        <p:nvSpPr>
          <p:cNvPr id="12" name="03  保留驗收資料">
            <a:extLst>
              <a:ext uri="{FF2B5EF4-FFF2-40B4-BE49-F238E27FC236}">
                <a16:creationId xmlns:a16="http://schemas.microsoft.com/office/drawing/2014/main" id="{6EACC972-C8E4-47A5-8221-E1124A0AD438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保留驗收資料</a:t>
            </a:r>
          </a:p>
        </p:txBody>
      </p:sp>
      <p:sp>
        <p:nvSpPr>
          <p:cNvPr id="13" name="匯出後以同時段現場面板或紀錄核對。">
            <a:extLst>
              <a:ext uri="{FF2B5EF4-FFF2-40B4-BE49-F238E27FC236}">
                <a16:creationId xmlns:a16="http://schemas.microsoft.com/office/drawing/2014/main" id="{18CF0459-5DA8-4A1E-BAA1-4F9A1B7BF5AD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匯出後以同時段現場面板或紀錄核對。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E8B82949-2832-4E98-A019-B35614F80A7C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823162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24048260-9DB0-49F0-8C81-BBAF0D302CF0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DED68FA9-CDAA-43A0-A03C-F9AAFD10B2BD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異常告警歷史查詢">
            <a:extLst>
              <a:ext uri="{FF2B5EF4-FFF2-40B4-BE49-F238E27FC236}">
                <a16:creationId xmlns:a16="http://schemas.microsoft.com/office/drawing/2014/main" id="{8EA717BB-660D-4050-A4BB-E4FEEF4F672F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異常告警歷史查詢</a:t>
            </a:r>
          </a:p>
        </p:txBody>
      </p:sp>
      <p:sp>
        <p:nvSpPr>
          <p:cNvPr id="4" name="選單：統計報表／異常告警報表">
            <a:extLst>
              <a:ext uri="{FF2B5EF4-FFF2-40B4-BE49-F238E27FC236}">
                <a16:creationId xmlns:a16="http://schemas.microsoft.com/office/drawing/2014/main" id="{78DCE09B-1971-46B8-B24E-8568E6101CAC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選單：統計報表／異常告警報表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36E61A81-18C4-4932-BD9E-205BA3382A31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20">
            <a:extLst>
              <a:ext uri="{FF2B5EF4-FFF2-40B4-BE49-F238E27FC236}">
                <a16:creationId xmlns:a16="http://schemas.microsoft.com/office/drawing/2014/main" id="{4A7D92DF-A9DB-4A42-A933-A59DA5B68A42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982884B-E39E-4907-9F7E-D03124ACD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7916" y="2019300"/>
            <a:ext cx="8724167" cy="3857625"/>
          </a:xfrm>
          <a:prstGeom prst="rect">
            <a:avLst/>
          </a:prstGeom>
        </p:spPr>
      </p:pic>
      <p:sp>
        <p:nvSpPr>
          <p:cNvPr id="8" name="01  名稱或編號搜尋">
            <a:extLst>
              <a:ext uri="{FF2B5EF4-FFF2-40B4-BE49-F238E27FC236}">
                <a16:creationId xmlns:a16="http://schemas.microsoft.com/office/drawing/2014/main" id="{0A002AAC-724A-4705-B0D5-FA14C1F584F0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名稱或編號搜尋</a:t>
            </a:r>
          </a:p>
        </p:txBody>
      </p:sp>
      <p:sp>
        <p:nvSpPr>
          <p:cNvPr id="9" name="輸入設備名稱或系統編號，設定起迄日期。">
            <a:extLst>
              <a:ext uri="{FF2B5EF4-FFF2-40B4-BE49-F238E27FC236}">
                <a16:creationId xmlns:a16="http://schemas.microsoft.com/office/drawing/2014/main" id="{E894D533-4131-43B3-8D3B-5E0B67978453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輸入設備名稱或系統編號，設定起迄日期。</a:t>
            </a:r>
          </a:p>
        </p:txBody>
      </p:sp>
      <p:sp>
        <p:nvSpPr>
          <p:cNvPr id="10" name="02  按查詢更新">
            <a:extLst>
              <a:ext uri="{FF2B5EF4-FFF2-40B4-BE49-F238E27FC236}">
                <a16:creationId xmlns:a16="http://schemas.microsoft.com/office/drawing/2014/main" id="{D8F1A9C3-EA85-47E8-AC48-781A6C8A832E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按查詢更新</a:t>
            </a:r>
          </a:p>
        </p:txBody>
      </p:sp>
      <p:sp>
        <p:nvSpPr>
          <p:cNvPr id="11" name="核對通報時間、告警項目與狀態。">
            <a:extLst>
              <a:ext uri="{FF2B5EF4-FFF2-40B4-BE49-F238E27FC236}">
                <a16:creationId xmlns:a16="http://schemas.microsoft.com/office/drawing/2014/main" id="{C4AAC51A-70FE-452F-9892-52775044074C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核對通報時間、告警項目與狀態。</a:t>
            </a:r>
          </a:p>
        </p:txBody>
      </p:sp>
      <p:sp>
        <p:nvSpPr>
          <p:cNvPr id="12" name="03  區分事件狀態">
            <a:extLst>
              <a:ext uri="{FF2B5EF4-FFF2-40B4-BE49-F238E27FC236}">
                <a16:creationId xmlns:a16="http://schemas.microsoft.com/office/drawing/2014/main" id="{B012966F-E01D-46E4-9DA6-FDA45928E764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區分事件狀態</a:t>
            </a:r>
          </a:p>
        </p:txBody>
      </p:sp>
      <p:sp>
        <p:nvSpPr>
          <p:cNvPr id="13" name="「異常」為未解除，「已排除」保留歷史追蹤。">
            <a:extLst>
              <a:ext uri="{FF2B5EF4-FFF2-40B4-BE49-F238E27FC236}">
                <a16:creationId xmlns:a16="http://schemas.microsoft.com/office/drawing/2014/main" id="{FBD9C9C9-498A-49B2-853F-6E9DC4676D10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「異常」為未解除，「已排除」保留歷史追蹤。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73D57FA5-BA89-4357-838A-72FC0CEA9F82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4835496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19521D94-A0BA-4A0D-A14C-650BCA394692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1B4536A7-5988-43B9-B948-98DA0A952FC1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使用者管理與保護規則">
            <a:extLst>
              <a:ext uri="{FF2B5EF4-FFF2-40B4-BE49-F238E27FC236}">
                <a16:creationId xmlns:a16="http://schemas.microsoft.com/office/drawing/2014/main" id="{4B0E8FD7-8F31-4316-9E08-5A7F143C34DD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使用者管理與保護規則</a:t>
            </a:r>
          </a:p>
        </p:txBody>
      </p:sp>
      <p:sp>
        <p:nvSpPr>
          <p:cNvPr id="4" name="選單：使用者管理　　路徑：/admin/users">
            <a:extLst>
              <a:ext uri="{FF2B5EF4-FFF2-40B4-BE49-F238E27FC236}">
                <a16:creationId xmlns:a16="http://schemas.microsoft.com/office/drawing/2014/main" id="{5FCA9F71-B424-4BC1-BDC8-5C0C72AD0898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選單：使用者管理　　路徑：/admin/users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212ECD1C-E701-4F2E-814A-E7B23B399987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21">
            <a:extLst>
              <a:ext uri="{FF2B5EF4-FFF2-40B4-BE49-F238E27FC236}">
                <a16:creationId xmlns:a16="http://schemas.microsoft.com/office/drawing/2014/main" id="{6F08770E-7A3B-486B-BCD3-FED80976CC89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A07C2ED-BF5B-4D5C-967A-3F303409A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4502" y="2019300"/>
            <a:ext cx="13830997" cy="3857625"/>
          </a:xfrm>
          <a:prstGeom prst="rect">
            <a:avLst/>
          </a:prstGeom>
        </p:spPr>
      </p:pic>
      <p:sp>
        <p:nvSpPr>
          <p:cNvPr id="8" name="01  依權限操作">
            <a:extLst>
              <a:ext uri="{FF2B5EF4-FFF2-40B4-BE49-F238E27FC236}">
                <a16:creationId xmlns:a16="http://schemas.microsoft.com/office/drawing/2014/main" id="{AC8C36B5-F312-4543-B1DA-0E41AEA61A9D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依權限操作</a:t>
            </a:r>
          </a:p>
        </p:txBody>
      </p:sp>
      <p:sp>
        <p:nvSpPr>
          <p:cNvPr id="9" name="搜尋使用者，查看帳號、身分與最後登入時間。">
            <a:extLst>
              <a:ext uri="{FF2B5EF4-FFF2-40B4-BE49-F238E27FC236}">
                <a16:creationId xmlns:a16="http://schemas.microsoft.com/office/drawing/2014/main" id="{796B364C-D7FE-4F1B-905D-E6FE6D5ED924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搜尋使用者，查看帳號、身分與最後登入時間。</a:t>
            </a:r>
          </a:p>
        </p:txBody>
      </p:sp>
      <p:sp>
        <p:nvSpPr>
          <p:cNvPr id="10" name="02  帳號層級保護">
            <a:extLst>
              <a:ext uri="{FF2B5EF4-FFF2-40B4-BE49-F238E27FC236}">
                <a16:creationId xmlns:a16="http://schemas.microsoft.com/office/drawing/2014/main" id="{9B574AB4-3FBB-46D9-9A64-0BF4F99FBD13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帳號層級保護</a:t>
            </a:r>
          </a:p>
        </p:txBody>
      </p:sp>
      <p:sp>
        <p:nvSpPr>
          <p:cNvPr id="11" name="擁有者與自己的帳號有保護，受限功能會呈灰色。">
            <a:extLst>
              <a:ext uri="{FF2B5EF4-FFF2-40B4-BE49-F238E27FC236}">
                <a16:creationId xmlns:a16="http://schemas.microsoft.com/office/drawing/2014/main" id="{433E58F6-D773-47D1-91BE-3B57EDD99A93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擁有者與自己的帳號有保護，受限功能會呈灰色。</a:t>
            </a:r>
          </a:p>
        </p:txBody>
      </p:sp>
      <p:sp>
        <p:nvSpPr>
          <p:cNvPr id="12" name="03  權限調整分工">
            <a:extLst>
              <a:ext uri="{FF2B5EF4-FFF2-40B4-BE49-F238E27FC236}">
                <a16:creationId xmlns:a16="http://schemas.microsoft.com/office/drawing/2014/main" id="{448E81C3-56DD-4829-A8BE-D8452DC713DE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權限調整分工</a:t>
            </a:r>
          </a:p>
        </p:txBody>
      </p:sp>
      <p:sp>
        <p:nvSpPr>
          <p:cNvPr id="13" name="自己的權限由其他有權限者調整，不能自行提高。">
            <a:extLst>
              <a:ext uri="{FF2B5EF4-FFF2-40B4-BE49-F238E27FC236}">
                <a16:creationId xmlns:a16="http://schemas.microsoft.com/office/drawing/2014/main" id="{3F0DB8A9-8208-41E4-ADE9-CA999D099F59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自己的權限由其他有權限者調整，不能自行提高。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058062D5-2D5C-4127-A6C5-A917836D022B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186315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CO  /  智慧環境監控">
            <a:extLst>
              <a:ext uri="{FF2B5EF4-FFF2-40B4-BE49-F238E27FC236}">
                <a16:creationId xmlns:a16="http://schemas.microsoft.com/office/drawing/2014/main" id="{BBA2484F-64A9-4599-8CF5-9C1115C748A0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管理教學">
            <a:extLst>
              <a:ext uri="{FF2B5EF4-FFF2-40B4-BE49-F238E27FC236}">
                <a16:creationId xmlns:a16="http://schemas.microsoft.com/office/drawing/2014/main" id="{3C0B5CF8-51BB-4CA7-B7AC-9BD77B8FBAE4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管理教學</a:t>
            </a:r>
          </a:p>
        </p:txBody>
      </p:sp>
      <p:sp>
        <p:nvSpPr>
          <p:cNvPr id="3" name="新增使用者與功能授權">
            <a:extLst>
              <a:ext uri="{FF2B5EF4-FFF2-40B4-BE49-F238E27FC236}">
                <a16:creationId xmlns:a16="http://schemas.microsoft.com/office/drawing/2014/main" id="{EB60DEDE-C001-4AAC-A585-A3643571D45F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新增使用者與功能授權</a:t>
            </a:r>
          </a:p>
        </p:txBody>
      </p:sp>
      <p:sp>
        <p:nvSpPr>
          <p:cNvPr id="4" name="此操作由具備使用者管理權限的人員執行">
            <a:extLst>
              <a:ext uri="{FF2B5EF4-FFF2-40B4-BE49-F238E27FC236}">
                <a16:creationId xmlns:a16="http://schemas.microsoft.com/office/drawing/2014/main" id="{F6759038-65FD-45D7-A7F4-E5A000B54463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此操作由具備使用者管理權限的人員執行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3BDC1E31-A89E-44DD-A6F3-005A5467707F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22">
            <a:extLst>
              <a:ext uri="{FF2B5EF4-FFF2-40B4-BE49-F238E27FC236}">
                <a16:creationId xmlns:a16="http://schemas.microsoft.com/office/drawing/2014/main" id="{B52F386C-53ED-47D6-B563-8DB5D8555521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791EC10-AFC5-4B88-B498-F6D8AB9A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06325" y="2028825"/>
            <a:ext cx="2730850" cy="5629275"/>
          </a:xfrm>
          <a:prstGeom prst="rect">
            <a:avLst/>
          </a:prstGeom>
        </p:spPr>
      </p:pic>
      <p:sp>
        <p:nvSpPr>
          <p:cNvPr id="8" name="帳號資料">
            <a:extLst>
              <a:ext uri="{FF2B5EF4-FFF2-40B4-BE49-F238E27FC236}">
                <a16:creationId xmlns:a16="http://schemas.microsoft.com/office/drawing/2014/main" id="{221293B3-9EBA-42FB-A5D0-A51C6E2FFA76}"/>
              </a:ext>
            </a:extLst>
          </p:cNvPr>
          <p:cNvSpPr>
            <a:spLocks noGrp="1"/>
          </p:cNvSpPr>
          <p:nvPr/>
        </p:nvSpPr>
        <p:spPr>
          <a:xfrm>
            <a:off x="5334000" y="209550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帳號資料</a:t>
            </a:r>
          </a:p>
        </p:txBody>
      </p:sp>
      <p:sp>
        <p:nvSpPr>
          <p:cNvPr id="9" name="填入帳號、顯示名稱與初始密碼，信箱為選填。">
            <a:extLst>
              <a:ext uri="{FF2B5EF4-FFF2-40B4-BE49-F238E27FC236}">
                <a16:creationId xmlns:a16="http://schemas.microsoft.com/office/drawing/2014/main" id="{70806D61-40F0-473C-9FEE-88F13754AB0A}"/>
              </a:ext>
            </a:extLst>
          </p:cNvPr>
          <p:cNvSpPr>
            <a:spLocks noGrp="1"/>
          </p:cNvSpPr>
          <p:nvPr/>
        </p:nvSpPr>
        <p:spPr>
          <a:xfrm>
            <a:off x="5334000" y="2590800"/>
            <a:ext cx="9048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填入帳號、顯示名稱與初始密碼，信箱為選填。</a:t>
            </a:r>
          </a:p>
        </p:txBody>
      </p:sp>
      <p:sp>
        <p:nvSpPr>
          <p:cNvPr id="10" name="勾選功能">
            <a:extLst>
              <a:ext uri="{FF2B5EF4-FFF2-40B4-BE49-F238E27FC236}">
                <a16:creationId xmlns:a16="http://schemas.microsoft.com/office/drawing/2014/main" id="{32CB3902-9179-4331-83F7-63D5F07FCC24}"/>
              </a:ext>
            </a:extLst>
          </p:cNvPr>
          <p:cNvSpPr>
            <a:spLocks noGrp="1"/>
          </p:cNvSpPr>
          <p:nvPr/>
        </p:nvSpPr>
        <p:spPr>
          <a:xfrm>
            <a:off x="5334000" y="3476625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勾選功能</a:t>
            </a:r>
          </a:p>
        </p:txBody>
      </p:sp>
      <p:sp>
        <p:nvSpPr>
          <p:cNvPr id="11" name="依工作需求勾選，授予範圍不能超過自己的權限。">
            <a:extLst>
              <a:ext uri="{FF2B5EF4-FFF2-40B4-BE49-F238E27FC236}">
                <a16:creationId xmlns:a16="http://schemas.microsoft.com/office/drawing/2014/main" id="{47DE3CF9-0A6E-40C5-A960-16C2D7A3E3BB}"/>
              </a:ext>
            </a:extLst>
          </p:cNvPr>
          <p:cNvSpPr>
            <a:spLocks noGrp="1"/>
          </p:cNvSpPr>
          <p:nvPr/>
        </p:nvSpPr>
        <p:spPr>
          <a:xfrm>
            <a:off x="5334000" y="3971925"/>
            <a:ext cx="9048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依工作需求勾選，授予範圍不能超過自己的權限。</a:t>
            </a:r>
          </a:p>
        </p:txBody>
      </p:sp>
      <p:sp>
        <p:nvSpPr>
          <p:cNvPr id="12" name="空間配置例外">
            <a:extLst>
              <a:ext uri="{FF2B5EF4-FFF2-40B4-BE49-F238E27FC236}">
                <a16:creationId xmlns:a16="http://schemas.microsoft.com/office/drawing/2014/main" id="{6643DF73-1E5B-4C99-A90D-FFF7BAE733BF}"/>
              </a:ext>
            </a:extLst>
          </p:cNvPr>
          <p:cNvSpPr>
            <a:spLocks noGrp="1"/>
          </p:cNvSpPr>
          <p:nvPr/>
        </p:nvSpPr>
        <p:spPr>
          <a:xfrm>
            <a:off x="5334000" y="4857750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空間配置例外</a:t>
            </a:r>
          </a:p>
        </p:txBody>
      </p:sp>
      <p:sp>
        <p:nvSpPr>
          <p:cNvPr id="13" name="可另外指定僅檢視或可編輯，不必一律開放修改。">
            <a:extLst>
              <a:ext uri="{FF2B5EF4-FFF2-40B4-BE49-F238E27FC236}">
                <a16:creationId xmlns:a16="http://schemas.microsoft.com/office/drawing/2014/main" id="{B9A9FB63-38D7-44DD-95AB-5B7CCB18AC7C}"/>
              </a:ext>
            </a:extLst>
          </p:cNvPr>
          <p:cNvSpPr>
            <a:spLocks noGrp="1"/>
          </p:cNvSpPr>
          <p:nvPr/>
        </p:nvSpPr>
        <p:spPr>
          <a:xfrm>
            <a:off x="5334000" y="5353050"/>
            <a:ext cx="9048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可另外指定僅檢視或可編輯，不必一律開放修改。</a:t>
            </a:r>
          </a:p>
        </p:txBody>
      </p:sp>
      <p:sp>
        <p:nvSpPr>
          <p:cNvPr id="14" name="儲存後驗證">
            <a:extLst>
              <a:ext uri="{FF2B5EF4-FFF2-40B4-BE49-F238E27FC236}">
                <a16:creationId xmlns:a16="http://schemas.microsoft.com/office/drawing/2014/main" id="{22BEBCD2-5B5D-489C-8B38-8EEC3DF3649D}"/>
              </a:ext>
            </a:extLst>
          </p:cNvPr>
          <p:cNvSpPr>
            <a:spLocks noGrp="1"/>
          </p:cNvSpPr>
          <p:nvPr/>
        </p:nvSpPr>
        <p:spPr>
          <a:xfrm>
            <a:off x="5334000" y="6238875"/>
            <a:ext cx="9048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4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儲存後驗證</a:t>
            </a:r>
          </a:p>
        </p:txBody>
      </p:sp>
      <p:sp>
        <p:nvSpPr>
          <p:cNvPr id="15" name="向下捲動完成新增，再由新帳號登入確認選單。">
            <a:extLst>
              <a:ext uri="{FF2B5EF4-FFF2-40B4-BE49-F238E27FC236}">
                <a16:creationId xmlns:a16="http://schemas.microsoft.com/office/drawing/2014/main" id="{D76707D4-64F1-4A72-88A0-6B7BF3EC67D6}"/>
              </a:ext>
            </a:extLst>
          </p:cNvPr>
          <p:cNvSpPr>
            <a:spLocks noGrp="1"/>
          </p:cNvSpPr>
          <p:nvPr/>
        </p:nvSpPr>
        <p:spPr>
          <a:xfrm>
            <a:off x="5334000" y="6734175"/>
            <a:ext cx="90487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向下捲動完成新增，再由新帳號登入確認選單。</a:t>
            </a:r>
          </a:p>
        </p:txBody>
      </p:sp>
      <p:sp>
        <p:nvSpPr>
          <p:cNvPr id="16" name="本次只開啟新增面板示範，未建立帳號或變更任何權限">
            <a:extLst>
              <a:ext uri="{FF2B5EF4-FFF2-40B4-BE49-F238E27FC236}">
                <a16:creationId xmlns:a16="http://schemas.microsoft.com/office/drawing/2014/main" id="{E611A02C-EE19-4A17-A735-015CE624FE24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本次只開啟新增面板示範，未建立帳號或變更任何權限</a:t>
            </a:r>
          </a:p>
        </p:txBody>
      </p:sp>
    </p:spTree>
    <p:extLst>
      <p:ext uri="{BB962C8B-B14F-4D97-AF65-F5344CB8AC3E}">
        <p14:creationId xmlns:p14="http://schemas.microsoft.com/office/powerpoint/2010/main" val="5700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CO  /  智慧環境監控">
            <a:extLst>
              <a:ext uri="{FF2B5EF4-FFF2-40B4-BE49-F238E27FC236}">
                <a16:creationId xmlns:a16="http://schemas.microsoft.com/office/drawing/2014/main" id="{E40EC290-AF09-44FF-8E33-81A6DED333FE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44A304B3-468F-4C0A-A8BF-C3BF382CB924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操作紀錄查詢">
            <a:extLst>
              <a:ext uri="{FF2B5EF4-FFF2-40B4-BE49-F238E27FC236}">
                <a16:creationId xmlns:a16="http://schemas.microsoft.com/office/drawing/2014/main" id="{EC06845A-3002-4E95-8441-F53E5FD4E6D5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操作紀錄查詢</a:t>
            </a:r>
          </a:p>
        </p:txBody>
      </p:sp>
      <p:sp>
        <p:nvSpPr>
          <p:cNvPr id="4" name="選單：操作紀錄　　路徑：/admin/operation-l">
            <a:extLst>
              <a:ext uri="{FF2B5EF4-FFF2-40B4-BE49-F238E27FC236}">
                <a16:creationId xmlns:a16="http://schemas.microsoft.com/office/drawing/2014/main" id="{D98F63AE-8AED-4A69-B355-877D9BDBDCC3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選單：操作紀錄　　路徑：/admin/operation-log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DF743704-9057-4E15-A816-B25AC6FEA816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23">
            <a:extLst>
              <a:ext uri="{FF2B5EF4-FFF2-40B4-BE49-F238E27FC236}">
                <a16:creationId xmlns:a16="http://schemas.microsoft.com/office/drawing/2014/main" id="{88FF25CE-0E1C-4737-910A-259F97619827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3E47048-6E1B-41D5-B5B9-D644B4EF4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257916" y="2019300"/>
            <a:ext cx="8724167" cy="3857625"/>
          </a:xfrm>
          <a:prstGeom prst="rect">
            <a:avLst/>
          </a:prstGeom>
        </p:spPr>
      </p:pic>
      <p:sp>
        <p:nvSpPr>
          <p:cNvPr id="8" name="01  指定日期">
            <a:extLst>
              <a:ext uri="{FF2B5EF4-FFF2-40B4-BE49-F238E27FC236}">
                <a16:creationId xmlns:a16="http://schemas.microsoft.com/office/drawing/2014/main" id="{8BBA99D3-E6AC-47C6-A4C6-17E5BD449F6F}"/>
              </a:ext>
            </a:extLst>
          </p:cNvPr>
          <p:cNvSpPr>
            <a:spLocks noGrp="1"/>
          </p:cNvSpPr>
          <p:nvPr/>
        </p:nvSpPr>
        <p:spPr>
          <a:xfrm>
            <a:off x="57150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  指定日期</a:t>
            </a:r>
          </a:p>
        </p:txBody>
      </p:sp>
      <p:sp>
        <p:nvSpPr>
          <p:cNvPr id="9" name="選擇起迄日期後按「查詢」，最大範圍為一年。">
            <a:extLst>
              <a:ext uri="{FF2B5EF4-FFF2-40B4-BE49-F238E27FC236}">
                <a16:creationId xmlns:a16="http://schemas.microsoft.com/office/drawing/2014/main" id="{1E6620B8-CCB7-47D8-9AE5-11B4DE929AFD}"/>
              </a:ext>
            </a:extLst>
          </p:cNvPr>
          <p:cNvSpPr>
            <a:spLocks noGrp="1"/>
          </p:cNvSpPr>
          <p:nvPr/>
        </p:nvSpPr>
        <p:spPr>
          <a:xfrm>
            <a:off x="57150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選擇起迄日期後按「查詢」，最大範圍為一年。</a:t>
            </a:r>
          </a:p>
        </p:txBody>
      </p:sp>
      <p:sp>
        <p:nvSpPr>
          <p:cNvPr id="10" name="02  核對變更">
            <a:extLst>
              <a:ext uri="{FF2B5EF4-FFF2-40B4-BE49-F238E27FC236}">
                <a16:creationId xmlns:a16="http://schemas.microsoft.com/office/drawing/2014/main" id="{6AF332B2-177B-42A8-8F83-BC981B03F2CE}"/>
              </a:ext>
            </a:extLst>
          </p:cNvPr>
          <p:cNvSpPr>
            <a:spLocks noGrp="1"/>
          </p:cNvSpPr>
          <p:nvPr/>
        </p:nvSpPr>
        <p:spPr>
          <a:xfrm>
            <a:off x="5381625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  核對變更</a:t>
            </a:r>
          </a:p>
        </p:txBody>
      </p:sp>
      <p:sp>
        <p:nvSpPr>
          <p:cNvPr id="11" name="檢查時間、使用者、操作類別與具體內容。">
            <a:extLst>
              <a:ext uri="{FF2B5EF4-FFF2-40B4-BE49-F238E27FC236}">
                <a16:creationId xmlns:a16="http://schemas.microsoft.com/office/drawing/2014/main" id="{2F5C9E78-261F-4C63-801F-306AA1FA5509}"/>
              </a:ext>
            </a:extLst>
          </p:cNvPr>
          <p:cNvSpPr>
            <a:spLocks noGrp="1"/>
          </p:cNvSpPr>
          <p:nvPr/>
        </p:nvSpPr>
        <p:spPr>
          <a:xfrm>
            <a:off x="5381625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檢查時間、使用者、操作類別與具體內容。</a:t>
            </a:r>
          </a:p>
        </p:txBody>
      </p:sp>
      <p:sp>
        <p:nvSpPr>
          <p:cNvPr id="12" name="03  問題追溯">
            <a:extLst>
              <a:ext uri="{FF2B5EF4-FFF2-40B4-BE49-F238E27FC236}">
                <a16:creationId xmlns:a16="http://schemas.microsoft.com/office/drawing/2014/main" id="{499C7828-A036-4E86-8E04-200DB1CDF597}"/>
              </a:ext>
            </a:extLst>
          </p:cNvPr>
          <p:cNvSpPr>
            <a:spLocks noGrp="1"/>
          </p:cNvSpPr>
          <p:nvPr/>
        </p:nvSpPr>
        <p:spPr>
          <a:xfrm>
            <a:off x="10191750" y="6172200"/>
            <a:ext cx="44291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  問題追溯</a:t>
            </a:r>
          </a:p>
        </p:txBody>
      </p:sp>
      <p:sp>
        <p:nvSpPr>
          <p:cNvPr id="13" name="異常回報時附操作時間、設備識別與畫面截圖。">
            <a:extLst>
              <a:ext uri="{FF2B5EF4-FFF2-40B4-BE49-F238E27FC236}">
                <a16:creationId xmlns:a16="http://schemas.microsoft.com/office/drawing/2014/main" id="{55BAAAA9-4B28-4C16-9ED9-7CB862B8210D}"/>
              </a:ext>
            </a:extLst>
          </p:cNvPr>
          <p:cNvSpPr>
            <a:spLocks noGrp="1"/>
          </p:cNvSpPr>
          <p:nvPr/>
        </p:nvSpPr>
        <p:spPr>
          <a:xfrm>
            <a:off x="10191750" y="6667500"/>
            <a:ext cx="4429125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950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異常回報時附操作時間、設備識別與畫面截圖。</a:t>
            </a:r>
          </a:p>
        </p:txBody>
      </p:sp>
      <p:sp>
        <p:nvSpPr>
          <p:cNvPr id="14" name="遠端系統實際畫面　2026/10/27　數值依擷取時點">
            <a:extLst>
              <a:ext uri="{FF2B5EF4-FFF2-40B4-BE49-F238E27FC236}">
                <a16:creationId xmlns:a16="http://schemas.microsoft.com/office/drawing/2014/main" id="{569C6324-398D-4B66-B0E4-F3E58B78A520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313029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CO  /  智慧環境監控">
            <a:extLst>
              <a:ext uri="{FF2B5EF4-FFF2-40B4-BE49-F238E27FC236}">
                <a16:creationId xmlns:a16="http://schemas.microsoft.com/office/drawing/2014/main" id="{CF10D766-DCD8-4CCD-99CC-2AA11AA81D35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0477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TECO  /  智慧環境監控</a:t>
            </a:r>
          </a:p>
        </p:txBody>
      </p:sp>
      <p:sp>
        <p:nvSpPr>
          <p:cNvPr id="2" name="操作教學">
            <a:extLst>
              <a:ext uri="{FF2B5EF4-FFF2-40B4-BE49-F238E27FC236}">
                <a16:creationId xmlns:a16="http://schemas.microsoft.com/office/drawing/2014/main" id="{FE5FFF4E-E21A-4D10-94AE-2EF562DBB5F6}"/>
              </a:ext>
            </a:extLst>
          </p:cNvPr>
          <p:cNvSpPr>
            <a:spLocks noGrp="1"/>
          </p:cNvSpPr>
          <p:nvPr/>
        </p:nvSpPr>
        <p:spPr>
          <a:xfrm>
            <a:off x="11334750" y="285750"/>
            <a:ext cx="3333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操作教學</a:t>
            </a:r>
          </a:p>
        </p:txBody>
      </p:sp>
      <p:sp>
        <p:nvSpPr>
          <p:cNvPr id="3" name="登出與密碼管理">
            <a:extLst>
              <a:ext uri="{FF2B5EF4-FFF2-40B4-BE49-F238E27FC236}">
                <a16:creationId xmlns:a16="http://schemas.microsoft.com/office/drawing/2014/main" id="{1BD1C32A-15E5-49AF-B317-6DC1C775A86C}"/>
              </a:ext>
            </a:extLst>
          </p:cNvPr>
          <p:cNvSpPr>
            <a:spLocks noGrp="1"/>
          </p:cNvSpPr>
          <p:nvPr/>
        </p:nvSpPr>
        <p:spPr>
          <a:xfrm>
            <a:off x="571500" y="733425"/>
            <a:ext cx="14097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36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登出與密碼管理</a:t>
            </a:r>
          </a:p>
        </p:txBody>
      </p:sp>
      <p:sp>
        <p:nvSpPr>
          <p:cNvPr id="4" name="後台操作結束後，確認帳號已登出">
            <a:extLst>
              <a:ext uri="{FF2B5EF4-FFF2-40B4-BE49-F238E27FC236}">
                <a16:creationId xmlns:a16="http://schemas.microsoft.com/office/drawing/2014/main" id="{070956AD-92CA-40C6-82C9-EC0F33D6CE2F}"/>
              </a:ext>
            </a:extLst>
          </p:cNvPr>
          <p:cNvSpPr>
            <a:spLocks noGrp="1"/>
          </p:cNvSpPr>
          <p:nvPr/>
        </p:nvSpPr>
        <p:spPr>
          <a:xfrm>
            <a:off x="571500" y="1457325"/>
            <a:ext cx="140970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0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後台操作結束後，確認帳號已登出</a:t>
            </a:r>
          </a:p>
        </p:txBody>
      </p:sp>
      <p:sp>
        <p:nvSpPr>
          <p:cNvPr id="5" name="東元電機智慧環境監控系統　業主操作教學與驗收說明">
            <a:extLst>
              <a:ext uri="{FF2B5EF4-FFF2-40B4-BE49-F238E27FC236}">
                <a16:creationId xmlns:a16="http://schemas.microsoft.com/office/drawing/2014/main" id="{EFFC9956-5AAB-47F2-AC33-CA7969BEBADA}"/>
              </a:ext>
            </a:extLst>
          </p:cNvPr>
          <p:cNvSpPr>
            <a:spLocks noGrp="1"/>
          </p:cNvSpPr>
          <p:nvPr/>
        </p:nvSpPr>
        <p:spPr>
          <a:xfrm>
            <a:off x="571500" y="8172450"/>
            <a:ext cx="12382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275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東元電機智慧環境監控系統　業主操作教學與驗收說明</a:t>
            </a:r>
          </a:p>
        </p:txBody>
      </p:sp>
      <p:sp>
        <p:nvSpPr>
          <p:cNvPr id="6" name="24">
            <a:extLst>
              <a:ext uri="{FF2B5EF4-FFF2-40B4-BE49-F238E27FC236}">
                <a16:creationId xmlns:a16="http://schemas.microsoft.com/office/drawing/2014/main" id="{29FE954C-30C8-4472-B7B7-FF6F4C02B77C}"/>
              </a:ext>
            </a:extLst>
          </p:cNvPr>
          <p:cNvSpPr>
            <a:spLocks noGrp="1"/>
          </p:cNvSpPr>
          <p:nvPr/>
        </p:nvSpPr>
        <p:spPr>
          <a:xfrm>
            <a:off x="14097000" y="8134350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5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19B4807-14E0-49A7-B738-DB6F937353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83241" y="2047875"/>
            <a:ext cx="7882518" cy="5572125"/>
          </a:xfrm>
          <a:prstGeom prst="rect">
            <a:avLst/>
          </a:prstGeom>
        </p:spPr>
      </p:pic>
      <p:sp>
        <p:nvSpPr>
          <p:cNvPr id="8" name="01">
            <a:extLst>
              <a:ext uri="{FF2B5EF4-FFF2-40B4-BE49-F238E27FC236}">
                <a16:creationId xmlns:a16="http://schemas.microsoft.com/office/drawing/2014/main" id="{C5D65C8C-D299-4DBD-9102-06CEE726AC37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帳號選單">
            <a:extLst>
              <a:ext uri="{FF2B5EF4-FFF2-40B4-BE49-F238E27FC236}">
                <a16:creationId xmlns:a16="http://schemas.microsoft.com/office/drawing/2014/main" id="{F499C3CC-E00E-4AC6-B864-2CD06B78A69B}"/>
              </a:ext>
            </a:extLst>
          </p:cNvPr>
          <p:cNvSpPr>
            <a:spLocks noGrp="1"/>
          </p:cNvSpPr>
          <p:nvPr/>
        </p:nvSpPr>
        <p:spPr>
          <a:xfrm>
            <a:off x="11477625" y="217170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帳號選單</a:t>
            </a:r>
          </a:p>
        </p:txBody>
      </p:sp>
      <p:sp>
        <p:nvSpPr>
          <p:cNvPr id="10" name="按右上角姓名，開啟「修改密碼」與「登出」。">
            <a:extLst>
              <a:ext uri="{FF2B5EF4-FFF2-40B4-BE49-F238E27FC236}">
                <a16:creationId xmlns:a16="http://schemas.microsoft.com/office/drawing/2014/main" id="{36BDA426-109E-4845-BCE0-EA6BF7A587A4}"/>
              </a:ext>
            </a:extLst>
          </p:cNvPr>
          <p:cNvSpPr>
            <a:spLocks noGrp="1"/>
          </p:cNvSpPr>
          <p:nvPr/>
        </p:nvSpPr>
        <p:spPr>
          <a:xfrm>
            <a:off x="11477625" y="262890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按右上角姓名，開啟「修改密碼」與「登出」。</a:t>
            </a:r>
          </a:p>
        </p:txBody>
      </p:sp>
      <p:sp>
        <p:nvSpPr>
          <p:cNvPr id="11" name="02">
            <a:extLst>
              <a:ext uri="{FF2B5EF4-FFF2-40B4-BE49-F238E27FC236}">
                <a16:creationId xmlns:a16="http://schemas.microsoft.com/office/drawing/2014/main" id="{E662BBF4-3645-492B-AA9B-910FAE3FE853}"/>
              </a:ext>
            </a:extLst>
          </p:cNvPr>
          <p:cNvSpPr>
            <a:spLocks noGrp="1"/>
          </p:cNvSpPr>
          <p:nvPr/>
        </p:nvSpPr>
        <p:spPr>
          <a:xfrm>
            <a:off x="10858500" y="3648075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2" name="密碼由本人保管">
            <a:extLst>
              <a:ext uri="{FF2B5EF4-FFF2-40B4-BE49-F238E27FC236}">
                <a16:creationId xmlns:a16="http://schemas.microsoft.com/office/drawing/2014/main" id="{D0C4C950-1A01-45AD-A8C7-9B8A116BD4F0}"/>
              </a:ext>
            </a:extLst>
          </p:cNvPr>
          <p:cNvSpPr>
            <a:spLocks noGrp="1"/>
          </p:cNvSpPr>
          <p:nvPr/>
        </p:nvSpPr>
        <p:spPr>
          <a:xfrm>
            <a:off x="11477625" y="3648075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密碼由本人保管</a:t>
            </a:r>
          </a:p>
        </p:txBody>
      </p:sp>
      <p:sp>
        <p:nvSpPr>
          <p:cNvPr id="13" name="需要修改時由本人完成，遺忘時聯繫管理者。">
            <a:extLst>
              <a:ext uri="{FF2B5EF4-FFF2-40B4-BE49-F238E27FC236}">
                <a16:creationId xmlns:a16="http://schemas.microsoft.com/office/drawing/2014/main" id="{CB95D126-0A5F-478E-A69B-5BFA0D0EE901}"/>
              </a:ext>
            </a:extLst>
          </p:cNvPr>
          <p:cNvSpPr>
            <a:spLocks noGrp="1"/>
          </p:cNvSpPr>
          <p:nvPr/>
        </p:nvSpPr>
        <p:spPr>
          <a:xfrm>
            <a:off x="11477625" y="4105275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需要修改時由本人完成，遺忘時聯繫管理者。</a:t>
            </a:r>
          </a:p>
        </p:txBody>
      </p:sp>
      <p:sp>
        <p:nvSpPr>
          <p:cNvPr id="14" name="03">
            <a:extLst>
              <a:ext uri="{FF2B5EF4-FFF2-40B4-BE49-F238E27FC236}">
                <a16:creationId xmlns:a16="http://schemas.microsoft.com/office/drawing/2014/main" id="{CA224769-EC19-4EE4-928E-721F24862E48}"/>
              </a:ext>
            </a:extLst>
          </p:cNvPr>
          <p:cNvSpPr>
            <a:spLocks noGrp="1"/>
          </p:cNvSpPr>
          <p:nvPr/>
        </p:nvSpPr>
        <p:spPr>
          <a:xfrm>
            <a:off x="10858500" y="5124450"/>
            <a:ext cx="571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00" b="1">
                <a:solidFill>
                  <a:srgbClr val="008A83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008A83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5" name="離開時登出">
            <a:extLst>
              <a:ext uri="{FF2B5EF4-FFF2-40B4-BE49-F238E27FC236}">
                <a16:creationId xmlns:a16="http://schemas.microsoft.com/office/drawing/2014/main" id="{6277BC01-4DE4-41C9-B998-0AA5DF19D72F}"/>
              </a:ext>
            </a:extLst>
          </p:cNvPr>
          <p:cNvSpPr>
            <a:spLocks noGrp="1"/>
          </p:cNvSpPr>
          <p:nvPr/>
        </p:nvSpPr>
        <p:spPr>
          <a:xfrm>
            <a:off x="11477625" y="5124450"/>
            <a:ext cx="30956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2175" b="1">
                <a:solidFill>
                  <a:srgbClr val="143149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43149"/>
                </a:solidFill>
                <a:latin typeface="Heiti TC"/>
                <a:ea typeface="Heiti TC"/>
                <a:cs typeface="Heiti TC"/>
              </a:rPr>
              <a:t>離開時登出</a:t>
            </a:r>
          </a:p>
        </p:txBody>
      </p:sp>
      <p:sp>
        <p:nvSpPr>
          <p:cNvPr id="16" name="共用電腦使用完畢應登出，回到登入頁確認。">
            <a:extLst>
              <a:ext uri="{FF2B5EF4-FFF2-40B4-BE49-F238E27FC236}">
                <a16:creationId xmlns:a16="http://schemas.microsoft.com/office/drawing/2014/main" id="{6C1DCBD7-616F-4ED7-93AE-6A0EE147424B}"/>
              </a:ext>
            </a:extLst>
          </p:cNvPr>
          <p:cNvSpPr>
            <a:spLocks noGrp="1"/>
          </p:cNvSpPr>
          <p:nvPr/>
        </p:nvSpPr>
        <p:spPr>
          <a:xfrm>
            <a:off x="11477625" y="5581650"/>
            <a:ext cx="3095625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875" b="0">
                <a:solidFill>
                  <a:srgbClr val="354A5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354A5B"/>
                </a:solidFill>
                <a:latin typeface="Heiti TC"/>
                <a:ea typeface="Heiti TC"/>
                <a:cs typeface="Heiti TC"/>
              </a:rPr>
              <a:t>共用電腦使用完畢應登出，回到登入頁確認。</a:t>
            </a:r>
          </a:p>
        </p:txBody>
      </p:sp>
      <p:sp>
        <p:nvSpPr>
          <p:cNvPr id="17" name="遠端系統實際畫面　2026/10/27　數值依擷取時點">
            <a:extLst>
              <a:ext uri="{FF2B5EF4-FFF2-40B4-BE49-F238E27FC236}">
                <a16:creationId xmlns:a16="http://schemas.microsoft.com/office/drawing/2014/main" id="{232905DC-E2B5-47B5-A672-67A00E72F1E9}"/>
              </a:ext>
            </a:extLst>
          </p:cNvPr>
          <p:cNvSpPr>
            <a:spLocks noGrp="1"/>
          </p:cNvSpPr>
          <p:nvPr/>
        </p:nvSpPr>
        <p:spPr>
          <a:xfrm>
            <a:off x="571500" y="7753350"/>
            <a:ext cx="14001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defPPr>
            <a:lvl1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1pPr>
            <a:lvl2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2pPr>
            <a:lvl3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3pPr>
            <a:lvl4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4pPr>
            <a:lvl5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5pPr>
            <a:lvl6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6pPr>
            <a:lvl7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7pPr>
            <a:lvl8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8pPr>
            <a:lvl9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lvl9pPr>
          </a:lstStyle>
          <a:p>
            <a:pPr>
              <a:buNone/>
              <a:defRPr sz="1350" b="0">
                <a:solidFill>
                  <a:srgbClr val="687B88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687B88"/>
                </a:solidFill>
                <a:latin typeface="Heiti TC"/>
                <a:ea typeface="Heiti TC"/>
                <a:cs typeface="Heiti TC"/>
              </a:rPr>
              <a:t>遠端系統實際畫面　2026/10/27　數值依擷取時點</a:t>
            </a:r>
          </a:p>
        </p:txBody>
      </p:sp>
    </p:spTree>
    <p:extLst>
      <p:ext uri="{BB962C8B-B14F-4D97-AF65-F5344CB8AC3E}">
        <p14:creationId xmlns:p14="http://schemas.microsoft.com/office/powerpoint/2010/main" val="160144412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2637</Words>
  <Application>Microsoft Macintosh PowerPoint</Application>
  <DocSecurity>0</DocSecurity>
  <PresentationFormat>自訂</PresentationFormat>
  <Paragraphs>472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7" baseType="lpstr">
      <vt:lpstr>Heiti TC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資訊課 IT</cp:lastModifiedBy>
  <cp:revision>1</cp:revision>
  <dcterms:created xsi:type="dcterms:W3CDTF">2026-10-27T03:01:12Z</dcterms:created>
  <dcterms:modified xsi:type="dcterms:W3CDTF">2026-10-27T03:17:43Z</dcterms:modified>
</cp:coreProperties>
</file>